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"reviewed_at": "2026-10-08T15:30:16.188707+00:00",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"id": "monat",</a:t>
            </a:r>
          </a:p>
          <a:p>
            <a:r>
              <a:t>      "title": "MONAT Unveils Two Breakthrough Beauty Launches During MONATions World Tour",</a:t>
            </a:r>
          </a:p>
          <a:p>
            <a:r>
              <a:t>      "url": "https://www.globenewswire.com/news-release/2026/10/05/3374951/0/en/monat-unveils-two-breakthrough-beauty-launches-during-monations-world-tour.html",</a:t>
            </a:r>
          </a:p>
          <a:p>
            <a:r>
              <a:t>      "publisher": "MONAT / GlobeNewswire",</a:t>
            </a:r>
          </a:p>
          <a:p>
            <a:r>
              <a:t>      "published_at": "2026-10-05T19:00:00+00:00",</a:t>
            </a:r>
          </a:p>
          <a:p>
            <a:r>
              <a:t>      "kind": "brand_promotion",</a:t>
            </a:r>
          </a:p>
          <a:p>
            <a:r>
              <a:t>      "brand": "MONAT",</a:t>
            </a:r>
          </a:p>
          <a:p>
            <a:r>
              <a:t>      "topics": [</a:t>
            </a:r>
          </a:p>
          <a:p>
            <a:r>
              <a:t>        "skin_tint"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"MODERN GLOW",</a:t>
            </a:r>
          </a:p>
          <a:p>
            <a:r>
              <a:t>        "Skin Tint",</a:t>
            </a:r>
          </a:p>
          <a:p>
            <a:r>
              <a:t>        "natural-looking radiance"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"MONAT : lancement de MODERN GLOW Skin Tint annoncé le 5 octobre. Communication de marque sur le teint naturel.",</a:t>
            </a:r>
          </a:p>
          <a:p>
            <a:r>
              <a:t>        "it": "MONAT: lancio di MODERN GLOW Skin Tint annunciato il 5 ottobre. Comunicazione del marchio sul finish naturale."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"MONAT : lancement de MODERN GLOW Skin Tint",</a:t>
            </a:r>
          </a:p>
          <a:p>
            <a:r>
              <a:t>        "it": "MONAT: lancio di MODERN GLOW Skin Tint"</a:t>
            </a:r>
          </a:p>
          <a:p>
            <a:r>
              <a:t>      },</a:t>
            </a:r>
          </a:p>
          <a:p>
            <a:r>
              <a:t>      "reviewed_at": "2026-10-08T15:30:16.188707+00:00",</a:t>
            </a:r>
          </a:p>
          <a:p>
            <a:r>
              <a:t>      "review_note": "Reread October 5 release: MODERN GLOW launch supports skin-tint editorial context. Brand-owned promotion; hair-product virality is not evidence of CC Gel demand.",</a:t>
            </a:r>
          </a:p>
          <a:p>
            <a:r>
              <a:t>      "in_week": true,</a:t>
            </a:r>
          </a:p>
          <a:p>
            <a:r>
              <a:t>      "checked_at": "2026-10-08T15:31:11.037334+00:00",</a:t>
            </a:r>
          </a:p>
          <a:p>
            <a:r>
              <a:t>      "content_sha256": "43a6d80b43b1d124a3ed827a87a99e676f4f213577fbcf1807c6cb9f85995898"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"marieclaire",</a:t>
            </a:r>
          </a:p>
          <a:p>
            <a:r>
              <a:t>      "title": "These September Beauty Launches Are a Bat Signal for Cozy Season",</a:t>
            </a:r>
          </a:p>
          <a:p>
            <a:r>
              <a:t>      "url": "https://www.marieclaire.com/beauty/best-new-beauty-products-september-2026/",</a:t>
            </a:r>
          </a:p>
          <a:p>
            <a:r>
              <a:t>      "publisher": "Marie Claire",</a:t>
            </a:r>
          </a:p>
          <a:p>
            <a:r>
              <a:t>      "published_at": "2026-10-02T18:01:50+00:00",</a:t>
            </a:r>
          </a:p>
          <a:p>
            <a:r>
              <a:t>      "kind": "editorial",</a:t>
            </a:r>
          </a:p>
          <a:p>
            <a:r>
              <a:t>      "brand": "MAC / OneSkin",</a:t>
            </a:r>
          </a:p>
          <a:p>
            <a:r>
              <a:t>      "topics": [</a:t>
            </a:r>
          </a:p>
          <a:p>
            <a:r>
              <a:t>        "skin_tint",</a:t>
            </a:r>
          </a:p>
          <a:p>
            <a:r>
              <a:t>        "glycerin"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"Skin Tint Stick",</a:t>
            </a:r>
          </a:p>
          <a:p>
            <a:r>
              <a:t>        "glycerin"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"Marie Claire : teint léger et glycérine.",</a:t>
            </a:r>
          </a:p>
          <a:p>
            <a:r>
              <a:t>        "it": "Marie Claire: skin tint e glicerina."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"Nouveautés beauté de septembre",</a:t>
            </a:r>
          </a:p>
          <a:p>
            <a:r>
              <a:t>        "it": "Novità beauty di settembre"</a:t>
            </a:r>
          </a:p>
          <a:p>
            <a:r>
              <a:t>      },</a:t>
            </a:r>
          </a:p>
          <a:p>
            <a:r>
              <a:t>      "reviewed_at": "2026-10-08T15:30:16.188707+00:00",</a:t>
            </a:r>
          </a:p>
          <a:p>
            <a:r>
              <a:t>      "review_note": "Reread skin-tint and moisturizer sections; retained the brief topical summary and publication date.",</a:t>
            </a:r>
          </a:p>
          <a:p>
            <a:r>
              <a:t>      "in_week": true,</a:t>
            </a:r>
          </a:p>
          <a:p>
            <a:r>
              <a:t>      "checked_at": "2026-10-08T15:31:11.037334+00:00",</a:t>
            </a:r>
          </a:p>
          <a:p>
            <a:r>
              <a:t>      "content_sha256": "4a2ad3ddc42832fa3640d97ba0a52c797d99523b8309076ccbccb08c03ed7583"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"cerave",</a:t>
            </a:r>
          </a:p>
          <a:p>
            <a:r>
              <a:t>      "title": "CeraVe HK ditches the hard sell to win over Gen Z",</a:t>
            </a:r>
          </a:p>
          <a:p>
            <a:r>
              <a:t>      "url": "https://www.marketing-interactive.com/cerave-hk-ditches-the-hard-sell-to-win-over-genz",</a:t>
            </a:r>
          </a:p>
          <a:p>
            <a:r>
              <a:t>      "publisher": "Marketing-Interactive",</a:t>
            </a:r>
          </a:p>
          <a:p>
            <a:r>
              <a:t>      "published_at": "2026-09-24T00:00:00+00:00",</a:t>
            </a:r>
          </a:p>
          <a:p>
            <a:r>
              <a:t>      "kind": "advertising_campaign",</a:t>
            </a:r>
          </a:p>
          <a:p>
            <a:r>
              <a:t>      "brand": "CeraVe",</a:t>
            </a:r>
          </a:p>
          <a:p>
            <a:r>
              <a:t>      "event_start": "2026-09-01",</a:t>
            </a:r>
          </a:p>
          <a:p>
            <a:r>
              <a:t>      "event_end": "2026-11-30",</a:t>
            </a:r>
          </a:p>
          <a:p>
            <a:r>
              <a:t>      "topics": [</a:t>
            </a:r>
          </a:p>
          <a:p>
            <a:r>
              <a:t>        "social_creative"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"September to November 2026",</a:t>
            </a:r>
          </a:p>
          <a:p>
            <a:r>
              <a:t>        "six-second Reels"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"CeraVe, Hong Kong : campagne annoncée active sept.–nov., Reels courts et découverte produit. Article du 24 septembre.",</a:t>
            </a:r>
          </a:p>
          <a:p>
            <a:r>
              <a:t>        "it": "CeraVe, Hong Kong: campagna annunciata attiva sett.–nov., Reel brevi e scoperta prodotto. Articolo del 24 settembre."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"CeraVe Hong Kong : la campagne « anti-publicité »",</a:t>
            </a:r>
          </a:p>
          <a:p>
            <a:r>
              <a:t>        "it": "CeraVe Hong Kong: la campagna «anti-pubblicità»"</a:t>
            </a:r>
          </a:p>
          <a:p>
            <a:r>
              <a:t>      },</a:t>
            </a:r>
          </a:p>
          <a:p>
            <a:r>
              <a:t>      "reviewed_at": "2026-10-08T15:30:16.188707+00:00",</a:t>
            </a:r>
          </a:p>
          <a:p>
            <a:r>
              <a:t>      "review_note": "Reread September 24 trade article: announced September–November campaign and six-second Reels confirmed. No inference about current paid delivery or budget.",</a:t>
            </a:r>
          </a:p>
          <a:p>
            <a:r>
              <a:t>      "in_week": false,</a:t>
            </a:r>
          </a:p>
          <a:p>
            <a:r>
              <a:t>      "checked_at": "2026-10-08T15:31:11.037334+00:00",</a:t>
            </a:r>
          </a:p>
          <a:p>
            <a:r>
              <a:t>      "content_sha256": "e66c26752d55db8e3d9104e2a42730d3784a3949439f3f773c32f2c5c40dae04"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"product_key": "cc-gel",</a:t>
            </a:r>
          </a:p>
          <a:p>
            <a:r>
              <a:t>  "insight": {</a:t>
            </a:r>
          </a:p>
          <a:p>
            <a:r>
              <a:t>    "fr": "Un teint lumineux et léger : le maquillage-soin inspire une création douce et épurée.",</a:t>
            </a:r>
          </a:p>
          <a:p>
            <a:r>
              <a:t>    "it": "Incarnato luminoso e coprenza leggera: una lettura essenziale del make-up trattamento."</a:t>
            </a:r>
          </a:p>
          <a:p>
            <a:r>
              <a:t>  },</a:t>
            </a:r>
          </a:p>
          <a:p>
            <a:r>
              <a:t>  "strategy": {</a:t>
            </a:r>
          </a:p>
          <a:p>
            <a:r>
              <a:t>    "fr": {</a:t>
            </a:r>
          </a:p>
          <a:p>
            <a:r>
              <a:t>      "positioning": "CC Gel associe couvrance naturelle et éclat. Pigments encapsulés et glycérine relient sa formule au thème du maquillage-soin, sans lui attribuer les bénéfices de produits concurrents.",</a:t>
            </a:r>
          </a:p>
          <a:p>
            <a:r>
              <a:t>      "audience": "Hypothèse de cible : personnes recherchant un teint lumineux et une couvrance légère.",</a:t>
            </a:r>
          </a:p>
          <a:p>
            <a:r>
              <a:t>      "activation": "Feed : « L’éclat. Au naturel. » et deux composants. Story : découverte du fini. Reel à tester : 6–10 s, texture puis application. Bannière : découvrir CC Gel.",</a:t>
            </a:r>
          </a:p>
          <a:p>
            <a:r>
              <a:t>      "measurement": "Comparer « éclat naturel » à « soin teinté », à audience et budget identiques. Mesurer clics et visites produit ; activer la vente après réassort."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"positioning": "CC Gel unisce coprenza naturale e luminosità. Pigmenti incapsulati e glicerina collegano la formula al tema del make-up trattamento, senza attribuirle benefici dei concorrenti.",</a:t>
            </a:r>
          </a:p>
          <a:p>
            <a:r>
              <a:t>      "audience": "Ipotesi di pubblico: persone che cercano un incarnato luminoso e una coprenza leggera.",</a:t>
            </a:r>
          </a:p>
          <a:p>
            <a:r>
              <a:t>      "activation": "Feed: « Luce. Al naturale. » e due componenti. Story: scoperta del finish. Reel da testare: 6–10 s, texture e applicazione. Banner: scoperta di CC Gel.",</a:t>
            </a:r>
          </a:p>
          <a:p>
            <a:r>
              <a:t>      "measurement": "Confrontare « luminosità naturale » con « trattamento colorato », a parità di pubblico e budget. Misurare clic e visite; attivare la vendita dopo il riassortimento."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"google_trends": {</a:t>
            </a:r>
          </a:p>
          <a:p>
            <a:r>
              <a:t>    "category_id": 143,</a:t>
            </a:r>
          </a:p>
          <a:p>
            <a:r>
              <a:t>    "markets": {</a:t>
            </a:r>
          </a:p>
          <a:p>
            <a:r>
              <a:t>      "fr": {</a:t>
            </a:r>
          </a:p>
          <a:p>
            <a:r>
              <a:t>        "geo": "FR",</a:t>
            </a:r>
          </a:p>
          <a:p>
            <a:r>
              <a:t>        "top": [</a:t>
            </a:r>
          </a:p>
          <a:p>
            <a:r>
              <a:t>          "parfum",</a:t>
            </a:r>
          </a:p>
          <a:p>
            <a:r>
              <a:t>          "sephora",</a:t>
            </a:r>
          </a:p>
          <a:p>
            <a:r>
              <a:t>          "ongle",</a:t>
            </a:r>
          </a:p>
          <a:p>
            <a:r>
              <a:t>          "nocibe",</a:t>
            </a:r>
          </a:p>
          <a:p>
            <a:r>
              <a:t>          "ongles",</a:t>
            </a:r>
          </a:p>
          <a:p>
            <a:r>
              <a:t>          "yves rocher",</a:t>
            </a:r>
          </a:p>
          <a:p>
            <a:r>
              <a:t>          "maquillage",</a:t>
            </a:r>
          </a:p>
          <a:p>
            <a:r>
              <a:t>          "dior",</a:t>
            </a:r>
          </a:p>
          <a:p>
            <a:r>
              <a:t>          "parfum homme",</a:t>
            </a:r>
          </a:p>
          <a:p>
            <a:r>
              <a:t>          "parfum femme",</a:t>
            </a:r>
          </a:p>
          <a:p>
            <a:r>
              <a:t>          "vichy",</a:t>
            </a:r>
          </a:p>
          <a:p>
            <a:r>
              <a:t>          "guerlain",</a:t>
            </a:r>
          </a:p>
          <a:p>
            <a:r>
              <a:t>          "mascara",</a:t>
            </a:r>
          </a:p>
          <a:p>
            <a:r>
              <a:t>          "chanel",</a:t>
            </a:r>
          </a:p>
          <a:p>
            <a:r>
              <a:t>          "caudalie",</a:t>
            </a:r>
          </a:p>
          <a:p>
            <a:r>
              <a:t>          "nyx",</a:t>
            </a:r>
          </a:p>
          <a:p>
            <a:r>
              <a:t>          "nocibé",</a:t>
            </a:r>
          </a:p>
          <a:p>
            <a:r>
              <a:t>          "avene",</a:t>
            </a:r>
          </a:p>
          <a:p>
            <a:r>
              <a:t>          "garnier",</a:t>
            </a:r>
          </a:p>
          <a:p>
            <a:r>
              <a:t>          "loreal",</a:t>
            </a:r>
          </a:p>
          <a:p>
            <a:r>
              <a:t>          "marionnaud"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"mugler",</a:t>
            </a:r>
          </a:p>
          <a:p>
            <a:r>
              <a:t>          "juliette has a gun",</a:t>
            </a:r>
          </a:p>
          <a:p>
            <a:r>
              <a:t>          "divain parfum",</a:t>
            </a:r>
          </a:p>
          <a:p>
            <a:r>
              <a:t>          "loreal friends and family",</a:t>
            </a:r>
          </a:p>
          <a:p>
            <a:r>
              <a:t>          "stick teint lancome"</a:t>
            </a:r>
          </a:p>
          <a:p>
            <a:r>
              <a:t>        ],</a:t>
            </a:r>
          </a:p>
          <a:p>
            <a:r>
              <a:t>        "interpretation": "Contexte beauté général ; ces données ne mesurent pas la demande propre à CC Gel ni sa popularité."</a:t>
            </a:r>
          </a:p>
          <a:p>
            <a:r>
              <a:t>      },</a:t>
            </a:r>
          </a:p>
          <a:p>
            <a:r>
              <a:t>      "it": {</a:t>
            </a:r>
          </a:p>
          <a:p>
            <a:r>
              <a:t>        "geo": "IT",</a:t>
            </a:r>
          </a:p>
          <a:p>
            <a:r>
              <a:t>        "top": [</a:t>
            </a:r>
          </a:p>
          <a:p>
            <a:r>
              <a:t>          "profumo",</a:t>
            </a:r>
          </a:p>
          <a:p>
            <a:r>
              <a:t>          "crema",</a:t>
            </a:r>
          </a:p>
          <a:p>
            <a:r>
              <a:t>          "unghie",</a:t>
            </a:r>
          </a:p>
          <a:p>
            <a:r>
              <a:t>          "profumi",</a:t>
            </a:r>
          </a:p>
          <a:p>
            <a:r>
              <a:t>          "sephora",</a:t>
            </a:r>
          </a:p>
          <a:p>
            <a:r>
              <a:t>          "fondotinta",</a:t>
            </a:r>
          </a:p>
          <a:p>
            <a:r>
              <a:t>          "profumo uomo",</a:t>
            </a:r>
          </a:p>
          <a:p>
            <a:r>
              <a:t>          "profumo donna",</a:t>
            </a:r>
          </a:p>
          <a:p>
            <a:r>
              <a:t>          "mascara",</a:t>
            </a:r>
          </a:p>
          <a:p>
            <a:r>
              <a:t>          "chanel",</a:t>
            </a:r>
          </a:p>
          <a:p>
            <a:r>
              <a:t>          "la roche posay",</a:t>
            </a:r>
          </a:p>
          <a:p>
            <a:r>
              <a:t>          "bionike",</a:t>
            </a:r>
          </a:p>
          <a:p>
            <a:r>
              <a:t>          "cerave",</a:t>
            </a:r>
          </a:p>
          <a:p>
            <a:r>
              <a:t>          "blush",</a:t>
            </a:r>
          </a:p>
          <a:p>
            <a:r>
              <a:t>          "fragrantica",</a:t>
            </a:r>
          </a:p>
          <a:p>
            <a:r>
              <a:t>          "guerlain",</a:t>
            </a:r>
          </a:p>
          <a:p>
            <a:r>
              <a:t>          "kiko",</a:t>
            </a:r>
          </a:p>
          <a:p>
            <a:r>
              <a:t>          "caudalie",</a:t>
            </a:r>
          </a:p>
          <a:p>
            <a:r>
              <a:t>          "rhode",</a:t>
            </a:r>
          </a:p>
          <a:p>
            <a:r>
              <a:t>          "skincare",</a:t>
            </a:r>
          </a:p>
          <a:p>
            <a:r>
              <a:t>          "garnier",</a:t>
            </a:r>
          </a:p>
          <a:p>
            <a:r>
              <a:t>          "yodeyma",</a:t>
            </a:r>
          </a:p>
          <a:p>
            <a:r>
              <a:t>          "avene"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"zara saffron &amp; orange flowers edp 100ml",</a:t>
            </a:r>
          </a:p>
          <a:p>
            <a:r>
              <a:t>          "nivea labbra",</a:t>
            </a:r>
          </a:p>
          <a:p>
            <a:r>
              <a:t>          "cosmesi decorativa",</a:t>
            </a:r>
          </a:p>
          <a:p>
            <a:r>
              <a:t>          "cicaplast baume b5 la roche posay",</a:t>
            </a:r>
          </a:p>
          <a:p>
            <a:r>
              <a:t>          "medicube zero pore",</a:t>
            </a:r>
          </a:p>
          <a:p>
            <a:r>
              <a:t>          "medicube",</a:t>
            </a:r>
          </a:p>
          <a:p>
            <a:r>
              <a:t>          "smalto per unghie",</a:t>
            </a:r>
          </a:p>
          <a:p>
            <a:r>
              <a:t>          "braun luce pulsata"</a:t>
            </a:r>
          </a:p>
          <a:p>
            <a:r>
              <a:t>        ],</a:t>
            </a:r>
          </a:p>
          <a:p>
            <a:r>
              <a:t>        "interpretation": "Contesto beauty generale: questi dati non misurano la domanda specifica per CC Gel né la sua popolarità."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"skincare_heading": {</a:t>
            </a:r>
          </a:p>
          <a:p>
            <a:r>
              <a:t>    "fr": "Soin &amp; teint naturel",</a:t>
            </a:r>
          </a:p>
          <a:p>
            <a:r>
              <a:t>    "it": "Cura &amp; colore naturale"</a:t>
            </a:r>
          </a:p>
          <a:p>
            <a:r>
              <a:t>  },</a:t>
            </a:r>
          </a:p>
          <a:p>
            <a:r>
              <a:t>  "ingredient_rationale": {</a:t>
            </a:r>
          </a:p>
          <a:p>
            <a:r>
              <a:t>    "fr": "Pigments et glycérine vérifiés chez IOMA. Les actualités évoquent le teint léger et l’hydratation ; elles ne prouvent pas la viralité de CC Gel.",</a:t>
            </a:r>
          </a:p>
          <a:p>
            <a:r>
              <a:t>    "it": "Pigmenti e glicerina verificati in IOMA. Le notizie parlano di skin tint e idratazione, senza dimostrare la viralità di CC Gel."</a:t>
            </a:r>
          </a:p>
          <a:p>
            <a:r>
              <a:t>  },</a:t>
            </a:r>
          </a:p>
          <a:p>
            <a:r>
              <a:t>  "product_review": {</a:t>
            </a:r>
          </a:p>
          <a:p>
            <a:r>
              <a:t>    "source": "https://ioma-paris.com/products/cc-gel-soin-teinte-eclat-parfait",</a:t>
            </a:r>
          </a:p>
          <a:p>
            <a:r>
              <a:t>    "reviewed_at": "2026-10-08T15:30:16.188707+00:00",</a:t>
            </a:r>
          </a:p>
          <a:p>
            <a:r>
              <a:t>    "verified_inci": [</a:t>
            </a:r>
          </a:p>
          <a:p>
            <a:r>
              <a:t>      "GLYCERIN",</a:t>
            </a:r>
          </a:p>
          <a:p>
            <a:r>
              <a:t>      "CI 77492 (IRON OXIDES)",</a:t>
            </a:r>
          </a:p>
          <a:p>
            <a:r>
              <a:t>      "CI 77491 (IRON OXIDES)",</a:t>
            </a:r>
          </a:p>
          <a:p>
            <a:r>
              <a:t>      "CI 77499 (IRON OXIDES)"</a:t>
            </a:r>
          </a:p>
          <a:p>
            <a:r>
              <a:t>    ],</a:t>
            </a:r>
          </a:p>
          <a:p>
            <a:r>
              <a:t>    "basis": "Official page reread for this variation: benefits, encapsulated pigments, glycerin and complete INCI reconfirmed. Fresh lightweight texture and natural coverage support the natural-glow headline. The official packshot is retained. No SPF or universal shade suitability claim.",</a:t>
            </a:r>
          </a:p>
          <a:p>
            <a:r>
              <a:t>    "availability_observed": "out_of_stock",</a:t>
            </a:r>
          </a:p>
          <a:p>
            <a:r>
              <a:t>    "availability_note": "En rupture remains visible on the official product page at this review. Discovery CTA retained; sales activation conditional on restock."</a:t>
            </a:r>
          </a:p>
          <a:p>
            <a:r>
              <a:t>  },</a:t>
            </a:r>
          </a:p>
          <a:p>
            <a:r>
              <a:t>  "creative_direction": {</a:t>
            </a:r>
          </a:p>
          <a:p>
            <a:r>
              <a:t>    "fr": "L’éclat. Au naturel. — soie nacrée, lumière douce et packshot original.",</a:t>
            </a:r>
          </a:p>
          <a:p>
            <a:r>
              <a:t>    "it": "Luce. Al naturale. — seta madreperla, luce morbida e packshot originale."</a:t>
            </a:r>
          </a:p>
          <a:p>
            <a:r>
              <a:t>  },</a:t>
            </a:r>
          </a:p>
          <a:p>
            <a:r>
              <a:t>  "google_trends_results": {</a:t>
            </a:r>
          </a:p>
          <a:p>
            <a:r>
              <a:t>    "fr": {</a:t>
            </a:r>
          </a:p>
          <a:p>
            <a:r>
              <a:t>      "data": {</a:t>
            </a:r>
          </a:p>
          <a:p>
            <a:r>
              <a:t>        "retrieved_at": "2026-10-08T15:31:11.037334+00:00",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"2026-10-01",</a:t>
            </a:r>
          </a:p>
          <a:p>
            <a:r>
              <a:t>        "period_end": "2026-10-07",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"https://trends.google.com/trends/explore?cat=143&amp;date=2026-10-01+2026-10-07&amp;geo=FR&amp;hl=fr",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"parfum",</a:t>
            </a:r>
          </a:p>
          <a:p>
            <a:r>
              <a:t>            "value": 100,</a:t>
            </a:r>
          </a:p>
          <a:p>
            <a:r>
              <a:t>            "source_rank": 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"sephora",</a:t>
            </a:r>
          </a:p>
          <a:p>
            <a:r>
              <a:t>            "value": 45,</a:t>
            </a:r>
          </a:p>
          <a:p>
            <a:r>
              <a:t>            "source_rank": 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"ongle",</a:t>
            </a:r>
          </a:p>
          <a:p>
            <a:r>
              <a:t>            "value": 24,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"nocibe",</a:t>
            </a:r>
          </a:p>
          <a:p>
            <a:r>
              <a:t>            "value": 22,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"ongles",</a:t>
            </a:r>
          </a:p>
          <a:p>
            <a:r>
              <a:t>            "value": 18,</a:t>
            </a:r>
          </a:p>
          <a:p>
            <a:r>
              <a:t>            "source_rank": 8,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"mugler",</a:t>
            </a:r>
          </a:p>
          <a:p>
            <a:r>
              <a:t>            "value": 250,</a:t>
            </a:r>
          </a:p>
          <a:p>
            <a:r>
              <a:t>            "source_rank": 8,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"juliette has a gun",</a:t>
            </a:r>
          </a:p>
          <a:p>
            <a:r>
              <a:t>            "value": 60,</a:t>
            </a:r>
          </a:p>
          <a:p>
            <a:r>
              <a:t>            "source_rank": 10,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"divain parfum",</a:t>
            </a:r>
          </a:p>
          <a:p>
            <a:r>
              <a:t>            "value": 50,</a:t>
            </a:r>
          </a:p>
          <a:p>
            <a:r>
              <a:t>            "source_rank": 11,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"Contexte beauté général ; ces données ne mesurent pas la demande propre à CC Gel ni sa popularité.",</a:t>
            </a:r>
          </a:p>
          <a:p>
            <a:r>
              <a:t>        "comparison_start": "2026-09-24",</a:t>
            </a:r>
          </a:p>
          <a:p>
            <a:r>
              <a:t>        "comparison_end": "2026-09-30",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"ce740269e2de2811fc7842425941d1149ba3eb2e573fb557da81c0ec3d468af3",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"2026-10-08T15:31:11.037334+00:00",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"2026-10-01",</a:t>
            </a:r>
          </a:p>
          <a:p>
            <a:r>
              <a:t>        "period_end": "2026-10-07",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"https://trends.google.com/trends/explore?cat=143&amp;date=2026-10-01+2026-10-07&amp;geo=FR&amp;hl=fr",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"FR"</a:t>
            </a:r>
          </a:p>
          <a:p>
            <a:r>
              <a:t>            },</a:t>
            </a:r>
          </a:p>
          <a:p>
            <a:r>
              <a:t>            "time": "2026-10-01 2026-10-07",</a:t>
            </a:r>
          </a:p>
          <a:p>
            <a:r>
              <a:t>            "originalTimeRangeForExploreUrl": "2026-10-01 2026-10-07"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"2026-09-24 2026-09-30"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"fr",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"parfum",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45,</a:t>
            </a:r>
          </a:p>
          <a:p>
            <a:r>
              <a:t>                    "formattedValue": "45",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"homme",</a:t>
            </a:r>
          </a:p>
          <a:p>
            <a:r>
              <a:t>                    "value": 34,</a:t>
            </a:r>
          </a:p>
          <a:p>
            <a:r>
              <a:t>                    "formattedValue": "34",</a:t>
            </a:r>
          </a:p>
          <a:p>
            <a:r>
              <a:t>                    "hasData": true,</a:t>
            </a:r>
          </a:p>
          <a:p>
            <a:r>
              <a:t>                    "link": "/trends/explore?q=homme&amp;date=2026-10-01+2026-10-07&amp;geo=FR"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"ongle",</a:t>
            </a:r>
          </a:p>
          <a:p>
            <a:r>
              <a:t>                    "value": 24,</a:t>
            </a:r>
          </a:p>
          <a:p>
            <a:r>
              <a:t>                    "formattedValue": "24",</a:t>
            </a:r>
          </a:p>
          <a:p>
            <a:r>
              <a:t>                    "hasData": true,</a:t>
            </a:r>
          </a:p>
          <a:p>
            <a:r>
              <a:t>                    "link": "/trends/explore?q=ongle&amp;date=2026-10-01+2026-10-07&amp;geo=FR"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"nocibe",</a:t>
            </a:r>
          </a:p>
          <a:p>
            <a:r>
              <a:t>                    "value": 22,</a:t>
            </a:r>
          </a:p>
          <a:p>
            <a:r>
              <a:t>                    "formattedValue": "22",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"pied",</a:t>
            </a:r>
          </a:p>
          <a:p>
            <a:r>
              <a:t>                    "value": 21,</a:t>
            </a:r>
          </a:p>
          <a:p>
            <a:r>
              <a:t>                    "formattedValue": "21",</a:t>
            </a:r>
          </a:p>
          <a:p>
            <a:r>
              <a:t>                    "hasData": true,</a:t>
            </a:r>
          </a:p>
          <a:p>
            <a:r>
              <a:t>                    "link": "/trends/explore?q=pied&amp;date=2026-10-01+2026-10-07&amp;geo=FR"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"parking",</a:t>
            </a:r>
          </a:p>
          <a:p>
            <a:r>
              <a:t>                    "value": 19,</a:t>
            </a:r>
          </a:p>
          <a:p>
            <a:r>
              <a:t>                    "formattedValue": "19",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"/trends/explore?q=parking&amp;date=2026-10-01+2026-10-07&amp;geo=FR"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"ongles",</a:t>
            </a:r>
          </a:p>
          <a:p>
            <a:r>
              <a:t>                    "value": 18,</a:t>
            </a:r>
          </a:p>
          <a:p>
            <a:r>
              <a:t>                    "formattedValue": "18",</a:t>
            </a:r>
          </a:p>
          <a:p>
            <a:r>
              <a:t>                    "hasData": true,</a:t>
            </a:r>
          </a:p>
          <a:p>
            <a:r>
              <a:t>                    "link": "/trends/explore?q=ongles&amp;date=2026-10-01+2026-10-07&amp;geo=FR"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"yves rocher",</a:t>
            </a:r>
          </a:p>
          <a:p>
            <a:r>
              <a:t>                    "value": 17,</a:t>
            </a:r>
          </a:p>
          <a:p>
            <a:r>
              <a:t>                    "formattedValue": "17",</a:t>
            </a:r>
          </a:p>
          <a:p>
            <a:r>
              <a:t>                    "hasData": true,</a:t>
            </a:r>
          </a:p>
          <a:p>
            <a:r>
              <a:t>                    "link": "/trends/explore?q=yves+rocher&amp;date=2026-10-01+2026-10-07&amp;geo=FR"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"maquillage",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"/trends/explore?q=maquillage&amp;date=2026-10-01+2026-10-07&amp;geo=FR"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"vichy",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"/trends/explore?q=vichy&amp;date=2026-10-01+2026-10-07&amp;geo=FR"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homme",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"/trends/explore?q=parfum+homme&amp;date=2026-10-01+2026-10-07&amp;geo=FR"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femme",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"/trends/explore?q=parfum+femme&amp;date=2026-10-01+2026-10-07&amp;geo=FR"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"guerlain",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"/trends/explore?q=guerlain&amp;date=2026-10-01+2026-10-07&amp;geo=FR"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"mascara",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"/trends/explore?q=mascara&amp;date=2026-10-01+2026-10-07&amp;geo=FR"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"chanel",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"/trends/explore?q=chanel&amp;date=2026-10-01+2026-10-07&amp;geo=FR"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"caudalie",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"/trends/explore?q=caudalie&amp;date=2026-10-01+2026-10-07&amp;geo=FR"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"dermatologue",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"/trends/explore?q=dermatologue&amp;date=2026-10-01+2026-10-07&amp;geo=FR"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"nyx",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"/trends/explore?q=nyx&amp;date=2026-10-01+2026-10-07&amp;geo=FR"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"nocibé",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"/trends/explore?q=nocib%C3%A9&amp;date=2026-10-01+2026-10-07&amp;geo=FR"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"lip",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"/trends/explore?q=lip&amp;date=2026-10-01+2026-10-07&amp;geo=FR"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"avene",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"/trends/explore?q=avene&amp;date=2026-10-01+2026-10-07&amp;geo=FR"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"loreal",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"/trends/explore?q=loreal&amp;date=2026-10-01+2026-10-07&amp;geo=FR"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"pemphigus paranéoplasique",</a:t>
            </a:r>
          </a:p>
          <a:p>
            <a:r>
              <a:t>                    "value": 20550,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"/trends/explore?q=pemphigus+paran%C3%A9oplasique&amp;date=2026-10-01+2026-10-07&amp;geo=FR"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"ectoplasma masaki",</a:t>
            </a:r>
          </a:p>
          <a:p>
            <a:r>
              <a:t>                    "value": 6200,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"/trends/explore?q=ectoplasma+masaki&amp;date=2026-10-01+2026-10-07&amp;geo=FR"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"jeremy gilbert",</a:t>
            </a:r>
          </a:p>
          <a:p>
            <a:r>
              <a:t>                    "value": 5500,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"/trends/explore?q=jeremy+gilbert&amp;date=2026-10-01+2026-10-07&amp;geo=FR"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"prince waly",</a:t>
            </a:r>
          </a:p>
          <a:p>
            <a:r>
              <a:t>                    "value": 5100,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"/trends/explore?q=prince+waly&amp;date=2026-10-01+2026-10-07&amp;geo=FR"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"la-roche-sur-yon.com",</a:t>
            </a:r>
          </a:p>
          <a:p>
            <a:r>
              <a:t>                    "value": 3450,</a:t>
            </a:r>
          </a:p>
          <a:p>
            <a:r>
              <a:t>                    "formattedValue": "+3 450 %",</a:t>
            </a:r>
          </a:p>
          <a:p>
            <a:r>
              <a:t>                    "link": "/trends/explore?q=la-roche-sur-yon.com&amp;date=2026-10-01+2026-10-07&amp;geo=FR"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"poisson chauve souris à lèvres rouges",</a:t>
            </a:r>
          </a:p>
          <a:p>
            <a:r>
              <a:t>                    "value": 2200,</a:t>
            </a:r>
          </a:p>
          <a:p>
            <a:r>
              <a:t>                    "formattedValue": "+2 200 %",</a:t>
            </a:r>
          </a:p>
          <a:p>
            <a:r>
              <a:t>                    "link": "/trends/explore?q=poisson+chauve+souris+%C3%A0+l%C3%A8vres+rouges&amp;date=2026-10-01+2026-10-07&amp;geo=FR"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"thierry mugler",</a:t>
            </a:r>
          </a:p>
          <a:p>
            <a:r>
              <a:t>                    "value": 750,</a:t>
            </a:r>
          </a:p>
          <a:p>
            <a:r>
              <a:t>                    "formattedValue": "+750 %",</a:t>
            </a:r>
          </a:p>
          <a:p>
            <a:r>
              <a:t>                    "link": "/trends/explore?q=thierry+mugler&amp;date=2026-10-01+2026-10-07&amp;geo=FR"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"mugler",</a:t>
            </a:r>
          </a:p>
          <a:p>
            <a:r>
              <a:t>                    "value": 250,</a:t>
            </a:r>
          </a:p>
          <a:p>
            <a:r>
              <a:t>                    "formattedValue": "+250 %",</a:t>
            </a:r>
          </a:p>
          <a:p>
            <a:r>
              <a:t>                    "link": "/trends/explore?q=mugler&amp;date=2026-10-01+2026-10-07&amp;geo=FR"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"cup menstruelle",</a:t>
            </a:r>
          </a:p>
          <a:p>
            <a:r>
              <a:t>                    "value": 80,</a:t>
            </a:r>
          </a:p>
          <a:p>
            <a:r>
              <a:t>                    "formattedValue": "+80 %",</a:t>
            </a:r>
          </a:p>
          <a:p>
            <a:r>
              <a:t>                    "link": "/trends/explore?q=cup+menstruelle&amp;date=2026-10-01+2026-10-07&amp;geo=FR"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"juliette has a gun",</a:t>
            </a:r>
          </a:p>
          <a:p>
            <a:r>
              <a:t>                    "value": 60,</a:t>
            </a:r>
          </a:p>
          <a:p>
            <a:r>
              <a:t>                    "formattedValue": "+60 %",</a:t>
            </a:r>
          </a:p>
          <a:p>
            <a:r>
              <a:t>                    "link": "/trends/explore?q=juliette+has+a+gun&amp;date=2026-10-01+2026-10-07&amp;geo=FR"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"divain parfum",</a:t>
            </a:r>
          </a:p>
          <a:p>
            <a:r>
              <a:t>                    "value": 50,</a:t>
            </a:r>
          </a:p>
          <a:p>
            <a:r>
              <a:t>                    "formattedValue": "+50 %",</a:t>
            </a:r>
          </a:p>
          <a:p>
            <a:r>
              <a:t>                    "link": "/trends/explore?q=divain+parfum&amp;date=2026-10-01+2026-10-07&amp;geo=FR"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"data": {</a:t>
            </a:r>
          </a:p>
          <a:p>
            <a:r>
              <a:t>        "retrieved_at": "2026-10-08T15:31:11.037334+00:00",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"2026-10-01",</a:t>
            </a:r>
          </a:p>
          <a:p>
            <a:r>
              <a:t>        "period_end": "2026-10-07",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"https://trends.google.com/trends/explore?cat=143&amp;date=2026-10-01+2026-10-07&amp;geo=IT&amp;hl=it",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"profumo",</a:t>
            </a:r>
          </a:p>
          <a:p>
            <a:r>
              <a:t>            "value": 100,</a:t>
            </a:r>
          </a:p>
          <a:p>
            <a:r>
              <a:t>            "source_rank": 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"crema",</a:t>
            </a:r>
          </a:p>
          <a:p>
            <a:r>
              <a:t>            "value": 90,</a:t>
            </a:r>
          </a:p>
          <a:p>
            <a:r>
              <a:t>            "source_rank": 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"unghie",</a:t>
            </a:r>
          </a:p>
          <a:p>
            <a:r>
              <a:t>            "value": 53,</a:t>
            </a:r>
          </a:p>
          <a:p>
            <a:r>
              <a:t>            "source_rank": 3,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"profumi",</a:t>
            </a:r>
          </a:p>
          <a:p>
            <a:r>
              <a:t>            "value": 37,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"sephora",</a:t>
            </a:r>
          </a:p>
          <a:p>
            <a:r>
              <a:t>            "value": 29,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"zara saffron &amp; orange flowers edp 100ml",</a:t>
            </a:r>
          </a:p>
          <a:p>
            <a:r>
              <a:t>            "value": 4650,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"nivea labbra",</a:t>
            </a:r>
          </a:p>
          <a:p>
            <a:r>
              <a:t>            "value": 2500,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"cosmesi decorativa",</a:t>
            </a:r>
          </a:p>
          <a:p>
            <a:r>
              <a:t>            "value": 250,</a:t>
            </a:r>
          </a:p>
          <a:p>
            <a:r>
              <a:t>            "source_rank": 9,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"Contesto beauty generale: questi dati non misurano la domanda specifica per CC Gel né la sua popolarità.",</a:t>
            </a:r>
          </a:p>
          <a:p>
            <a:r>
              <a:t>        "comparison_start": "2026-09-24",</a:t>
            </a:r>
          </a:p>
          <a:p>
            <a:r>
              <a:t>        "comparison_end": "2026-09-30",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"78e1d2d68de17b9fdca97c5a2055afba631f9e13b03291e5635d4f41daf97e08",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"2026-10-08T15:31:11.037334+00:00",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"2026-10-01",</a:t>
            </a:r>
          </a:p>
          <a:p>
            <a:r>
              <a:t>        "period_end": "2026-10-07",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"https://trends.google.com/trends/explore?cat=143&amp;date=2026-10-01+2026-10-07&amp;geo=IT&amp;hl=it",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"IT"</a:t>
            </a:r>
          </a:p>
          <a:p>
            <a:r>
              <a:t>            },</a:t>
            </a:r>
          </a:p>
          <a:p>
            <a:r>
              <a:t>            "time": "2026-10-01 2026-10-07",</a:t>
            </a:r>
          </a:p>
          <a:p>
            <a:r>
              <a:t>            "originalTimeRangeForExploreUrl": "2026-10-01 2026-10-07"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"2026-09-24 2026-09-30"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"it",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"profumo",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"crema",</a:t>
            </a:r>
          </a:p>
          <a:p>
            <a:r>
              <a:t>                    "value": 90,</a:t>
            </a:r>
          </a:p>
          <a:p>
            <a:r>
              <a:t>                    "formattedValue": "90",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"unghie",</a:t>
            </a:r>
          </a:p>
          <a:p>
            <a:r>
              <a:t>                    "value": 53,</a:t>
            </a:r>
          </a:p>
          <a:p>
            <a:r>
              <a:t>                    "formattedValue": "53",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"profumi",</a:t>
            </a:r>
          </a:p>
          <a:p>
            <a:r>
              <a:t>                    "value": 37,</a:t>
            </a:r>
          </a:p>
          <a:p>
            <a:r>
              <a:t>                    "formattedValue": "37",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"/trends/explore?q=profumi&amp;date=2026-10-01+2026-10-07&amp;geo=IT"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29,</a:t>
            </a:r>
          </a:p>
          <a:p>
            <a:r>
              <a:t>                    "formattedValue": "29",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uomo",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"/trends/explore?q=profumo+uomo&amp;date=2026-10-01+2026-10-07&amp;geo=IT"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"fondotinta",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"/trends/explore?q=fondotinta&amp;date=2026-10-01+2026-10-07&amp;geo=IT"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donna",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"/trends/explore?q=profumo+donna&amp;date=2026-10-01+2026-10-07&amp;geo=IT"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"mascara",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"/trends/explore?q=mascara&amp;date=2026-10-01+2026-10-07&amp;geo=IT"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"braun",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"/trends/explore?q=braun&amp;date=2026-10-01+2026-10-07&amp;geo=IT"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"unghia",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"chanel",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"/trends/explore?q=chanel&amp;date=2026-10-01+2026-10-07&amp;geo=IT"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"gabriele sabatini",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"/trends/explore?q=gabriele+sabatini&amp;date=2026-10-01+2026-10-07&amp;geo=IT"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 roche posay",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"/trends/explore?q=la+roche+posay&amp;date=2026-10-01+2026-10-07&amp;geo=IT"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"bionike",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"/trends/explore?q=bionike&amp;date=2026-10-01+2026-10-07&amp;geo=IT"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"cerave",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"/trends/explore?q=cerave&amp;date=2026-10-01+2026-10-07&amp;geo=IT"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"blush",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"/trends/explore?q=blush&amp;date=2026-10-01+2026-10-07&amp;geo=IT"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"fragrantica",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"/trends/explore?q=fragrantica&amp;date=2026-10-01+2026-10-07&amp;geo=IT"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"kiko",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"/trends/explore?q=kiko&amp;date=2026-10-01+2026-10-07&amp;geo=IT"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"guerlain",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"/trends/explore?q=guerlain&amp;date=2026-10-01+2026-10-07&amp;geo=IT"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"caudalie",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"/trends/explore?q=caudalie&amp;date=2026-10-01+2026-10-07&amp;geo=IT"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"skincare",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"/trends/explore?q=skincare&amp;date=2026-10-01+2026-10-07&amp;geo=IT"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"yodeyma",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"/trends/explore?q=yodeyma&amp;date=2026-10-01+2026-10-07&amp;geo=IT"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"gabriele sabatini",</a:t>
            </a:r>
          </a:p>
          <a:p>
            <a:r>
              <a:t>                    "value": 40550,</a:t>
            </a:r>
          </a:p>
          <a:p>
            <a:r>
              <a:t>                    "formattedValue": "Impennata",</a:t>
            </a:r>
          </a:p>
          <a:p>
            <a:r>
              <a:t>                    "link": "/trends/explore?q=gabriele+sabatini&amp;date=2026-10-01+2026-10-07&amp;geo=IT"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"macchina del fango",</a:t>
            </a:r>
          </a:p>
          <a:p>
            <a:r>
              <a:t>                    "value": 5500,</a:t>
            </a:r>
          </a:p>
          <a:p>
            <a:r>
              <a:t>                    "formattedValue": "Impennata",</a:t>
            </a:r>
          </a:p>
          <a:p>
            <a:r>
              <a:t>                    "link": "/trends/explore?q=macchina+del+fango&amp;date=2026-10-01+2026-10-07&amp;geo=IT"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"jeremy gilbert",</a:t>
            </a:r>
          </a:p>
          <a:p>
            <a:r>
              <a:t>                    "value": 5000,</a:t>
            </a:r>
          </a:p>
          <a:p>
            <a:r>
              <a:t>                    "formattedValue": "+5.000%",</a:t>
            </a:r>
          </a:p>
          <a:p>
            <a:r>
              <a:t>                    "link": "/trends/explore?q=jeremy+gilbert&amp;date=2026-10-01+2026-10-07&amp;geo=IT"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"zara saffron &amp; orange flowers edp 100ml",</a:t>
            </a:r>
          </a:p>
          <a:p>
            <a:r>
              <a:t>                    "value": 4650,</a:t>
            </a:r>
          </a:p>
          <a:p>
            <a:r>
              <a:t>                    "formattedValue": "+4.650%",</a:t>
            </a:r>
          </a:p>
          <a:p>
            <a:r>
              <a:t>                    "link": "/trends/explore?q=zara+saffron+%26+orange+flowers+edp+100ml&amp;date=2026-10-01+2026-10-07&amp;geo=IT"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"nivea labbra",</a:t>
            </a:r>
          </a:p>
          <a:p>
            <a:r>
              <a:t>                    "value": 2500,</a:t>
            </a:r>
          </a:p>
          <a:p>
            <a:r>
              <a:t>                    "formattedValue": "+2.500%",</a:t>
            </a:r>
          </a:p>
          <a:p>
            <a:r>
              <a:t>                    "link": "/trends/explore?q=nivea+labbra&amp;date=2026-10-01+2026-10-07&amp;geo=IT"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"thierry mugler",</a:t>
            </a:r>
          </a:p>
          <a:p>
            <a:r>
              <a:t>                    "value": 700,</a:t>
            </a:r>
          </a:p>
          <a:p>
            <a:r>
              <a:t>                    "formattedValue": "+700%",</a:t>
            </a:r>
          </a:p>
          <a:p>
            <a:r>
              <a:t>                    "link": "/trends/explore?q=thierry+mugler&amp;date=2026-10-01+2026-10-07&amp;geo=IT"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"italia francia",</a:t>
            </a:r>
          </a:p>
          <a:p>
            <a:r>
              <a:t>                    "value": 500,</a:t>
            </a:r>
          </a:p>
          <a:p>
            <a:r>
              <a:t>                    "formattedValue": "+500%",</a:t>
            </a:r>
          </a:p>
          <a:p>
            <a:r>
              <a:t>                    "link": "/trends/explore?q=italia+francia&amp;date=2026-10-01+2026-10-07&amp;geo=IT"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"fusion crema",</a:t>
            </a:r>
          </a:p>
          <a:p>
            <a:r>
              <a:t>                    "value": 400,</a:t>
            </a:r>
          </a:p>
          <a:p>
            <a:r>
              <a:t>                    "formattedValue": "+400%",</a:t>
            </a:r>
          </a:p>
          <a:p>
            <a:r>
              <a:t>                    "link": "/trends/explore?q=fusion+crema&amp;date=2026-10-01+2026-10-07&amp;geo=IT"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"cosmesi decorativa",</a:t>
            </a:r>
          </a:p>
          <a:p>
            <a:r>
              <a:t>                    "value": 250,</a:t>
            </a:r>
          </a:p>
          <a:p>
            <a:r>
              <a:t>                    "formattedValue": "+250%",</a:t>
            </a:r>
          </a:p>
          <a:p>
            <a:r>
              <a:t>                    "link": "/trends/explore?q=cosmesi+decorativa&amp;date=2026-10-01+2026-10-07&amp;geo=IT"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"whatsapp web",</a:t>
            </a:r>
          </a:p>
          <a:p>
            <a:r>
              <a:t>                    "value": 160,</a:t>
            </a:r>
          </a:p>
          <a:p>
            <a:r>
              <a:t>                    "formattedValue": "+160%",</a:t>
            </a:r>
          </a:p>
          <a:p>
            <a:r>
              <a:t>                    "link": "/trends/explore?q=whatsapp+web&amp;date=2026-10-01+2026-10-07&amp;geo=IT"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"hazel eyes",</a:t>
            </a:r>
          </a:p>
          <a:p>
            <a:r>
              <a:t>                    "value": 100,</a:t>
            </a:r>
          </a:p>
          <a:p>
            <a:r>
              <a:t>                    "formattedValue": "+100%",</a:t>
            </a:r>
          </a:p>
          <a:p>
            <a:r>
              <a:t>                    "link": "/trends/explore?q=hazel+eyes&amp;date=2026-10-01+2026-10-07&amp;geo=IT"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"medicube zero pore",</a:t>
            </a:r>
          </a:p>
          <a:p>
            <a:r>
              <a:t>                    "value": 90,</a:t>
            </a:r>
          </a:p>
          <a:p>
            <a:r>
              <a:t>                    "formattedValue": "+90%",</a:t>
            </a:r>
          </a:p>
          <a:p>
            <a:r>
              <a:t>                    "link": "/trends/explore?q=medicube+zero+pore&amp;date=2026-10-01+2026-10-07&amp;geo=IT"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"smalto per unghie",</a:t>
            </a:r>
          </a:p>
          <a:p>
            <a:r>
              <a:t>                    "value": 70,</a:t>
            </a:r>
          </a:p>
          <a:p>
            <a:r>
              <a:t>                    "formattedValue": "+70%",</a:t>
            </a:r>
          </a:p>
          <a:p>
            <a:r>
              <a:t>                    "link": "/trends/explore?q=smalto+per+unghie&amp;date=2026-10-01+2026-10-07&amp;geo=IT"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"libero mail",</a:t>
            </a:r>
          </a:p>
          <a:p>
            <a:r>
              <a:t>                    "value": 70,</a:t>
            </a:r>
          </a:p>
          <a:p>
            <a:r>
              <a:t>                    "formattedValue": "+70%",</a:t>
            </a:r>
          </a:p>
          <a:p>
            <a:r>
              <a:t>                    "link": "/trends/explore?q=libero+mail&amp;date=2026-10-01+2026-10-07&amp;geo=IT"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"medicube",</a:t>
            </a:r>
          </a:p>
          <a:p>
            <a:r>
              <a:t>                    "value": 70,</a:t>
            </a:r>
          </a:p>
          <a:p>
            <a:r>
              <a:t>                    "formattedValue": "+70%",</a:t>
            </a:r>
          </a:p>
          <a:p>
            <a:r>
              <a:t>                    "link": "/trends/explore?q=medicube&amp;date=2026-10-01+2026-10-07&amp;geo=IT"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"luce pulsata braun",</a:t>
            </a:r>
          </a:p>
          <a:p>
            <a:r>
              <a:t>                    "value": 60,</a:t>
            </a:r>
          </a:p>
          <a:p>
            <a:r>
              <a:t>                    "formattedValue": "+60%",</a:t>
            </a:r>
          </a:p>
          <a:p>
            <a:r>
              <a:t>                    "link": "/trends/explore?q=luce+pulsata+braun&amp;date=2026-10-01+2026-10-07&amp;geo=IT"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"calendula",</a:t>
            </a:r>
          </a:p>
          <a:p>
            <a:r>
              <a:t>                    "value": 60,</a:t>
            </a:r>
          </a:p>
          <a:p>
            <a:r>
              <a:t>                    "formattedValue": "+60%",</a:t>
            </a:r>
          </a:p>
          <a:p>
            <a:r>
              <a:t>                    "link": "/trends/explore?q=calendula&amp;date=2026-10-01+2026-10-07&amp;geo=IT"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"meteo di domani",</a:t>
            </a:r>
          </a:p>
          <a:p>
            <a:r>
              <a:t>                    "value": 50,</a:t>
            </a:r>
          </a:p>
          <a:p>
            <a:r>
              <a:t>                    "formattedValue": "+50%",</a:t>
            </a:r>
          </a:p>
          <a:p>
            <a:r>
              <a:t>                    "link": "/trends/explore?q=meteo+di+domani&amp;date=2026-10-01+2026-10-07&amp;geo=IT"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"ingredients": [</a:t>
            </a:r>
          </a:p>
          <a:p>
            <a:r>
              <a:t>    {</a:t>
            </a:r>
          </a:p>
          <a:p>
            <a:r>
              <a:t>      "id": "pigments",</a:t>
            </a:r>
          </a:p>
          <a:p>
            <a:r>
              <a:t>      "label": {</a:t>
            </a:r>
          </a:p>
          <a:p>
            <a:r>
              <a:t>        "fr": "Pigments\nencapsulés",</a:t>
            </a:r>
          </a:p>
          <a:p>
            <a:r>
              <a:t>        "it": "Pigmenti\nincapsulati"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"Pigments",</a:t>
            </a:r>
          </a:p>
          <a:p>
            <a:r>
              <a:t>        "it": "Pigmenti"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"CI 77492 (IRON OXIDES)",</a:t>
            </a:r>
          </a:p>
          <a:p>
            <a:r>
              <a:t>        "CI 77491 (IRON OXIDES)",</a:t>
            </a:r>
          </a:p>
          <a:p>
            <a:r>
              <a:t>        "CI 77499 (IRON OXIDES)"</a:t>
            </a:r>
          </a:p>
          <a:p>
            <a:r>
              <a:t>      ],</a:t>
            </a:r>
          </a:p>
          <a:p>
            <a:r>
              <a:t>      "evidence_topics": [</a:t>
            </a:r>
          </a:p>
          <a:p>
            <a:r>
              <a:t>        "skin_tint"</a:t>
            </a:r>
          </a:p>
          <a:p>
            <a:r>
              <a:t>      ],</a:t>
            </a:r>
          </a:p>
          <a:p>
            <a:r>
              <a:t>      "priority": 100,</a:t>
            </a:r>
          </a:p>
          <a:p>
            <a:r>
              <a:t>      "role": {</a:t>
            </a:r>
          </a:p>
          <a:p>
            <a:r>
              <a:t>        "fr": "Teint unifié",</a:t>
            </a:r>
          </a:p>
          <a:p>
            <a:r>
              <a:t>        "it": "Incarnato uniforme"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"monat",</a:t>
            </a:r>
          </a:p>
          <a:p>
            <a:r>
              <a:t>        "marieclaire"</a:t>
            </a:r>
          </a:p>
          <a:p>
            <a:r>
              <a:t>      ],</a:t>
            </a:r>
          </a:p>
          <a:p>
            <a:r>
              <a:t>      "source_url": "https://ioma-paris.com/products/cc-gel-soin-teinte-eclat-parfait",</a:t>
            </a:r>
          </a:p>
          <a:p>
            <a:r>
              <a:t>      "verified_at": "2026-10-08T15:31:11.037334+00:00"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"glycerin",</a:t>
            </a:r>
          </a:p>
          <a:p>
            <a:r>
              <a:t>      "label": {</a:t>
            </a:r>
          </a:p>
          <a:p>
            <a:r>
              <a:t>        "fr": "Glycérine",</a:t>
            </a:r>
          </a:p>
          <a:p>
            <a:r>
              <a:t>        "it": "Glicerina"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"Glycérine",</a:t>
            </a:r>
          </a:p>
          <a:p>
            <a:r>
              <a:t>        "it": "Glicerina"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"GLYCERIN"</a:t>
            </a:r>
          </a:p>
          <a:p>
            <a:r>
              <a:t>      ],</a:t>
            </a:r>
          </a:p>
          <a:p>
            <a:r>
              <a:t>      "priority": 95,</a:t>
            </a:r>
          </a:p>
          <a:p>
            <a:r>
              <a:t>      "role": {</a:t>
            </a:r>
          </a:p>
          <a:p>
            <a:r>
              <a:t>        "fr": "Hydratation",</a:t>
            </a:r>
          </a:p>
          <a:p>
            <a:r>
              <a:t>        "it": "Idratazione"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"marieclaire"</a:t>
            </a:r>
          </a:p>
          <a:p>
            <a:r>
              <a:t>      ],</a:t>
            </a:r>
          </a:p>
          <a:p>
            <a:r>
              <a:t>      "source_url": "https://ioma-paris.com/products/cc-gel-soin-teinte-eclat-parfait",</a:t>
            </a:r>
          </a:p>
          <a:p>
            <a:r>
              <a:t>      "verified_at": "2026-10-08T15:31:11.037334+00:00"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"caption": "Un incarnato luminoso, una coprenza naturale.\n\nCC Gel accompagna la tua routine con un risultato naturale e luminoso.\n\nScopri CC Gel su ioma-paris.com.\n\n#IOMAParis #CCGel #IncarnatoLuminoso",</a:t>
            </a:r>
          </a:p>
          <a:p>
            <a:r>
              <a:t>  "strategy": {</a:t>
            </a:r>
          </a:p>
          <a:p>
            <a:r>
              <a:t>    "positioning": "CC Gel unisce coprenza naturale e luminosità. Pigmenti incapsulati e glicerina collegano la formula al tema del make-up trattamento, senza attribuirle benefici dei concorrenti.",</a:t>
            </a:r>
          </a:p>
          <a:p>
            <a:r>
              <a:t>    "audience": "Ipotesi di pubblico: persone che cercano un incarnato luminoso e una coprenza leggera.",</a:t>
            </a:r>
          </a:p>
          <a:p>
            <a:r>
              <a:t>    "activation": "Feed: « Luce. Al naturale. » e due componenti. Story: scoperta del finish. Reel da testare: 6–10 s, texture e applicazione. Banner: scoperta di CC Gel.",</a:t>
            </a:r>
          </a:p>
          <a:p>
            <a:r>
              <a:t>    "measurement": "Confrontare « luminosità naturale » con « trattamento colorato », a parità di pubblico e budget. Misurare clic e visite; attivare la vendita dopo il riassortimento."</a:t>
            </a:r>
          </a:p>
          <a:p>
            <a:r>
              <a:t>  },</a:t>
            </a:r>
          </a:p>
          <a:p>
            <a:r>
              <a:t>  "source": "https://ioma-paris.com/products/cc-gel-soin-teinte-eclat-parfait"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"data": {</a:t>
            </a:r>
          </a:p>
          <a:p>
            <a:r>
              <a:t>    "retrieved_at": "2026-10-08T15:31:11.037334+00:00",</a:t>
            </a:r>
          </a:p>
          <a:p>
            <a:r>
              <a:t>    "geo": "IT",</a:t>
            </a:r>
          </a:p>
          <a:p>
            <a:r>
              <a:t>    "language": "it",</a:t>
            </a:r>
          </a:p>
          <a:p>
            <a:r>
              <a:t>    "period_start": "2026-10-01",</a:t>
            </a:r>
          </a:p>
          <a:p>
            <a:r>
              <a:t>    "period_end": "2026-10-07",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"source_url": "https://trends.google.com/trends/explore?cat=143&amp;date=2026-10-01+2026-10-07&amp;geo=IT&amp;hl=it",</a:t>
            </a:r>
          </a:p>
          <a:p>
            <a:r>
              <a:t>    "top": [</a:t>
            </a:r>
          </a:p>
          <a:p>
            <a:r>
              <a:t>      {</a:t>
            </a:r>
          </a:p>
          <a:p>
            <a:r>
              <a:t>        "query": "profumo",</a:t>
            </a:r>
          </a:p>
          <a:p>
            <a:r>
              <a:t>        "value": 100,</a:t>
            </a:r>
          </a:p>
          <a:p>
            <a:r>
              <a:t>        "source_rank": 1,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"crema",</a:t>
            </a:r>
          </a:p>
          <a:p>
            <a:r>
              <a:t>        "value": 90,</a:t>
            </a:r>
          </a:p>
          <a:p>
            <a:r>
              <a:t>        "source_rank": 2,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"unghie",</a:t>
            </a:r>
          </a:p>
          <a:p>
            <a:r>
              <a:t>        "value": 53,</a:t>
            </a:r>
          </a:p>
          <a:p>
            <a:r>
              <a:t>        "source_rank": 3,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"profumi",</a:t>
            </a:r>
          </a:p>
          <a:p>
            <a:r>
              <a:t>        "value": 37,</a:t>
            </a:r>
          </a:p>
          <a:p>
            <a:r>
              <a:t>        "source_rank": 4,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"sephora",</a:t>
            </a:r>
          </a:p>
          <a:p>
            <a:r>
              <a:t>        "value": 29,</a:t>
            </a:r>
          </a:p>
          <a:p>
            <a:r>
              <a:t>        "source_rank": 5,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"rising": [</a:t>
            </a:r>
          </a:p>
          <a:p>
            <a:r>
              <a:t>      {</a:t>
            </a:r>
          </a:p>
          <a:p>
            <a:r>
              <a:t>        "query": "zara saffron &amp; orange flowers edp 100ml",</a:t>
            </a:r>
          </a:p>
          <a:p>
            <a:r>
              <a:t>        "value": 4650,</a:t>
            </a:r>
          </a:p>
          <a:p>
            <a:r>
              <a:t>        "source_rank": 4,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"nivea labbra",</a:t>
            </a:r>
          </a:p>
          <a:p>
            <a:r>
              <a:t>        "value": 2500,</a:t>
            </a:r>
          </a:p>
          <a:p>
            <a:r>
              <a:t>        "source_rank": 5,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"cosmesi decorativa",</a:t>
            </a:r>
          </a:p>
          <a:p>
            <a:r>
              <a:t>        "value": 250,</a:t>
            </a:r>
          </a:p>
          <a:p>
            <a:r>
              <a:t>        "source_rank": 9,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"interpretation": "Contesto beauty generale: questi dati non misurano la domanda specifica per CC Gel né la sua popolarità.",</a:t>
            </a:r>
          </a:p>
          <a:p>
            <a:r>
              <a:t>    "comparison_start": "2026-09-24",</a:t>
            </a:r>
          </a:p>
          <a:p>
            <a:r>
              <a:t>    "comparison_end": "2026-09-30",</a:t>
            </a:r>
          </a:p>
          <a:p>
            <a:r>
              <a:t>    "method_url": "https://support.google.com/trends/answer/4355000",</a:t>
            </a:r>
          </a:p>
          <a:p>
            <a:r>
              <a:t>    "response_sha256": "78e1d2d68de17b9fdca97c5a2055afba631f9e13b03291e5635d4f41daf97e08",</a:t>
            </a:r>
          </a:p>
          <a:p>
            <a:r>
              <a:t>    "selection_note": "Editorial relevance filter; original order, spelling and scores retained. Not exhaustive beauty search volumes."</a:t>
            </a:r>
          </a:p>
          <a:p>
            <a:r>
              <a:t>  },</a:t>
            </a:r>
          </a:p>
          <a:p>
            <a:r>
              <a:t>  "evidence": {</a:t>
            </a:r>
          </a:p>
          <a:p>
            <a:r>
              <a:t>    "retrieved_at": "2026-10-08T15:31:11.037334+00:00",</a:t>
            </a:r>
          </a:p>
          <a:p>
            <a:r>
              <a:t>    "geo": "IT",</a:t>
            </a:r>
          </a:p>
          <a:p>
            <a:r>
              <a:t>    "language": "it",</a:t>
            </a:r>
          </a:p>
          <a:p>
            <a:r>
              <a:t>    "period_start": "2026-10-01",</a:t>
            </a:r>
          </a:p>
          <a:p>
            <a:r>
              <a:t>    "period_end": "2026-10-07",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"seed_keyword": "",</a:t>
            </a:r>
          </a:p>
          <a:p>
            <a:r>
              <a:t>    "source_url": "https://trends.google.com/trends/explore?cat=143&amp;date=2026-10-01+2026-10-07&amp;geo=IT&amp;hl=it",</a:t>
            </a:r>
          </a:p>
          <a:p>
            <a:r>
              <a:t>    "widget_request": {</a:t>
            </a:r>
          </a:p>
          <a:p>
            <a:r>
              <a:t>      "restriction": {</a:t>
            </a:r>
          </a:p>
          <a:p>
            <a:r>
              <a:t>        "geo": {</a:t>
            </a:r>
          </a:p>
          <a:p>
            <a:r>
              <a:t>          "country": "IT"</a:t>
            </a:r>
          </a:p>
          <a:p>
            <a:r>
              <a:t>        },</a:t>
            </a:r>
          </a:p>
          <a:p>
            <a:r>
              <a:t>        "time": "2026-10-01 2026-10-07",</a:t>
            </a:r>
          </a:p>
          <a:p>
            <a:r>
              <a:t>        "originalTimeRangeForExploreUrl": "2026-10-01 2026-10-07"</a:t>
            </a:r>
          </a:p>
          <a:p>
            <a:r>
              <a:t>      },</a:t>
            </a:r>
          </a:p>
          <a:p>
            <a:r>
              <a:t>      "keywordType": "QUERY",</a:t>
            </a:r>
          </a:p>
          <a:p>
            <a:r>
              <a:t>      "metric": [</a:t>
            </a:r>
          </a:p>
          <a:p>
            <a:r>
              <a:t>        "TOP",</a:t>
            </a:r>
          </a:p>
          <a:p>
            <a:r>
              <a:t>        "RISING"</a:t>
            </a:r>
          </a:p>
          <a:p>
            <a:r>
              <a:t>      ],</a:t>
            </a:r>
          </a:p>
          <a:p>
            <a:r>
              <a:t>      "trendinessSettings": {</a:t>
            </a:r>
          </a:p>
          <a:p>
            <a:r>
              <a:t>        "compareTime": "2026-09-24 2026-09-30"</a:t>
            </a:r>
          </a:p>
          <a:p>
            <a:r>
              <a:t>      },</a:t>
            </a:r>
          </a:p>
          <a:p>
            <a:r>
              <a:t>      "requestOptions": {</a:t>
            </a:r>
          </a:p>
          <a:p>
            <a:r>
              <a:t>        "property": "",</a:t>
            </a:r>
          </a:p>
          <a:p>
            <a:r>
              <a:t>        "backend": "IZG",</a:t>
            </a:r>
          </a:p>
          <a:p>
            <a:r>
              <a:t>        "category": 143</a:t>
            </a:r>
          </a:p>
          <a:p>
            <a:r>
              <a:t>      },</a:t>
            </a:r>
          </a:p>
          <a:p>
            <a:r>
              <a:t>      "language": "it",</a:t>
            </a:r>
          </a:p>
          <a:p>
            <a:r>
              <a:t>      "userCountryCode": "US",</a:t>
            </a:r>
          </a:p>
          <a:p>
            <a:r>
              <a:t>      "userConfig": {</a:t>
            </a:r>
          </a:p>
          <a:p>
            <a:r>
              <a:t>        "userType": "USER_TYPE_SCRAPER"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"response": {</a:t>
            </a:r>
          </a:p>
          <a:p>
            <a:r>
              <a:t>      "default": {</a:t>
            </a:r>
          </a:p>
          <a:p>
            <a:r>
              <a:t>        "rankedList": [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"profumo",</a:t>
            </a:r>
          </a:p>
          <a:p>
            <a:r>
              <a:t>                "value": 100,</a:t>
            </a:r>
          </a:p>
          <a:p>
            <a:r>
              <a:t>                "formattedValue": "100",</a:t>
            </a:r>
          </a:p>
          <a:p>
            <a:r>
              <a:t>                "hasData": true,</a:t>
            </a:r>
          </a:p>
          <a:p>
            <a:r>
              <a:t>                "link": "/trends/explore?q=profumo&amp;date=2026-10-01+2026-10-07&amp;geo=IT"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"crema",</a:t>
            </a:r>
          </a:p>
          <a:p>
            <a:r>
              <a:t>                "value": 90,</a:t>
            </a:r>
          </a:p>
          <a:p>
            <a:r>
              <a:t>                "formattedValue": "90",</a:t>
            </a:r>
          </a:p>
          <a:p>
            <a:r>
              <a:t>                "hasData": true,</a:t>
            </a:r>
          </a:p>
          <a:p>
            <a:r>
              <a:t>                "link": "/trends/explore?q=crema&amp;date=2026-10-01+2026-10-07&amp;geo=IT"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"unghie",</a:t>
            </a:r>
          </a:p>
          <a:p>
            <a:r>
              <a:t>                "value": 53,</a:t>
            </a:r>
          </a:p>
          <a:p>
            <a:r>
              <a:t>                "formattedValue": "53",</a:t>
            </a:r>
          </a:p>
          <a:p>
            <a:r>
              <a:t>                "hasData": true,</a:t>
            </a:r>
          </a:p>
          <a:p>
            <a:r>
              <a:t>                "link": "/trends/explore?q=unghie&amp;date=2026-10-01+2026-10-07&amp;geo=IT"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"profumi",</a:t>
            </a:r>
          </a:p>
          <a:p>
            <a:r>
              <a:t>                "value": 37,</a:t>
            </a:r>
          </a:p>
          <a:p>
            <a:r>
              <a:t>                "formattedValue": "37",</a:t>
            </a:r>
          </a:p>
          <a:p>
            <a:r>
              <a:t>                "hasData": true,</a:t>
            </a:r>
          </a:p>
          <a:p>
            <a:r>
              <a:t>                "link": "/trends/explore?q=profumi&amp;date=2026-10-01+2026-10-07&amp;geo=IT"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"sephora",</a:t>
            </a:r>
          </a:p>
          <a:p>
            <a:r>
              <a:t>                "value": 29,</a:t>
            </a:r>
          </a:p>
          <a:p>
            <a:r>
              <a:t>                "formattedValue": "29",</a:t>
            </a:r>
          </a:p>
          <a:p>
            <a:r>
              <a:t>                "hasData": true,</a:t>
            </a:r>
          </a:p>
          <a:p>
            <a:r>
              <a:t>                "link": "/trends/explore?q=sephora&amp;date=2026-10-01+2026-10-07&amp;geo=IT"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"amazon",</a:t>
            </a:r>
          </a:p>
          <a:p>
            <a:r>
              <a:t>                "value": 15,</a:t>
            </a:r>
          </a:p>
          <a:p>
            <a:r>
              <a:t>                "formattedValue": "15",</a:t>
            </a:r>
          </a:p>
          <a:p>
            <a:r>
              <a:t>                "hasData": true,</a:t>
            </a:r>
          </a:p>
          <a:p>
            <a:r>
              <a:t>                "link": "/trends/explore?q=amazon&amp;date=2026-10-01+2026-10-07&amp;geo=IT"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"profumo uomo",</a:t>
            </a:r>
          </a:p>
          <a:p>
            <a:r>
              <a:t>                "value": 13,</a:t>
            </a:r>
          </a:p>
          <a:p>
            <a:r>
              <a:t>                "formattedValue": "13",</a:t>
            </a:r>
          </a:p>
          <a:p>
            <a:r>
              <a:t>                "hasData": true,</a:t>
            </a:r>
          </a:p>
          <a:p>
            <a:r>
              <a:t>                "link": "/trends/explore?q=profumo+uomo&amp;date=2026-10-01+2026-10-07&amp;geo=IT"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"fondotinta",</a:t>
            </a:r>
          </a:p>
          <a:p>
            <a:r>
              <a:t>                "value": 13,</a:t>
            </a:r>
          </a:p>
          <a:p>
            <a:r>
              <a:t>                "formattedValue": "13",</a:t>
            </a:r>
          </a:p>
          <a:p>
            <a:r>
              <a:t>                "hasData": true,</a:t>
            </a:r>
          </a:p>
          <a:p>
            <a:r>
              <a:t>                "link": "/trends/explore?q=fondotinta&amp;date=2026-10-01+2026-10-07&amp;geo=IT"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"profumo donna",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"/trends/explore?q=profumo+donna&amp;date=2026-10-01+2026-10-07&amp;geo=IT"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"dior",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"/trends/explore?q=dior&amp;date=2026-10-01+2026-10-07&amp;geo=IT"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"mascara",</a:t>
            </a:r>
          </a:p>
          <a:p>
            <a:r>
              <a:t>                "value": 11,</a:t>
            </a:r>
          </a:p>
          <a:p>
            <a:r>
              <a:t>                "formattedValue": "11",</a:t>
            </a:r>
          </a:p>
          <a:p>
            <a:r>
              <a:t>                "hasData": true,</a:t>
            </a:r>
          </a:p>
          <a:p>
            <a:r>
              <a:t>                "link": "/trends/explore?q=mascara&amp;date=2026-10-01+2026-10-07&amp;geo=IT"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"braun",</a:t>
            </a:r>
          </a:p>
          <a:p>
            <a:r>
              <a:t>                "value": 10,</a:t>
            </a:r>
          </a:p>
          <a:p>
            <a:r>
              <a:t>                "formattedValue": "10",</a:t>
            </a:r>
          </a:p>
          <a:p>
            <a:r>
              <a:t>                "hasData": true,</a:t>
            </a:r>
          </a:p>
          <a:p>
            <a:r>
              <a:t>                "link": "/trends/explore?q=braun&amp;date=2026-10-01+2026-10-07&amp;geo=IT"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"unghia",</a:t>
            </a:r>
          </a:p>
          <a:p>
            <a:r>
              <a:t>                "value": 8,</a:t>
            </a:r>
          </a:p>
          <a:p>
            <a:r>
              <a:t>                "formattedValue": "8",</a:t>
            </a:r>
          </a:p>
          <a:p>
            <a:r>
              <a:t>                "hasData": true,</a:t>
            </a:r>
          </a:p>
          <a:p>
            <a:r>
              <a:t>                "link": "/trends/explore?q=unghia&amp;date=2026-10-01+2026-10-07&amp;geo=IT"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"chanel",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"/trends/explore?q=chanel&amp;date=2026-10-01+2026-10-07&amp;geo=IT"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"gabriele sabatini",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"/trends/explore?q=gabriele+sabatini&amp;date=2026-10-01+2026-10-07&amp;geo=IT"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"la roche posay",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"/trends/explore?q=la+roche+posay&amp;date=2026-10-01+2026-10-07&amp;geo=IT"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"bionike",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"/trends/explore?q=bionike&amp;date=2026-10-01+2026-10-07&amp;geo=IT"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"cerave",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"/trends/explore?q=cerave&amp;date=2026-10-01+2026-10-07&amp;geo=IT"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"blush",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"/trends/explore?q=blush&amp;date=2026-10-01+2026-10-07&amp;geo=IT"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"fragrantica",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"/trends/explore?q=fragrantica&amp;date=2026-10-01+2026-10-07&amp;geo=IT"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"kiko",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"/trends/explore?q=kiko&amp;date=2026-10-01+2026-10-07&amp;geo=IT"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"guerlain",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"/trends/explore?q=guerlain&amp;date=2026-10-01+2026-10-07&amp;geo=IT"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"caudalie",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"/trends/explore?q=caudalie&amp;date=2026-10-01+2026-10-07&amp;geo=IT"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"skincare",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"/trends/explore?q=skincare&amp;date=2026-10-01+2026-10-07&amp;geo=IT"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"yodeyma",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"/trends/explore?q=yodeyma&amp;date=2026-10-01+2026-10-07&amp;geo=IT"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"gabriele sabatini",</a:t>
            </a:r>
          </a:p>
          <a:p>
            <a:r>
              <a:t>                "value": 40550,</a:t>
            </a:r>
          </a:p>
          <a:p>
            <a:r>
              <a:t>                "formattedValue": "Impennata",</a:t>
            </a:r>
          </a:p>
          <a:p>
            <a:r>
              <a:t>                "link": "/trends/explore?q=gabriele+sabatini&amp;date=2026-10-01+2026-10-07&amp;geo=IT"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"macchina del fango",</a:t>
            </a:r>
          </a:p>
          <a:p>
            <a:r>
              <a:t>                "value": 5500,</a:t>
            </a:r>
          </a:p>
          <a:p>
            <a:r>
              <a:t>                "formattedValue": "Impennata",</a:t>
            </a:r>
          </a:p>
          <a:p>
            <a:r>
              <a:t>                "link": "/trends/explore?q=macchina+del+fango&amp;date=2026-10-01+2026-10-07&amp;geo=IT"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"jeremy gilbert",</a:t>
            </a:r>
          </a:p>
          <a:p>
            <a:r>
              <a:t>                "value": 5000,</a:t>
            </a:r>
          </a:p>
          <a:p>
            <a:r>
              <a:t>                "formattedValue": "+5.000%",</a:t>
            </a:r>
          </a:p>
          <a:p>
            <a:r>
              <a:t>                "link": "/trends/explore?q=jeremy+gilbert&amp;date=2026-10-01+2026-10-07&amp;geo=IT"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"zara saffron &amp; orange flowers edp 100ml",</a:t>
            </a:r>
          </a:p>
          <a:p>
            <a:r>
              <a:t>                "value": 4650,</a:t>
            </a:r>
          </a:p>
          <a:p>
            <a:r>
              <a:t>                "formattedValue": "+4.650%",</a:t>
            </a:r>
          </a:p>
          <a:p>
            <a:r>
              <a:t>                "link": "/trends/explore?q=zara+saffron+%26+orange+flowers+edp+100ml&amp;date=2026-10-01+2026-10-07&amp;geo=IT"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"nivea labbra",</a:t>
            </a:r>
          </a:p>
          <a:p>
            <a:r>
              <a:t>                "value": 2500,</a:t>
            </a:r>
          </a:p>
          <a:p>
            <a:r>
              <a:t>                "formattedValue": "+2.500%",</a:t>
            </a:r>
          </a:p>
          <a:p>
            <a:r>
              <a:t>                "link": "/trends/explore?q=nivea+labbra&amp;date=2026-10-01+2026-10-07&amp;geo=IT"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"thierry mugler",</a:t>
            </a:r>
          </a:p>
          <a:p>
            <a:r>
              <a:t>                "value": 700,</a:t>
            </a:r>
          </a:p>
          <a:p>
            <a:r>
              <a:t>                "formattedValue": "+700%",</a:t>
            </a:r>
          </a:p>
          <a:p>
            <a:r>
              <a:t>                "link": "/trends/explore?q=thierry+mugler&amp;date=2026-10-01+2026-10-07&amp;geo=IT"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"italia francia",</a:t>
            </a:r>
          </a:p>
          <a:p>
            <a:r>
              <a:t>                "value": 500,</a:t>
            </a:r>
          </a:p>
          <a:p>
            <a:r>
              <a:t>                "formattedValue": "+500%",</a:t>
            </a:r>
          </a:p>
          <a:p>
            <a:r>
              <a:t>                "link": "/trends/explore?q=italia+francia&amp;date=2026-10-01+2026-10-07&amp;geo=IT"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"fusion crema",</a:t>
            </a:r>
          </a:p>
          <a:p>
            <a:r>
              <a:t>                "value": 400,</a:t>
            </a:r>
          </a:p>
          <a:p>
            <a:r>
              <a:t>                "formattedValue": "+400%",</a:t>
            </a:r>
          </a:p>
          <a:p>
            <a:r>
              <a:t>                "link": "/trends/explore?q=fusion+crema&amp;date=2026-10-01+2026-10-07&amp;geo=IT"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"cosmesi decorativa",</a:t>
            </a:r>
          </a:p>
          <a:p>
            <a:r>
              <a:t>                "value": 250,</a:t>
            </a:r>
          </a:p>
          <a:p>
            <a:r>
              <a:t>                "formattedValue": "+250%",</a:t>
            </a:r>
          </a:p>
          <a:p>
            <a:r>
              <a:t>                "link": "/trends/explore?q=cosmesi+decorativa&amp;date=2026-10-01+2026-10-07&amp;geo=IT"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"whatsapp web",</a:t>
            </a:r>
          </a:p>
          <a:p>
            <a:r>
              <a:t>                "value": 160,</a:t>
            </a:r>
          </a:p>
          <a:p>
            <a:r>
              <a:t>                "formattedValue": "+160%",</a:t>
            </a:r>
          </a:p>
          <a:p>
            <a:r>
              <a:t>                "link": "/trends/explore?q=whatsapp+web&amp;date=2026-10-01+2026-10-07&amp;geo=IT"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"hazel eyes",</a:t>
            </a:r>
          </a:p>
          <a:p>
            <a:r>
              <a:t>                "value": 100,</a:t>
            </a:r>
          </a:p>
          <a:p>
            <a:r>
              <a:t>                "formattedValue": "+100%",</a:t>
            </a:r>
          </a:p>
          <a:p>
            <a:r>
              <a:t>                "link": "/trends/explore?q=hazel+eyes&amp;date=2026-10-01+2026-10-07&amp;geo=IT"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"medicube zero pore",</a:t>
            </a:r>
          </a:p>
          <a:p>
            <a:r>
              <a:t>                "value": 90,</a:t>
            </a:r>
          </a:p>
          <a:p>
            <a:r>
              <a:t>                "formattedValue": "+90%",</a:t>
            </a:r>
          </a:p>
          <a:p>
            <a:r>
              <a:t>                "link": "/trends/explore?q=medicube+zero+pore&amp;date=2026-10-01+2026-10-07&amp;geo=IT"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"smalto per unghie",</a:t>
            </a:r>
          </a:p>
          <a:p>
            <a:r>
              <a:t>                "value": 70,</a:t>
            </a:r>
          </a:p>
          <a:p>
            <a:r>
              <a:t>                "formattedValue": "+70%",</a:t>
            </a:r>
          </a:p>
          <a:p>
            <a:r>
              <a:t>                "link": "/trends/explore?q=smalto+per+unghie&amp;date=2026-10-01+2026-10-07&amp;geo=IT"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"libero mail",</a:t>
            </a:r>
          </a:p>
          <a:p>
            <a:r>
              <a:t>                "value": 70,</a:t>
            </a:r>
          </a:p>
          <a:p>
            <a:r>
              <a:t>                "formattedValue": "+70%",</a:t>
            </a:r>
          </a:p>
          <a:p>
            <a:r>
              <a:t>                "link": "/trends/explore?q=libero+mail&amp;date=2026-10-01+2026-10-07&amp;geo=IT"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"medicube",</a:t>
            </a:r>
          </a:p>
          <a:p>
            <a:r>
              <a:t>                "value": 70,</a:t>
            </a:r>
          </a:p>
          <a:p>
            <a:r>
              <a:t>                "formattedValue": "+70%",</a:t>
            </a:r>
          </a:p>
          <a:p>
            <a:r>
              <a:t>                "link": "/trends/explore?q=medicube&amp;date=2026-10-01+2026-10-07&amp;geo=IT"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"luce pulsata braun",</a:t>
            </a:r>
          </a:p>
          <a:p>
            <a:r>
              <a:t>                "value": 60,</a:t>
            </a:r>
          </a:p>
          <a:p>
            <a:r>
              <a:t>                "formattedValue": "+60%",</a:t>
            </a:r>
          </a:p>
          <a:p>
            <a:r>
              <a:t>                "link": "/trends/explore?q=luce+pulsata+braun&amp;date=2026-10-01+2026-10-07&amp;geo=IT"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"calendula",</a:t>
            </a:r>
          </a:p>
          <a:p>
            <a:r>
              <a:t>                "value": 60,</a:t>
            </a:r>
          </a:p>
          <a:p>
            <a:r>
              <a:t>                "formattedValue": "+60%",</a:t>
            </a:r>
          </a:p>
          <a:p>
            <a:r>
              <a:t>                "link": "/trends/explore?q=calendula&amp;date=2026-10-01+2026-10-07&amp;geo=IT"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"meteo di domani",</a:t>
            </a:r>
          </a:p>
          <a:p>
            <a:r>
              <a:t>                "value": 50,</a:t>
            </a:r>
          </a:p>
          <a:p>
            <a:r>
              <a:t>                "formattedValue": "+50%",</a:t>
            </a:r>
          </a:p>
          <a:p>
            <a:r>
              <a:t>                "link": "/trends/explore?q=meteo+di+domani&amp;date=2026-10-01+2026-10-07&amp;geo=IT"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]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</a:t>
            </a:r>
          </a:p>
          <a:p>
            <a:r>
              <a:t>  {</a:t>
            </a:r>
          </a:p>
          <a:p>
            <a:r>
              <a:t>    "id": "monat",</a:t>
            </a:r>
          </a:p>
          <a:p>
            <a:r>
              <a:t>    "title": "MONAT Unveils Two Breakthrough Beauty Launches During MONATions World Tour",</a:t>
            </a:r>
          </a:p>
          <a:p>
            <a:r>
              <a:t>    "url": "https://www.globenewswire.com/news-release/2026/10/05/3374951/0/en/monat-unveils-two-breakthrough-beauty-launches-during-monations-world-tour.html",</a:t>
            </a:r>
          </a:p>
          <a:p>
            <a:r>
              <a:t>    "publisher": "MONAT / GlobeNewswire",</a:t>
            </a:r>
          </a:p>
          <a:p>
            <a:r>
              <a:t>    "published_at": "2026-10-05T19:00:00+00:00",</a:t>
            </a:r>
          </a:p>
          <a:p>
            <a:r>
              <a:t>    "kind": "brand_promotion",</a:t>
            </a:r>
          </a:p>
          <a:p>
            <a:r>
              <a:t>    "brand": "MONAT",</a:t>
            </a:r>
          </a:p>
          <a:p>
            <a:r>
              <a:t>    "topics": [</a:t>
            </a:r>
          </a:p>
          <a:p>
            <a:r>
              <a:t>      "skin_tint"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"MODERN GLOW",</a:t>
            </a:r>
          </a:p>
          <a:p>
            <a:r>
              <a:t>      "Skin Tint",</a:t>
            </a:r>
          </a:p>
          <a:p>
            <a:r>
              <a:t>      "natural-looking radiance"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"MONAT : lancement de MODERN GLOW Skin Tint annoncé le 5 octobre. Communication de marque sur le teint naturel.",</a:t>
            </a:r>
          </a:p>
          <a:p>
            <a:r>
              <a:t>      "it": "MONAT: lancio di MODERN GLOW Skin Tint annunciato il 5 ottobre. Comunicazione del marchio sul finish naturale."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"MONAT : lancement de MODERN GLOW Skin Tint",</a:t>
            </a:r>
          </a:p>
          <a:p>
            <a:r>
              <a:t>      "it": "MONAT: lancio di MODERN GLOW Skin Tint"</a:t>
            </a:r>
          </a:p>
          <a:p>
            <a:r>
              <a:t>    },</a:t>
            </a:r>
          </a:p>
          <a:p>
            <a:r>
              <a:t>    "reviewed_at": "2026-10-08T15:30:16.188707+00:00",</a:t>
            </a:r>
          </a:p>
          <a:p>
            <a:r>
              <a:t>    "review_note": "Reread October 5 release: MODERN GLOW launch supports skin-tint editorial context. Brand-owned promotion; hair-product virality is not evidence of CC Gel demand.",</a:t>
            </a:r>
          </a:p>
          <a:p>
            <a:r>
              <a:t>    "in_week": true,</a:t>
            </a:r>
          </a:p>
          <a:p>
            <a:r>
              <a:t>    "checked_at": "2026-10-08T15:31:11.037334+00:00",</a:t>
            </a:r>
          </a:p>
          <a:p>
            <a:r>
              <a:t>    "content_sha256": "43a6d80b43b1d124a3ed827a87a99e676f4f213577fbcf1807c6cb9f85995898"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"id": "marieclaire",</a:t>
            </a:r>
          </a:p>
          <a:p>
            <a:r>
              <a:t>    "title": "These September Beauty Launches Are a Bat Signal for Cozy Season",</a:t>
            </a:r>
          </a:p>
          <a:p>
            <a:r>
              <a:t>    "url": "https://www.marieclaire.com/beauty/best-new-beauty-products-september-2026/",</a:t>
            </a:r>
          </a:p>
          <a:p>
            <a:r>
              <a:t>    "publisher": "Marie Claire",</a:t>
            </a:r>
          </a:p>
          <a:p>
            <a:r>
              <a:t>    "published_at": "2026-10-02T18:01:50+00:00",</a:t>
            </a:r>
          </a:p>
          <a:p>
            <a:r>
              <a:t>    "kind": "editorial",</a:t>
            </a:r>
          </a:p>
          <a:p>
            <a:r>
              <a:t>    "brand": "MAC / OneSkin",</a:t>
            </a:r>
          </a:p>
          <a:p>
            <a:r>
              <a:t>    "topics": [</a:t>
            </a:r>
          </a:p>
          <a:p>
            <a:r>
              <a:t>      "skin_tint",</a:t>
            </a:r>
          </a:p>
          <a:p>
            <a:r>
              <a:t>      "glycerin"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"Skin Tint Stick",</a:t>
            </a:r>
          </a:p>
          <a:p>
            <a:r>
              <a:t>      "glycerin"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"Marie Claire : teint léger et glycérine.",</a:t>
            </a:r>
          </a:p>
          <a:p>
            <a:r>
              <a:t>      "it": "Marie Claire: skin tint e glicerina."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"Nouveautés beauté de septembre",</a:t>
            </a:r>
          </a:p>
          <a:p>
            <a:r>
              <a:t>      "it": "Novità beauty di settembre"</a:t>
            </a:r>
          </a:p>
          <a:p>
            <a:r>
              <a:t>    },</a:t>
            </a:r>
          </a:p>
          <a:p>
            <a:r>
              <a:t>    "reviewed_at": "2026-10-08T15:30:16.188707+00:00",</a:t>
            </a:r>
          </a:p>
          <a:p>
            <a:r>
              <a:t>    "review_note": "Reread skin-tint and moisturizer sections; retained the brief topical summary and publication date.",</a:t>
            </a:r>
          </a:p>
          <a:p>
            <a:r>
              <a:t>    "in_week": true,</a:t>
            </a:r>
          </a:p>
          <a:p>
            <a:r>
              <a:t>    "checked_at": "2026-10-08T15:31:11.037334+00:00",</a:t>
            </a:r>
          </a:p>
          <a:p>
            <a:r>
              <a:t>    "content_sha256": "4a2ad3ddc42832fa3640d97ba0a52c797d99523b8309076ccbccb08c03ed7583"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"id": "cerave",</a:t>
            </a:r>
          </a:p>
          <a:p>
            <a:r>
              <a:t>    "title": "CeraVe HK ditches the hard sell to win over Gen Z",</a:t>
            </a:r>
          </a:p>
          <a:p>
            <a:r>
              <a:t>    "url": "https://www.marketing-interactive.com/cerave-hk-ditches-the-hard-sell-to-win-over-genz",</a:t>
            </a:r>
          </a:p>
          <a:p>
            <a:r>
              <a:t>    "publisher": "Marketing-Interactive",</a:t>
            </a:r>
          </a:p>
          <a:p>
            <a:r>
              <a:t>    "published_at": "2026-09-24T00:00:00+00:00",</a:t>
            </a:r>
          </a:p>
          <a:p>
            <a:r>
              <a:t>    "kind": "advertising_campaign",</a:t>
            </a:r>
          </a:p>
          <a:p>
            <a:r>
              <a:t>    "brand": "CeraVe",</a:t>
            </a:r>
          </a:p>
          <a:p>
            <a:r>
              <a:t>    "event_start": "2026-09-01",</a:t>
            </a:r>
          </a:p>
          <a:p>
            <a:r>
              <a:t>    "event_end": "2026-11-30",</a:t>
            </a:r>
          </a:p>
          <a:p>
            <a:r>
              <a:t>    "topics": [</a:t>
            </a:r>
          </a:p>
          <a:p>
            <a:r>
              <a:t>      "social_creative"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"September to November 2026",</a:t>
            </a:r>
          </a:p>
          <a:p>
            <a:r>
              <a:t>      "six-second Reels"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"CeraVe, Hong Kong : campagne annoncée active sept.–nov., Reels courts et découverte produit. Article du 24 septembre.",</a:t>
            </a:r>
          </a:p>
          <a:p>
            <a:r>
              <a:t>      "it": "CeraVe, Hong Kong: campagna annunciata attiva sett.–nov., Reel brevi e scoperta prodotto. Articolo del 24 settembre."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"CeraVe Hong Kong : la campagne « anti-publicité »",</a:t>
            </a:r>
          </a:p>
          <a:p>
            <a:r>
              <a:t>      "it": "CeraVe Hong Kong: la campagna «anti-pubblicità»"</a:t>
            </a:r>
          </a:p>
          <a:p>
            <a:r>
              <a:t>    },</a:t>
            </a:r>
          </a:p>
          <a:p>
            <a:r>
              <a:t>    "reviewed_at": "2026-10-08T15:30:16.188707+00:00",</a:t>
            </a:r>
          </a:p>
          <a:p>
            <a:r>
              <a:t>    "review_note": "Reread September 24 trade article: announced September–November campaign and six-second Reels confirmed. No inference about current paid delivery or budget.",</a:t>
            </a:r>
          </a:p>
          <a:p>
            <a:r>
              <a:t>    "in_week": false,</a:t>
            </a:r>
          </a:p>
          <a:p>
            <a:r>
              <a:t>    "checked_at": "2026-10-08T15:31:11.037334+00:00",</a:t>
            </a:r>
          </a:p>
          <a:p>
            <a:r>
              <a:t>    "content_sha256": "e66c26752d55db8e3d9104e2a42730d3784a3949439f3f773c32f2c5c40dae04"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globenewswire.com/news-release/2026/10/05/3374951/0/en/monat-unveils-two-breakthrough-beauty-launches-during-monations-world-tour.html" TargetMode="External"/><Relationship Id="rId4" Type="http://schemas.openxmlformats.org/officeDocument/2006/relationships/hyperlink" Target="https://www.marieclaire.com/beauty/best-new-beauty-products-september-2026/" TargetMode="External"/><Relationship Id="rId5" Type="http://schemas.openxmlformats.org/officeDocument/2006/relationships/hyperlink" Target="https://www.marketing-interactive.com/cerave-hk-ditches-the-hard-sell-to-win-over-genz" TargetMode="Externa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ioma-paris.com/products/cc-gel-soin-teinte-eclat-parfait" TargetMode="Externa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rends.google.com/trends/explore?cat=143&amp;date=2026-10-01+2026-10-07&amp;geo=IT&amp;hl=it" TargetMode="External"/><Relationship Id="rId4" Type="http://schemas.openxmlformats.org/officeDocument/2006/relationships/hyperlink" Target="https://support.google.com/trends/answer/4355000" TargetMode="Externa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marieclaire.com/beauty/best-new-beauty-products-september-2026/" TargetMode="External"/><Relationship Id="rId4" Type="http://schemas.openxmlformats.org/officeDocument/2006/relationships/hyperlink" Target="https://www.marketing-interactive.com/cerave-hk-ditches-the-hard-sell-to-win-over-genz" TargetMode="External"/><Relationship Id="rId5" Type="http://schemas.openxmlformats.org/officeDocument/2006/relationships/hyperlink" Target="https://www.globenewswire.com/news-release/2026/10/05/3374951/0/en/monat-unveils-two-breakthrough-beauty-launches-during-monations-world-tour.html" TargetMode="Externa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08.10.2026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La settimana skincare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Segnali editoriali, attivi e campagne osservate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01  SKINCARE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02  INGREDIENTI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03  PUBBLICITÀ &amp; PROMOZIONI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3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72384"/>
            <a:ext cx="3502152" cy="68580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262320"/>
                </a:solidFill>
                <a:latin typeface="Cormorant Garamond"/>
              </a:defRPr>
            </a:pPr>
            <a:r>
              <a:t>Cura &amp; colore naturale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3502152" cy="10789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Incarnato luminoso e coprenza leggera: una lettura essenziale del make-up trattamento.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38928"/>
            <a:ext cx="3502152" cy="5029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Marie Claire: skin tint e glicerina.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3072384"/>
            <a:ext cx="3502152" cy="10058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62320"/>
                </a:solidFill>
                <a:latin typeface="Cormorant Garamond"/>
              </a:defRPr>
            </a:pPr>
            <a:r>
              <a:t>Pigmenti incapsulati + Glicerina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4279392"/>
            <a:ext cx="3502152" cy="12618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262320"/>
                </a:solidFill>
                <a:latin typeface="DejaVu Sans"/>
              </a:defRPr>
            </a:pPr>
            <a:r>
              <a:t>Pigmenti e glicerina verificati in IOMA. Le notizie parlano di skin tint e idratazione, senza dimostrare la viralità di CC Gel.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1583" y="3090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MONAT: lancio di MODERN GLOW Skin Tint annunciato il 5 ottobre. Comunicazione del marchio sul finish naturale.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4233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CeraVe, Hong Kong: campagna annunciata attiva sett.–nov., Reel brevi e scoperta prodotto. Articolo del 24 settembre.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3" y="5559552"/>
            <a:ext cx="3502152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Osservazione internazionale; erogazione paid e budget non verificati.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548640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[1] MONAT / GlobeNewswire · 05/10</a:t>
            </a:r>
          </a:p>
        </p:txBody>
      </p:sp>
      <p:sp>
        <p:nvSpPr>
          <p:cNvPr id="25" name="TextBox 24">
            <a:hlinkClick r:id="rId4"/>
          </p:cNvPr>
          <p:cNvSpPr txBox="1"/>
          <p:nvPr/>
        </p:nvSpPr>
        <p:spPr>
          <a:xfrm>
            <a:off x="4325112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[2] Marie Claire · 02/10</a:t>
            </a:r>
          </a:p>
        </p:txBody>
      </p:sp>
      <p:sp>
        <p:nvSpPr>
          <p:cNvPr id="26" name="TextBox 25">
            <a:hlinkClick r:id="rId5"/>
          </p:cNvPr>
          <p:cNvSpPr txBox="1"/>
          <p:nvPr/>
        </p:nvSpPr>
        <p:spPr>
          <a:xfrm>
            <a:off x="8101583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[3] Marketing-Interactive · 24/09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08.10.2026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33271"/>
            <a:ext cx="11064240" cy="5669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CC Gel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Dai trend ai contenuti social</a:t>
            </a:r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13432"/>
            <a:ext cx="2926079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58768" y="2368296"/>
            <a:ext cx="722376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IL PRODOTTO E IL COLLEGAMENTO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807208"/>
            <a:ext cx="7333488" cy="8961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CC Gel unisce coprenza naturale e luminosità. Pigmenti incapsulati e glicerina collegano la formula al tema del make-up trattamento, senza attribuirle benefici dei concorrenti.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3767328"/>
            <a:ext cx="7333488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645E57"/>
                </a:solidFill>
                <a:latin typeface="DejaVu Sans"/>
              </a:defRPr>
            </a:pPr>
            <a:r>
              <a:t>Ipotesi di pubblico: persone che cercano un incarnato luminoso e una coprenza leggera.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8768" y="4425696"/>
            <a:ext cx="7726679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4590288"/>
            <a:ext cx="7333488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ATTIVAZIONE DA TESTARE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4983480"/>
            <a:ext cx="7333488" cy="70408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Feed: « Luce. Al naturale. » e due componenti. Story: scoperta del finish. Reel da testare: 6–10 s, texture e applicazione. Banner: scoperta di CC Gel.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5779008"/>
            <a:ext cx="7333488" cy="5760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645E57"/>
                </a:solidFill>
                <a:latin typeface="DejaVu Sans"/>
              </a:defRPr>
            </a:pPr>
            <a:r>
              <a:t>Confrontare « luminosità naturale » con « trattamento colorato », a parità di pubblico e budget. Misurare clic e visite; attivare la vendita dopo il riassortimento.</a:t>
            </a:r>
          </a:p>
        </p:txBody>
      </p:sp>
      <p:sp>
        <p:nvSpPr>
          <p:cNvPr id="18" name="TextBox 17">
            <a:hlinkClick r:id="rId4"/>
          </p:cNvPr>
          <p:cNvSpPr txBox="1"/>
          <p:nvPr/>
        </p:nvSpPr>
        <p:spPr>
          <a:xfrm>
            <a:off x="548640" y="6181344"/>
            <a:ext cx="292608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Formula e INCI IOMA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07.10.2026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Le ricerche beauty su 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Italia · Cura di viso e corpo · Ricerca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66928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QUERY PRINCIPALI · INDICE 0–100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502920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IN CRESCITA · SELEZIONE BEAUTY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34056"/>
            <a:ext cx="521208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734056"/>
            <a:ext cx="502920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98648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profumo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898648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64991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crema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364991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31335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unghie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831335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53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profumi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4297680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64024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sephora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764024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9864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zara saffron &amp; orange flowers edp 100ml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89864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+4650 %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63016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nivea labbra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363016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+2500 %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6168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cosmesi decorativa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436168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+250 %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2"/>
            <a:ext cx="11064240" cy="29260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Indice relativo, non volume. Crescita rispetto al 24.09.2026–30.09.2026.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60720"/>
            <a:ext cx="11064240" cy="4389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262320"/>
                </a:solidFill>
                <a:latin typeface="DejaVu Sans"/>
              </a:defRPr>
            </a:pPr>
            <a:r>
              <a:t>Contesto beauty generale: questi dati non misurano la domanda specifica per CC Gel né la sua popolarità.</a:t>
            </a:r>
          </a:p>
        </p:txBody>
      </p:sp>
      <p:sp>
        <p:nvSpPr>
          <p:cNvPr id="32" name="TextBox 31">
            <a:hlinkClick r:id="rId3"/>
          </p:cNvPr>
          <p:cNvSpPr txBox="1"/>
          <p:nvPr/>
        </p:nvSpPr>
        <p:spPr>
          <a:xfrm>
            <a:off x="548640" y="6254496"/>
            <a:ext cx="411480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Google Trends · apri i dati</a:t>
            </a:r>
          </a:p>
        </p:txBody>
      </p:sp>
      <p:sp>
        <p:nvSpPr>
          <p:cNvPr id="33" name="TextBox 32">
            <a:hlinkClick r:id="rId4"/>
          </p:cNvPr>
          <p:cNvSpPr txBox="1"/>
          <p:nvPr/>
        </p:nvSpPr>
        <p:spPr>
          <a:xfrm>
            <a:off x="4937760" y="6254496"/>
            <a:ext cx="667512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Selezione pertinente; ordine Google conservato. Metodo 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08.10.2026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Articoli e fonti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Apri le pubblicazioni citate nel radar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Marie Claire  ·  02.10.2026  ·  ARTICOLO EDITORIALE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34056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Novità beauty di settembre</a:t>
            </a:r>
          </a:p>
        </p:txBody>
      </p:sp>
      <p:sp>
        <p:nvSpPr>
          <p:cNvPr id="12" name="TextBox 11">
            <a:hlinkClick r:id="rId3"/>
          </p:cNvPr>
          <p:cNvSpPr txBox="1"/>
          <p:nvPr/>
        </p:nvSpPr>
        <p:spPr>
          <a:xfrm>
            <a:off x="9326880" y="2779776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3"/>
              </a:rPr>
              <a:t>Leggi l’articolo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74136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57015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Marketing-Interactive  ·  24.09.2026  ·  STAMPA MARKETING · CAMPAGNA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67911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CeraVe Hong Kong: la campagna «anti-pubblicità»</a:t>
            </a:r>
          </a:p>
        </p:txBody>
      </p:sp>
      <p:sp>
        <p:nvSpPr>
          <p:cNvPr id="16" name="TextBox 15">
            <a:hlinkClick r:id="rId4"/>
          </p:cNvPr>
          <p:cNvSpPr txBox="1"/>
          <p:nvPr/>
        </p:nvSpPr>
        <p:spPr>
          <a:xfrm>
            <a:off x="9326880" y="3913631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4"/>
              </a:rPr>
              <a:t>Leggi l’articolo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07992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90872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MONAT / GlobeNewswire  ·  05.10.2026  ·  COMUNICATO DEL MARCHIO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01768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MONAT: lancio di MODERN GLOW Skin Tint</a:t>
            </a:r>
          </a:p>
        </p:txBody>
      </p:sp>
      <p:sp>
        <p:nvSpPr>
          <p:cNvPr id="20" name="TextBox 19">
            <a:hlinkClick r:id="rId5"/>
          </p:cNvPr>
          <p:cNvSpPr txBox="1"/>
          <p:nvPr/>
        </p:nvSpPr>
        <p:spPr>
          <a:xfrm>
            <a:off x="9326880" y="5047488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5"/>
              </a:rPr>
              <a:t>Leggi il comunicato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6418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Data di pubblicazione indicata; periodo delle campagne precisato a pagina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IOMA Beauty Radar — IT</dc:title>
  <dc:subject/>
  <dc:creator>IOMA Paris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