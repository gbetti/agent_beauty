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"2026-10-08T09:57:48+00:00",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"cosrx",</a:t>
            </a:r>
          </a:p>
          <a:p>
            <a:r>
              <a:t>      "title": "COSRX fall skincare promotion",</a:t>
            </a:r>
          </a:p>
          <a:p>
            <a:r>
              <a:t>      "url": "https://www.prnewsthailand.com/prnewswire/en/view/72075",</a:t>
            </a:r>
          </a:p>
          <a:p>
            <a:r>
              <a:t>      "publisher": "COSRX / PR Newswire",</a:t>
            </a:r>
          </a:p>
          <a:p>
            <a:r>
              <a:t>      "published_at": "2026-10-02T00:00:00+00:00",</a:t>
            </a:r>
          </a:p>
          <a:p>
            <a:r>
              <a:t>      "kind": "brand_promotion",</a:t>
            </a:r>
          </a:p>
          <a:p>
            <a:r>
              <a:t>      "brand": "COSRX",</a:t>
            </a:r>
          </a:p>
          <a:p>
            <a:r>
              <a:t>      "event_start": "2026-10-06",</a:t>
            </a:r>
          </a:p>
          <a:p>
            <a:r>
              <a:t>      "event_end": "2026-10-07",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"ceramides",</a:t>
            </a:r>
          </a:p>
          <a:p>
            <a:r>
              <a:t>        "barrier"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"Peptide",</a:t>
            </a:r>
          </a:p>
          <a:p>
            <a:r>
              <a:t>        "Ceramide",</a:t>
            </a:r>
          </a:p>
          <a:p>
            <a:r>
              <a:t>        "October 6"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"COSRX : offre des 6–7 octobre centrée sur peptides et soin de la barrière. Promotion terminée.",</a:t>
            </a:r>
          </a:p>
          <a:p>
            <a:r>
              <a:t>        "it": "COSRX: promozione del 6–7 ottobre su peptidi e cura della barriera. Offerta conclusa."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"COSRX : offre Prime Big Deal Days",</a:t>
            </a:r>
          </a:p>
          <a:p>
            <a:r>
              <a:t>        "it": "COSRX: offerta Prime Big Deal Days"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"byoma",</a:t>
            </a:r>
          </a:p>
          <a:p>
            <a:r>
              <a:t>      "title": "September beauty launches reviewed",</a:t>
            </a:r>
          </a:p>
          <a:p>
            <a:r>
              <a:t>      "url": "https://www.marieclaire.com/beauty/best-new-beauty-products-september-2026/",</a:t>
            </a:r>
          </a:p>
          <a:p>
            <a:r>
              <a:t>      "publisher": "Marie Claire",</a:t>
            </a:r>
          </a:p>
          <a:p>
            <a:r>
              <a:t>      "published_at": "2026-10-02T18:01:50+00:00",</a:t>
            </a:r>
          </a:p>
          <a:p>
            <a:r>
              <a:t>      "kind": "editorial",</a:t>
            </a:r>
          </a:p>
          <a:p>
            <a:r>
              <a:t>      "brand": "BYOMA",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"Byoma",</a:t>
            </a:r>
          </a:p>
          <a:p>
            <a:r>
              <a:t>        "tri-ceramide"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"BYOMA : peptides + tri-céramides.",</a:t>
            </a:r>
          </a:p>
          <a:p>
            <a:r>
              <a:t>        "it": "BYOMA: peptidi + tri-ceramidi."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"Nouveautés beauté de septembre",</a:t>
            </a:r>
          </a:p>
          <a:p>
            <a:r>
              <a:t>        "it": "Novità beauty di settembre"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Hong Kong campaign",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annoncée active sept.–nov., Reels courts et découverte produit. Article du 24 septembre.",</a:t>
            </a:r>
          </a:p>
          <a:p>
            <a:r>
              <a:t>        "it": "CeraVe, Hong Kong: campagna annunciata attiva sett.–nov., Reel brevi e scoperta prodotto.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"product_key": "creme-sublime-revitalisante",</a:t>
            </a:r>
          </a:p>
          <a:p>
            <a:r>
              <a:t>  "insight": {</a:t>
            </a:r>
          </a:p>
          <a:p>
            <a:r>
              <a:t>    "fr": "Faire comprendre la formule : barrière cutanée et fermeté, en deux actifs lisibles.",</a:t>
            </a:r>
          </a:p>
          <a:p>
            <a:r>
              <a:t>    "it": "Rendere comprensibile la formula: barriera cutanea e compattezza, con due attivi leggibili."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Sublime associe nutrition et fermeté. Céramides : barrière cutanée. Peptide RIGIN™ : fermeté. Cette lecture de la formule relie le soin aux actifs cités cette semaine.",</a:t>
            </a:r>
          </a:p>
          <a:p>
            <a:r>
              <a:t>      "audience": "Hypothèse de cible : personnes recherchant nutrition, confort et fermeté.",</a:t>
            </a:r>
          </a:p>
          <a:p>
            <a:r>
              <a:t>      "activation": "Feed : deux actifs, deux repères visuels. Story : question « Barrière ou fermeté ? ». Reel à tester : 6–10 s, texture puis formule. Bannière : découverte du soin.",</a:t>
            </a:r>
          </a:p>
          <a:p>
            <a:r>
              <a:t>      "measurement": "Tester le message « barrière » face à « fermeté » avec la même audience et le même budget. Comparer clics et visites de la fiche produit."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Sublime unisce nutrimento e compattezza. Ceramidi: barriera cutanea. Peptide RIGIN™: compattezza. Questa lettura della formula collega il prodotto agli attivi citati questa settimana.",</a:t>
            </a:r>
          </a:p>
          <a:p>
            <a:r>
              <a:t>      "audience": "Ipotesi di pubblico: persone che cercano nutrimento, comfort e compattezza.",</a:t>
            </a:r>
          </a:p>
          <a:p>
            <a:r>
              <a:t>      "activation": "Feed: due attivi, due richiami visivi. Story: domanda « Barriera o compattezza? ». Reel da testare: 6–10 s, texture poi formula. Banner: scoperta del trattamento.",</a:t>
            </a:r>
          </a:p>
          <a:p>
            <a:r>
              <a:t>      "measurement": "Testare « barriera » contro « compattezza » con pubblico e budget uguali. Confrontare clic e visite alla scheda prodotto."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"parfum",</a:t>
            </a:r>
          </a:p>
          <a:p>
            <a:r>
              <a:t>          "sephora",</a:t>
            </a:r>
          </a:p>
          <a:p>
            <a:r>
              <a:t>          "ongle",</a:t>
            </a:r>
          </a:p>
          <a:p>
            <a:r>
              <a:t>          "nocibe",</a:t>
            </a:r>
          </a:p>
          <a:p>
            <a:r>
              <a:t>          "ongles",</a:t>
            </a:r>
          </a:p>
          <a:p>
            <a:r>
              <a:t>          "yves rocher",</a:t>
            </a:r>
          </a:p>
          <a:p>
            <a:r>
              <a:t>          "maquillage",</a:t>
            </a:r>
          </a:p>
          <a:p>
            <a:r>
              <a:t>          "dior",</a:t>
            </a:r>
          </a:p>
          <a:p>
            <a:r>
              <a:t>          "parfum homme",</a:t>
            </a:r>
          </a:p>
          <a:p>
            <a:r>
              <a:t>          "parfum femme",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"nyx",</a:t>
            </a:r>
          </a:p>
          <a:p>
            <a:r>
              <a:t>          "nocibé",</a:t>
            </a:r>
          </a:p>
          <a:p>
            <a:r>
              <a:t>          "avene",</a:t>
            </a:r>
          </a:p>
          <a:p>
            <a:r>
              <a:t>          "garnier",</a:t>
            </a:r>
          </a:p>
          <a:p>
            <a:r>
              <a:t>          "loreal",</a:t>
            </a:r>
          </a:p>
          <a:p>
            <a:r>
              <a:t>          "marionnaud"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"mugler",</a:t>
            </a:r>
          </a:p>
          <a:p>
            <a:r>
              <a:t>          "juliette has a gun",</a:t>
            </a:r>
          </a:p>
          <a:p>
            <a:r>
              <a:t>          "divain parfum",</a:t>
            </a:r>
          </a:p>
          <a:p>
            <a:r>
              <a:t>          "loreal friends and family",</a:t>
            </a:r>
          </a:p>
          <a:p>
            <a:r>
              <a:t>          "stick teint lancome"</a:t>
            </a:r>
          </a:p>
          <a:p>
            <a:r>
              <a:t>        ],</a:t>
            </a:r>
          </a:p>
          <a:p>
            <a:r>
              <a:t>        "interpretation": "Proposition IOMA : affiner la recherche autour du soin visage avant de choisir des mots-clés d’acquisition."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"profumo",</a:t>
            </a:r>
          </a:p>
          <a:p>
            <a:r>
              <a:t>          "crema",</a:t>
            </a:r>
          </a:p>
          <a:p>
            <a:r>
              <a:t>          "unghie",</a:t>
            </a:r>
          </a:p>
          <a:p>
            <a:r>
              <a:t>          "profumi",</a:t>
            </a:r>
          </a:p>
          <a:p>
            <a:r>
              <a:t>          "sephora",</a:t>
            </a:r>
          </a:p>
          <a:p>
            <a:r>
              <a:t>          "fondotinta",</a:t>
            </a:r>
          </a:p>
          <a:p>
            <a:r>
              <a:t>          "profumo uomo",</a:t>
            </a:r>
          </a:p>
          <a:p>
            <a:r>
              <a:t>          "profumo donna",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"la roche posay",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"blush",</a:t>
            </a:r>
          </a:p>
          <a:p>
            <a:r>
              <a:t>          "fragrantica",</a:t>
            </a:r>
          </a:p>
          <a:p>
            <a:r>
              <a:t>          "guerlain",</a:t>
            </a:r>
          </a:p>
          <a:p>
            <a:r>
              <a:t>          "kiko",</a:t>
            </a:r>
          </a:p>
          <a:p>
            <a:r>
              <a:t>          "caudalie",</a:t>
            </a:r>
          </a:p>
          <a:p>
            <a:r>
              <a:t>          "rhode",</a:t>
            </a:r>
          </a:p>
          <a:p>
            <a:r>
              <a:t>          "skincare",</a:t>
            </a:r>
          </a:p>
          <a:p>
            <a:r>
              <a:t>          "garnier",</a:t>
            </a:r>
          </a:p>
          <a:p>
            <a:r>
              <a:t>          "yodeyma",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"zara saffron &amp; orange flowers edp 100ml",</a:t>
            </a:r>
          </a:p>
          <a:p>
            <a:r>
              <a:t>          "nivea labbra",</a:t>
            </a:r>
          </a:p>
          <a:p>
            <a:r>
              <a:t>          "cosmesi decorativa",</a:t>
            </a:r>
          </a:p>
          <a:p>
            <a:r>
              <a:t>          "cicaplast baume b5 la roche posay",</a:t>
            </a:r>
          </a:p>
          <a:p>
            <a:r>
              <a:t>          "medicube zero pore",</a:t>
            </a:r>
          </a:p>
          <a:p>
            <a:r>
              <a:t>          "medicube",</a:t>
            </a:r>
          </a:p>
          <a:p>
            <a:r>
              <a:t>          "smalto per unghie",</a:t>
            </a:r>
          </a:p>
          <a:p>
            <a:r>
              <a:t>          "braun luce pulsata"</a:t>
            </a:r>
          </a:p>
          <a:p>
            <a:r>
              <a:t>        ],</a:t>
            </a:r>
          </a:p>
          <a:p>
            <a:r>
              <a:t>        "interpretation": "Proposta IOMA: collegare « crema » a nutrimento e compattezza, poi misurare l’interesse sui contenuti dedicati."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"2026-10-08T10:40:27.503584+00:00",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"parfum",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43,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"ongle",</a:t>
            </a:r>
          </a:p>
          <a:p>
            <a:r>
              <a:t>            "value": 23,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"nocibe",</a:t>
            </a:r>
          </a:p>
          <a:p>
            <a:r>
              <a:t>            "value": 21,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"yves rocher",</a:t>
            </a:r>
          </a:p>
          <a:p>
            <a:r>
              <a:t>            "value": 15,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"loreal friends and family",</a:t>
            </a:r>
          </a:p>
          <a:p>
            <a:r>
              <a:t>            "value": 700,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"stick teint lancome",</a:t>
            </a:r>
          </a:p>
          <a:p>
            <a:r>
              <a:t>            "value": 350,</a:t>
            </a:r>
          </a:p>
          <a:p>
            <a:r>
              <a:t>            "source_rank": 8,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"divain parfum",</a:t>
            </a:r>
          </a:p>
          <a:p>
            <a:r>
              <a:t>            "value": 50,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"Proposition IOMA : affiner la recherche autour du soin visage avant de choisir des mots-clés d’acquisition.",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"ac67d0f0d5813dbee85e161a106db9aed7294f669f23e7531bddc6cd41ad3bbe",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"2026-10-08T10:40:27.503584+00:00",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43,</a:t>
            </a:r>
          </a:p>
          <a:p>
            <a:r>
              <a:t>                    "formattedValue": "43",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21,</a:t>
            </a:r>
          </a:p>
          <a:p>
            <a:r>
              <a:t>                    "formattedValue": "21",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"pied",</a:t>
            </a:r>
          </a:p>
          <a:p>
            <a:r>
              <a:t>                    "value": 20,</a:t>
            </a:r>
          </a:p>
          <a:p>
            <a:r>
              <a:t>                    "formattedValue": "20",</a:t>
            </a:r>
          </a:p>
          <a:p>
            <a:r>
              <a:t>                    "hasData": true,</a:t>
            </a:r>
          </a:p>
          <a:p>
            <a:r>
              <a:t>                    "link": "/trends/explore?q=pied&amp;date=2026-10-01+2026-10-07&amp;geo=FR"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18,</a:t>
            </a:r>
          </a:p>
          <a:p>
            <a:r>
              <a:t>                    "formattedValue": "18",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"garnier",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"/trends/explore?q=garnier&amp;date=2026-10-01+2026-10-07&amp;geo=FR"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"loreal",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"/trends/explore?q=loreal&amp;date=2026-10-01+2026-10-07&amp;geo=FR"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"pemphigus paranéoplasique",</a:t>
            </a:r>
          </a:p>
          <a:p>
            <a:r>
              <a:t>                    "value": 21000,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"/trends/explore?q=pemphigus+paran%C3%A9oplasique&amp;date=2026-10-01+2026-10-07&amp;geo=FR"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5100,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"/trends/explore?q=jeremy+gilbert&amp;date=2026-10-01+2026-10-07&amp;geo=FR"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"la-roche-sur-yon.com",</a:t>
            </a:r>
          </a:p>
          <a:p>
            <a:r>
              <a:t>                    "value": 3550,</a:t>
            </a:r>
          </a:p>
          <a:p>
            <a:r>
              <a:t>                    "formattedValue": "+3 550 %",</a:t>
            </a:r>
          </a:p>
          <a:p>
            <a:r>
              <a:t>                    "link": "/trends/explore?q=la-roche-sur-yon.com&amp;date=2026-10-01+2026-10-07&amp;geo=FR"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"poisson chauve souris à lèvres rouges",</a:t>
            </a:r>
          </a:p>
          <a:p>
            <a:r>
              <a:t>                    "value": 2150,</a:t>
            </a:r>
          </a:p>
          <a:p>
            <a:r>
              <a:t>                    "formattedValue": "+2 150 %",</a:t>
            </a:r>
          </a:p>
          <a:p>
            <a:r>
              <a:t>                    "link": "/trends/explore?q=poisson+chauve+souris+%C3%A0+l%C3%A8vres+rouges&amp;date=2026-10-01+2026-10-07&amp;geo=FR"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800,</a:t>
            </a:r>
          </a:p>
          <a:p>
            <a:r>
              <a:t>                    "formattedValue": "+800 %",</a:t>
            </a:r>
          </a:p>
          <a:p>
            <a:r>
              <a:t>                    "link": "/trends/explore?q=thierry+mugler&amp;date=2026-10-01+2026-10-07&amp;geo=FR"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"poisson chauve-souris à lèvre rouge",</a:t>
            </a:r>
          </a:p>
          <a:p>
            <a:r>
              <a:t>                    "value": 750,</a:t>
            </a:r>
          </a:p>
          <a:p>
            <a:r>
              <a:t>                    "formattedValue": "+750 %",</a:t>
            </a:r>
          </a:p>
          <a:p>
            <a:r>
              <a:t>                    "link": "/trends/explore?q=poisson+chauve-souris+%C3%A0+l%C3%A8vre+rouge&amp;date=2026-10-01+2026-10-07&amp;geo=FR"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"loreal friends and family",</a:t>
            </a:r>
          </a:p>
          <a:p>
            <a:r>
              <a:t>                    "value": 700,</a:t>
            </a:r>
          </a:p>
          <a:p>
            <a:r>
              <a:t>                    "formattedValue": "+700 %",</a:t>
            </a:r>
          </a:p>
          <a:p>
            <a:r>
              <a:t>                    "link": "/trends/explore?q=loreal+friends+and+family&amp;date=2026-10-01+2026-10-07&amp;geo=FR"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"stick teint lancome",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"/trends/explore?q=stick+teint+lancome&amp;date=2026-10-01+2026-10-07&amp;geo=FR"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"poisson chauve souris a levre rouge",</a:t>
            </a:r>
          </a:p>
          <a:p>
            <a:r>
              <a:t>                    "value": 170,</a:t>
            </a:r>
          </a:p>
          <a:p>
            <a:r>
              <a:t>                    "formattedValue": "+170 %",</a:t>
            </a:r>
          </a:p>
          <a:p>
            <a:r>
              <a:t>                    "link": "/trends/explore?q=poisson+chauve+souris+a+levre+rouge&amp;date=2026-10-01+2026-10-07&amp;geo=FR"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"hazel eyes",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"/trends/explore?q=hazel+eyes&amp;date=2026-10-01+2026-10-07&amp;geo=FR"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"divain parfum",</a:t>
            </a:r>
          </a:p>
          <a:p>
            <a:r>
              <a:t>                    "value": 50,</a:t>
            </a:r>
          </a:p>
          <a:p>
            <a:r>
              <a:t>                    "formattedValue": "+50 %",</a:t>
            </a:r>
          </a:p>
          <a:p>
            <a:r>
              <a:t>                    "link": "/trends/explore?q=divain+parfum&amp;date=2026-10-01+2026-10-07&amp;geo=FR"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"2026-10-08T10:40:28.439828+00:00",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"profumo",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89,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"unghie",</a:t>
            </a:r>
          </a:p>
          <a:p>
            <a:r>
              <a:t>            "value": 53,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"profumi",</a:t>
            </a:r>
          </a:p>
          <a:p>
            <a:r>
              <a:t>            "value": 34,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28,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"nivea labbra",</a:t>
            </a:r>
          </a:p>
          <a:p>
            <a:r>
              <a:t>            "value": 2350,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"cicaplast baume b5 la roche posay",</a:t>
            </a:r>
          </a:p>
          <a:p>
            <a:r>
              <a:t>            "value": 150,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"medicube zero pore",</a:t>
            </a:r>
          </a:p>
          <a:p>
            <a:r>
              <a:t>            "value": 80,</a:t>
            </a:r>
          </a:p>
          <a:p>
            <a:r>
              <a:t>            "source_rank": 8,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"Proposta IOMA: collegare « crema » a nutrimento e compattezza, poi misurare l’interesse sui contenuti dedicati.",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"6a55a3932015c12df6cee03dc89dad6fc8102e47e23e0d4ac701213c2a812390",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"2026-10-08T10:40:28.439828+00:00",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89,</a:t>
            </a:r>
          </a:p>
          <a:p>
            <a:r>
              <a:t>                    "formattedValue": "89",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34,</a:t>
            </a:r>
          </a:p>
          <a:p>
            <a:r>
              <a:t>                    "formattedValue": "34",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28,</a:t>
            </a:r>
          </a:p>
          <a:p>
            <a:r>
              <a:t>                    "formattedValue": "28",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14,</a:t>
            </a:r>
          </a:p>
          <a:p>
            <a:r>
              <a:t>                    "formattedValue": "14",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"rhode",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"/trends/explore?q=rhode&amp;date=2026-10-01+2026-10-07&amp;geo=IT"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"/trends/explore?q=meteo&amp;date=2026-10-01+2026-10-07&amp;geo=IT"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"garnier",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"/trends/explore?q=garnier&amp;date=2026-10-01+2026-10-07&amp;geo=IT"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"yodeyma",</a:t>
            </a:r>
          </a:p>
          <a:p>
            <a:r>
              <a:t>                    "value": 4,</a:t>
            </a:r>
          </a:p>
          <a:p>
            <a:r>
              <a:t>                    "formattedValue": "4",</a:t>
            </a:r>
          </a:p>
          <a:p>
            <a:r>
              <a:t>                    "hasData": true,</a:t>
            </a:r>
          </a:p>
          <a:p>
            <a:r>
              <a:t>                    "link": "/trends/explore?q=yodeyma&amp;date=2026-10-01+2026-10-07&amp;geo=IT"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4,</a:t>
            </a:r>
          </a:p>
          <a:p>
            <a:r>
              <a:t>                    "formattedValue": "4",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63950,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4250,</a:t>
            </a:r>
          </a:p>
          <a:p>
            <a:r>
              <a:t>                    "formattedValue": "+4.250%",</a:t>
            </a:r>
          </a:p>
          <a:p>
            <a:r>
              <a:t>                    "link": "/trends/explore?q=jeremy+gilbert&amp;date=2026-10-01+2026-10-07&amp;geo=IT"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"nivea labbra",</a:t>
            </a:r>
          </a:p>
          <a:p>
            <a:r>
              <a:t>                    "value": 2350,</a:t>
            </a:r>
          </a:p>
          <a:p>
            <a:r>
              <a:t>                    "formattedValue": "+2.350%",</a:t>
            </a:r>
          </a:p>
          <a:p>
            <a:r>
              <a:t>                    "link": "/trends/explore?q=nivea+labbra&amp;date=2026-10-01+2026-10-07&amp;geo=IT"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"whatsapp web",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"/trends/explore?q=whatsapp+web&amp;date=2026-10-01+2026-10-07&amp;geo=IT"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"cicaplast baume b5 la roche posay",</a:t>
            </a:r>
          </a:p>
          <a:p>
            <a:r>
              <a:t>                    "value": 150,</a:t>
            </a:r>
          </a:p>
          <a:p>
            <a:r>
              <a:t>                    "formattedValue": "+150%",</a:t>
            </a:r>
          </a:p>
          <a:p>
            <a:r>
              <a:t>                    "link": "/trends/explore?q=cicaplast+baume+b5+la+roche+posay&amp;date=2026-10-01+2026-10-07&amp;geo=IT"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"hazel eyes",</a:t>
            </a:r>
          </a:p>
          <a:p>
            <a:r>
              <a:t>                    "value": 100,</a:t>
            </a:r>
          </a:p>
          <a:p>
            <a:r>
              <a:t>                    "formattedValue": "+100%",</a:t>
            </a:r>
          </a:p>
          <a:p>
            <a:r>
              <a:t>                    "link": "/trends/explore?q=hazel+eyes&amp;date=2026-10-01+2026-10-07&amp;geo=IT"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 prime",</a:t>
            </a:r>
          </a:p>
          <a:p>
            <a:r>
              <a:t>                    "value": 100,</a:t>
            </a:r>
          </a:p>
          <a:p>
            <a:r>
              <a:t>                    "formattedValue": "+100%",</a:t>
            </a:r>
          </a:p>
          <a:p>
            <a:r>
              <a:t>                    "link": "/trends/explore?q=amazon+prime&amp;date=2026-10-01+2026-10-07&amp;geo=IT"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 zero pore",</a:t>
            </a:r>
          </a:p>
          <a:p>
            <a:r>
              <a:t>                    "value": 80,</a:t>
            </a:r>
          </a:p>
          <a:p>
            <a:r>
              <a:t>                    "formattedValue": "+80%",</a:t>
            </a:r>
          </a:p>
          <a:p>
            <a:r>
              <a:t>                    "link": "/trends/explore?q=medicube+zero+pore&amp;date=2026-10-01+2026-10-07&amp;geo=IT"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"libero mail",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"/trends/explore?q=libero+mail&amp;date=2026-10-01+2026-10-07&amp;geo=IT"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"/trends/explore?q=medicube&amp;date=2026-10-01+2026-10-07&amp;geo=IT"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 luce pulsata",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"/trends/explore?q=braun+luce+pulsata&amp;date=2026-10-01+2026-10-07&amp;geo=IT"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"basalioma naso",</a:t>
            </a:r>
          </a:p>
          <a:p>
            <a:r>
              <a:t>                    "value": 40,</a:t>
            </a:r>
          </a:p>
          <a:p>
            <a:r>
              <a:t>                    "formattedValue": "+40%",</a:t>
            </a:r>
          </a:p>
          <a:p>
            <a:r>
              <a:t>                    "link": "/trends/explore?q=basalioma+naso&amp;date=2026-10-01+2026-10-07&amp;geo=IT"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 di domani",</a:t>
            </a:r>
          </a:p>
          <a:p>
            <a:r>
              <a:t>                    "value": 40,</a:t>
            </a:r>
          </a:p>
          <a:p>
            <a:r>
              <a:t>                    "formattedValue": "+40%",</a:t>
            </a:r>
          </a:p>
          <a:p>
            <a:r>
              <a:t>                    "link": "/trends/explore?q=meteo+di+domani&amp;date=2026-10-01+2026-10-07&amp;geo=IT"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"ceramides",</a:t>
            </a:r>
          </a:p>
          <a:p>
            <a:r>
              <a:t>      "label": {</a:t>
            </a:r>
          </a:p>
          <a:p>
            <a:r>
              <a:t>        "fr": "Céramides",</a:t>
            </a:r>
          </a:p>
          <a:p>
            <a:r>
              <a:t>        "it": "Ceramidi"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"Céramides",</a:t>
            </a:r>
          </a:p>
          <a:p>
            <a:r>
              <a:t>        "it": "Ceramidi"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"CERAMIDE NP",</a:t>
            </a:r>
          </a:p>
          <a:p>
            <a:r>
              <a:t>        "CERAMIDE AP"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"role": {</a:t>
            </a:r>
          </a:p>
          <a:p>
            <a:r>
              <a:t>        "fr": "Barrière cutanée",</a:t>
            </a:r>
          </a:p>
          <a:p>
            <a:r>
              <a:t>        "it": "Barriera cutanea"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"verification_session_date": "2026-10-08"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"Peptide\nRIGIN™",</a:t>
            </a:r>
          </a:p>
          <a:p>
            <a:r>
              <a:t>        "it": "Peptide\nRIGIN™"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 RIGIN™",</a:t>
            </a:r>
          </a:p>
          <a:p>
            <a:r>
              <a:t>        "it": "Peptide RIGIN™"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"PALMITOYL TETRAPEPTIDE-7"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"Fermeté",</a:t>
            </a:r>
          </a:p>
          <a:p>
            <a:r>
              <a:t>        "it": "Compattezza"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"verification_session_date": "2026-10-08"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"Nutrimento e compattezza, in un unico trattamento.\n\nCrème Sublime Revitalisante nutre la pelle in profondità e contribuisce a renderla più soda. La sua texture ricca e fondente trasforma l’applicazione in un momento di cura.\n\nScopri Crème Sublime Revitalisante su ioma-paris.com.\n\n#IOMAParis #CrèmeSublimeRevitalisante #Skincare",</a:t>
            </a:r>
          </a:p>
          <a:p>
            <a:r>
              <a:t>  "strategy": {</a:t>
            </a:r>
          </a:p>
          <a:p>
            <a:r>
              <a:t>    "positioning": "Crème Sublime unisce nutrimento e compattezza. Ceramidi: barriera cutanea. Peptide RIGIN™: compattezza. Questa lettura della formula collega il prodotto agli attivi citati questa settimana.",</a:t>
            </a:r>
          </a:p>
          <a:p>
            <a:r>
              <a:t>    "audience": "Ipotesi di pubblico: persone che cercano nutrimento, comfort e compattezza.",</a:t>
            </a:r>
          </a:p>
          <a:p>
            <a:r>
              <a:t>    "activation": "Feed: due attivi, due richiami visivi. Story: domanda « Barriera o compattezza? ». Reel da testare: 6–10 s, texture poi formula. Banner: scoperta del trattamento.",</a:t>
            </a:r>
          </a:p>
          <a:p>
            <a:r>
              <a:t>    "measurement": "Testare « barriera » contro « compattezza » con pubblico e budget uguali. Confrontare clic e visite alla scheda prodotto."</a:t>
            </a:r>
          </a:p>
          <a:p>
            <a:r>
              <a:t>  },</a:t>
            </a:r>
          </a:p>
          <a:p>
            <a:r>
              <a:t>  "source": "https://ioma-paris.com/products/creme-sublime-revitalisante"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"2026-10-08T10:40:28.439828+00:00",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"https://trends.google.com/trends/explore?cat=143&amp;date=2026-10-01+2026-10-07&amp;geo=IT&amp;hl=it",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"profumo",</a:t>
            </a:r>
          </a:p>
          <a:p>
            <a:r>
              <a:t>        "value": 100,</a:t>
            </a:r>
          </a:p>
          <a:p>
            <a:r>
              <a:t>        "source_rank": 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"crema",</a:t>
            </a:r>
          </a:p>
          <a:p>
            <a:r>
              <a:t>        "value": 89,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"unghie",</a:t>
            </a:r>
          </a:p>
          <a:p>
            <a:r>
              <a:t>        "value": 53,</a:t>
            </a:r>
          </a:p>
          <a:p>
            <a:r>
              <a:t>        "source_rank": 3,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"profumi",</a:t>
            </a:r>
          </a:p>
          <a:p>
            <a:r>
              <a:t>        "value": 34,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"sephora",</a:t>
            </a:r>
          </a:p>
          <a:p>
            <a:r>
              <a:t>        "value": 28,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"nivea labbra",</a:t>
            </a:r>
          </a:p>
          <a:p>
            <a:r>
              <a:t>        "value": 2350,</a:t>
            </a:r>
          </a:p>
          <a:p>
            <a:r>
              <a:t>        "source_rank": 3,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"cicaplast baume b5 la roche posay",</a:t>
            </a:r>
          </a:p>
          <a:p>
            <a:r>
              <a:t>        "value": 150,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"medicube zero pore",</a:t>
            </a:r>
          </a:p>
          <a:p>
            <a:r>
              <a:t>        "value": 80,</a:t>
            </a:r>
          </a:p>
          <a:p>
            <a:r>
              <a:t>        "source_rank": 8,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"Proposta IOMA: collegare « crema » a nutrimento e compattezza, poi misurare l’interesse sui contenuti dedicati.",</a:t>
            </a:r>
          </a:p>
          <a:p>
            <a:r>
              <a:t>    "comparison_start": "2026-09-24",</a:t>
            </a:r>
          </a:p>
          <a:p>
            <a:r>
              <a:t>    "comparison_end": "2026-09-30",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"6a55a3932015c12df6cee03dc89dad6fc8102e47e23e0d4ac701213c2a812390",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"2026-10-08T10:40:28.439828+00:00",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"https://trends.google.com/trends/explore?cat=143&amp;date=2026-10-01+2026-10-07&amp;geo=IT&amp;hl=it",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"IT"</a:t>
            </a:r>
          </a:p>
          <a:p>
            <a:r>
              <a:t>        },</a:t>
            </a:r>
          </a:p>
          <a:p>
            <a:r>
              <a:t>        "time": "2026-10-01 2026-10-07",</a:t>
            </a:r>
          </a:p>
          <a:p>
            <a:r>
              <a:t>        "originalTimeRangeForExploreUrl": "2026-10-01 2026-10-07"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"2026-09-24 2026-09-30"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"it",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"profumo",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"/trends/explore?q=profumo&amp;date=2026-10-01+2026-10-07&amp;geo=IT"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"crema",</a:t>
            </a:r>
          </a:p>
          <a:p>
            <a:r>
              <a:t>                "value": 89,</a:t>
            </a:r>
          </a:p>
          <a:p>
            <a:r>
              <a:t>                "formattedValue": "89",</a:t>
            </a:r>
          </a:p>
          <a:p>
            <a:r>
              <a:t>                "hasData": true,</a:t>
            </a:r>
          </a:p>
          <a:p>
            <a:r>
              <a:t>                "link": "/trends/explore?q=crema&amp;date=2026-10-01+2026-10-07&amp;geo=IT"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"unghie",</a:t>
            </a:r>
          </a:p>
          <a:p>
            <a:r>
              <a:t>                "value": 53,</a:t>
            </a:r>
          </a:p>
          <a:p>
            <a:r>
              <a:t>                "formattedValue": "53",</a:t>
            </a:r>
          </a:p>
          <a:p>
            <a:r>
              <a:t>                "hasData": true,</a:t>
            </a:r>
          </a:p>
          <a:p>
            <a:r>
              <a:t>                "link": "/trends/explore?q=unghie&amp;date=2026-10-01+2026-10-07&amp;geo=IT"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"profumi",</a:t>
            </a:r>
          </a:p>
          <a:p>
            <a:r>
              <a:t>                "value": 34,</a:t>
            </a:r>
          </a:p>
          <a:p>
            <a:r>
              <a:t>                "formattedValue": "34",</a:t>
            </a:r>
          </a:p>
          <a:p>
            <a:r>
              <a:t>                "hasData": true,</a:t>
            </a:r>
          </a:p>
          <a:p>
            <a:r>
              <a:t>                "link": "/trends/explore?q=profumi&amp;date=2026-10-01+2026-10-07&amp;geo=IT"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28,</a:t>
            </a:r>
          </a:p>
          <a:p>
            <a:r>
              <a:t>                "formattedValue": "28",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14,</a:t>
            </a:r>
          </a:p>
          <a:p>
            <a:r>
              <a:t>                "formattedValue": "14",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uomo",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"/trends/explore?q=profumo+uomo&amp;date=2026-10-01+2026-10-07&amp;geo=IT"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donna",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"/trends/explore?q=profumo+donna&amp;date=2026-10-01+2026-10-07&amp;geo=IT"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"braun",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"/trends/explore?q=braun&amp;date=2026-10-01+2026-10-07&amp;geo=IT"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"chanel",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"/trends/explore?q=chanel&amp;date=2026-10-01+2026-10-07&amp;geo=IT"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"gabriele sabatini",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"/trends/explore?q=gabriele+sabatini&amp;date=2026-10-01+2026-10-07&amp;geo=IT"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 roche posay",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"/trends/explore?q=la+roche+posay&amp;date=2026-10-01+2026-10-07&amp;geo=IT"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"bionike",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"/trends/explore?q=bionike&amp;date=2026-10-01+2026-10-07&amp;geo=IT"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"cerave",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"/trends/explore?q=cerave&amp;date=2026-10-01+2026-10-07&amp;geo=IT"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"fragrantica",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"/trends/explore?q=fragrantica&amp;date=2026-10-01+2026-10-07&amp;geo=IT"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"kiko",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"/trends/explore?q=kiko&amp;date=2026-10-01+2026-10-07&amp;geo=IT"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"caudalie",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"/trends/explore?q=caudalie&amp;date=2026-10-01+2026-10-07&amp;geo=IT"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"rhode",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"/trends/explore?q=rhode&amp;date=2026-10-01+2026-10-07&amp;geo=IT"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"meteo",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"/trends/explore?q=meteo&amp;date=2026-10-01+2026-10-07&amp;geo=IT"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"garnier",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"/trends/explore?q=garnier&amp;date=2026-10-01+2026-10-07&amp;geo=IT"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"yodeyma",</a:t>
            </a:r>
          </a:p>
          <a:p>
            <a:r>
              <a:t>                "value": 4,</a:t>
            </a:r>
          </a:p>
          <a:p>
            <a:r>
              <a:t>                "formattedValue": "4",</a:t>
            </a:r>
          </a:p>
          <a:p>
            <a:r>
              <a:t>                "hasData": true,</a:t>
            </a:r>
          </a:p>
          <a:p>
            <a:r>
              <a:t>                "link": "/trends/explore?q=yodeyma&amp;date=2026-10-01+2026-10-07&amp;geo=IT"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"avene",</a:t>
            </a:r>
          </a:p>
          <a:p>
            <a:r>
              <a:t>                "value": 4,</a:t>
            </a:r>
          </a:p>
          <a:p>
            <a:r>
              <a:t>                "formattedValue": "4",</a:t>
            </a:r>
          </a:p>
          <a:p>
            <a:r>
              <a:t>                "hasData": true,</a:t>
            </a:r>
          </a:p>
          <a:p>
            <a:r>
              <a:t>                "link": "/trends/explore?q=avene&amp;date=2026-10-01+2026-10-07&amp;geo=IT"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"gabriele sabatini",</a:t>
            </a:r>
          </a:p>
          <a:p>
            <a:r>
              <a:t>                "value": 63950,</a:t>
            </a:r>
          </a:p>
          <a:p>
            <a:r>
              <a:t>                "formattedValue": "Impennata",</a:t>
            </a:r>
          </a:p>
          <a:p>
            <a:r>
              <a:t>                "link": "/trends/explore?q=gabriele+sabatini&amp;date=2026-10-01+2026-10-07&amp;geo=IT"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"jeremy gilbert",</a:t>
            </a:r>
          </a:p>
          <a:p>
            <a:r>
              <a:t>                "value": 4250,</a:t>
            </a:r>
          </a:p>
          <a:p>
            <a:r>
              <a:t>                "formattedValue": "+4.250%",</a:t>
            </a:r>
          </a:p>
          <a:p>
            <a:r>
              <a:t>                "link": "/trends/explore?q=jeremy+gilbert&amp;date=2026-10-01+2026-10-07&amp;geo=IT"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"nivea labbra",</a:t>
            </a:r>
          </a:p>
          <a:p>
            <a:r>
              <a:t>                "value": 2350,</a:t>
            </a:r>
          </a:p>
          <a:p>
            <a:r>
              <a:t>                "formattedValue": "+2.350%",</a:t>
            </a:r>
          </a:p>
          <a:p>
            <a:r>
              <a:t>                "link": "/trends/explore?q=nivea+labbra&amp;date=2026-10-01+2026-10-07&amp;geo=IT"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"whatsapp web",</a:t>
            </a:r>
          </a:p>
          <a:p>
            <a:r>
              <a:t>                "value": 160,</a:t>
            </a:r>
          </a:p>
          <a:p>
            <a:r>
              <a:t>                "formattedValue": "+160%",</a:t>
            </a:r>
          </a:p>
          <a:p>
            <a:r>
              <a:t>                "link": "/trends/explore?q=whatsapp+web&amp;date=2026-10-01+2026-10-07&amp;geo=IT"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"cicaplast baume b5 la roche posay",</a:t>
            </a:r>
          </a:p>
          <a:p>
            <a:r>
              <a:t>                "value": 150,</a:t>
            </a:r>
          </a:p>
          <a:p>
            <a:r>
              <a:t>                "formattedValue": "+150%",</a:t>
            </a:r>
          </a:p>
          <a:p>
            <a:r>
              <a:t>                "link": "/trends/explore?q=cicaplast+baume+b5+la+roche+posay&amp;date=2026-10-01+2026-10-07&amp;geo=IT"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"hazel eyes",</a:t>
            </a:r>
          </a:p>
          <a:p>
            <a:r>
              <a:t>                "value": 100,</a:t>
            </a:r>
          </a:p>
          <a:p>
            <a:r>
              <a:t>                "formattedValue": "+100%",</a:t>
            </a:r>
          </a:p>
          <a:p>
            <a:r>
              <a:t>                "link": "/trends/explore?q=hazel+eyes&amp;date=2026-10-01+2026-10-07&amp;geo=IT"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 prime",</a:t>
            </a:r>
          </a:p>
          <a:p>
            <a:r>
              <a:t>                "value": 100,</a:t>
            </a:r>
          </a:p>
          <a:p>
            <a:r>
              <a:t>                "formattedValue": "+100%",</a:t>
            </a:r>
          </a:p>
          <a:p>
            <a:r>
              <a:t>                "link": "/trends/explore?q=amazon+prime&amp;date=2026-10-01+2026-10-07&amp;geo=IT"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"medicube zero pore",</a:t>
            </a:r>
          </a:p>
          <a:p>
            <a:r>
              <a:t>                "value": 80,</a:t>
            </a:r>
          </a:p>
          <a:p>
            <a:r>
              <a:t>                "formattedValue": "+80%",</a:t>
            </a:r>
          </a:p>
          <a:p>
            <a:r>
              <a:t>                "link": "/trends/explore?q=medicube+zero+pore&amp;date=2026-10-01+2026-10-07&amp;geo=IT"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"libero mail",</a:t>
            </a:r>
          </a:p>
          <a:p>
            <a:r>
              <a:t>                "value": 70,</a:t>
            </a:r>
          </a:p>
          <a:p>
            <a:r>
              <a:t>                "formattedValue": "+70%",</a:t>
            </a:r>
          </a:p>
          <a:p>
            <a:r>
              <a:t>                "link": "/trends/explore?q=libero+mail&amp;date=2026-10-01+2026-10-07&amp;geo=IT"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"medicube",</a:t>
            </a:r>
          </a:p>
          <a:p>
            <a:r>
              <a:t>                "value": 70,</a:t>
            </a:r>
          </a:p>
          <a:p>
            <a:r>
              <a:t>                "formattedValue": "+70%",</a:t>
            </a:r>
          </a:p>
          <a:p>
            <a:r>
              <a:t>                "link": "/trends/explore?q=medicube&amp;date=2026-10-01+2026-10-07&amp;geo=IT"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"braun luce pulsata",</a:t>
            </a:r>
          </a:p>
          <a:p>
            <a:r>
              <a:t>                "value": 60,</a:t>
            </a:r>
          </a:p>
          <a:p>
            <a:r>
              <a:t>                "formattedValue": "+60%",</a:t>
            </a:r>
          </a:p>
          <a:p>
            <a:r>
              <a:t>                "link": "/trends/explore?q=braun+luce+pulsata&amp;date=2026-10-01+2026-10-07&amp;geo=IT"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"basalioma naso",</a:t>
            </a:r>
          </a:p>
          <a:p>
            <a:r>
              <a:t>                "value": 40,</a:t>
            </a:r>
          </a:p>
          <a:p>
            <a:r>
              <a:t>                "formattedValue": "+40%",</a:t>
            </a:r>
          </a:p>
          <a:p>
            <a:r>
              <a:t>                "link": "/trends/explore?q=basalioma+naso&amp;date=2026-10-01+2026-10-07&amp;geo=IT"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"meteo di domani",</a:t>
            </a:r>
          </a:p>
          <a:p>
            <a:r>
              <a:t>                "value": 40,</a:t>
            </a:r>
          </a:p>
          <a:p>
            <a:r>
              <a:t>                "formattedValue": "+40%",</a:t>
            </a:r>
          </a:p>
          <a:p>
            <a:r>
              <a:t>                "link": "/trends/explore?q=meteo+di+domani&amp;date=2026-10-01+2026-10-07&amp;geo=IT"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"cosrx",</a:t>
            </a:r>
          </a:p>
          <a:p>
            <a:r>
              <a:t>    "title": "COSRX fall skincare promotion",</a:t>
            </a:r>
          </a:p>
          <a:p>
            <a:r>
              <a:t>    "url": "https://www.prnewsthailand.com/prnewswire/en/view/72075",</a:t>
            </a:r>
          </a:p>
          <a:p>
            <a:r>
              <a:t>    "publisher": "COSRX / PR Newswire",</a:t>
            </a:r>
          </a:p>
          <a:p>
            <a:r>
              <a:t>    "published_at": "2026-10-02T00:00:00+00:00",</a:t>
            </a:r>
          </a:p>
          <a:p>
            <a:r>
              <a:t>    "kind": "brand_promotion",</a:t>
            </a:r>
          </a:p>
          <a:p>
            <a:r>
              <a:t>    "brand": "COSRX",</a:t>
            </a:r>
          </a:p>
          <a:p>
            <a:r>
              <a:t>    "event_start": "2026-10-06",</a:t>
            </a:r>
          </a:p>
          <a:p>
            <a:r>
              <a:t>    "event_end": "2026-10-07",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"ceramides",</a:t>
            </a:r>
          </a:p>
          <a:p>
            <a:r>
              <a:t>      "barrier"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"Peptide",</a:t>
            </a:r>
          </a:p>
          <a:p>
            <a:r>
              <a:t>      "Ceramide",</a:t>
            </a:r>
          </a:p>
          <a:p>
            <a:r>
              <a:t>      "October 6"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"COSRX : offre des 6–7 octobre centrée sur peptides et soin de la barrière. Promotion terminée.",</a:t>
            </a:r>
          </a:p>
          <a:p>
            <a:r>
              <a:t>      "it": "COSRX: promozione del 6–7 ottobre su peptidi e cura della barriera. Offerta conclusa."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"COSRX : offre Prime Big Deal Days",</a:t>
            </a:r>
          </a:p>
          <a:p>
            <a:r>
              <a:t>      "it": "COSRX: offerta Prime Big Deal Days"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"byoma",</a:t>
            </a:r>
          </a:p>
          <a:p>
            <a:r>
              <a:t>    "title": "September beauty launches reviewed",</a:t>
            </a:r>
          </a:p>
          <a:p>
            <a:r>
              <a:t>    "url": "https://www.marieclaire.com/beauty/best-new-beauty-products-september-2026/",</a:t>
            </a:r>
          </a:p>
          <a:p>
            <a:r>
              <a:t>    "publisher": "Marie Claire",</a:t>
            </a:r>
          </a:p>
          <a:p>
            <a:r>
              <a:t>    "published_at": "2026-10-02T18:01:50+00:00",</a:t>
            </a:r>
          </a:p>
          <a:p>
            <a:r>
              <a:t>    "kind": "editorial",</a:t>
            </a:r>
          </a:p>
          <a:p>
            <a:r>
              <a:t>    "brand": "BYOMA",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"ceramides"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"Byoma",</a:t>
            </a:r>
          </a:p>
          <a:p>
            <a:r>
              <a:t>      "tri-ceramide"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"BYOMA : peptides + tri-céramides.",</a:t>
            </a:r>
          </a:p>
          <a:p>
            <a:r>
              <a:t>      "it": "BYOMA: peptidi + tri-ceramidi."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"Nouveautés beauté de septembre",</a:t>
            </a:r>
          </a:p>
          <a:p>
            <a:r>
              <a:t>      "it": "Novità beauty di settembre"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Hong Kong campaign",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annoncée active sept.–nov., Reels courts et découverte produit. Article du 24 septembre.",</a:t>
            </a:r>
          </a:p>
          <a:p>
            <a:r>
              <a:t>      "it": "CeraVe, Hong Kong: campagna annunciata attiva sett.–nov., Reel brevi e scoperta prodotto.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rnewsthailand.com/prnewswire/en/view/72075" TargetMode="External"/><Relationship Id="rId4" Type="http://schemas.openxmlformats.org/officeDocument/2006/relationships/hyperlink" Target="https://www.marieclaire.com/beauty/best-new-beauty-products-september-2026/" TargetMode="External"/><Relationship Id="rId5" Type="http://schemas.openxmlformats.org/officeDocument/2006/relationships/hyperlink" Target="https://www.marketing-interactive.com/cerave-hk-ditches-the-hard-sell-to-win-over-genz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sublime-revitalisante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01+2026-10-07&amp;geo=IT&amp;hl=it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ieclaire.com/beauty/best-new-beauty-products-september-2026/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www.prnewsthailand.com/prnewswire/en/view/72075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settimana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Segnali editoriali, attivi e campagne osservate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INGREDIENTI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PUBBLICITÀ &amp; PROMOZIONI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Barriera &amp; compattezza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Rendere comprensibile la formula: barriera cutanea e compattezza, con due attivi leggibili.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3502152" cy="5029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BYOMA: peptidi + tri-ceramidi.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Ceramidi + Peptide RIGIN™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Due famiglie presenti nella formula IOMA e citate nelle fonti recenti. Selezione editoriale, non una classifica per concentrazione.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COSRX: promozione del 6–7 ottobre su peptidi e cura della barriera. Offerta conclusa.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Kong: campagna annunciata attiva sett.–nov., Reel brevi e scoperta prodotto. Articolo del 24 settembre.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Osservazione internazionale; erogazione paid e budget non verificati.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COSRX / PR Newswire · 02/10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Marie Claire · 02/10</a:t>
            </a:r>
          </a:p>
        </p:txBody>
      </p:sp>
      <p:sp>
        <p:nvSpPr>
          <p:cNvPr id="26" name="TextBox 25">
            <a:hlinkClick r:id="rId5"/>
          </p:cNvPr>
          <p:cNvSpPr txBox="1"/>
          <p:nvPr/>
        </p:nvSpPr>
        <p:spPr>
          <a:xfrm>
            <a:off x="8101583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[3]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Sublime Revitalisante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Dai trend ai contenuti social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IL PRODOTTO E IL COLLEGAMENTO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Sublime unisce nutrimento e compattezza. Ceramidi: barriera cutanea. Peptide RIGIN™: compattezza. Questa lettura della formula collega il prodotto agli attivi citati questa settimana.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Ipotesi di pubblico: persone che cercano nutrimento, comfort e compattezza.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ATTIVAZIONE DA TESTARE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Feed: due attivi, due richiami visivi. Story: domanda « Barriera o compattezza? ». Reel da testare: 6–10 s, texture poi formula. Banner: scoperta del trattamento.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Testare « barriera » contro « compattezza » con pubblico e budget uguali. Confrontare clic e visite alla scheda prodotto.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Formula e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07.10.2026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 ricerche beauty su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Italia · Cura di viso e corpo · Ricerca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QUERY PRINCIPALI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IN CRESCITA · SELEZIONE BEAUTY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profumo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89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unghie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profumi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sephora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nivea labbra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+2350 %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cicaplast baume b5 la roche posay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+150 %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medicube zero pore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+80 %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relativo, non volume. Crescita rispetto al 24.09.2026–30.09.2026.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Proposta IOMA: collegare « crema » a nutrimento e compattezza, poi misurare l’interesse sui contenuti dedicati.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apri i dati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Selezione pertinente; ordine Google conservato. Metodo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Articoli e fonti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Apri le pubblicazioni citate nel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Marie Claire  ·  02.10.2026  ·  ARTICOLO EDITORIALE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Novità beauty di settembre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Leggi l’articolo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STAMPA MARKETING · CAMPAGNA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Kong: la campagna «anti-pubblicità»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Leggi l’articolo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90872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COSRX / PR Newswire  ·  02.10.2026  ·  COMUNICATO DEL MARCHIO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01768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COSRX: offerta Prime Big Deal Days</a:t>
            </a:r>
          </a:p>
        </p:txBody>
      </p:sp>
      <p:sp>
        <p:nvSpPr>
          <p:cNvPr id="20" name="TextBox 19">
            <a:hlinkClick r:id="rId5"/>
          </p:cNvPr>
          <p:cNvSpPr txBox="1"/>
          <p:nvPr/>
        </p:nvSpPr>
        <p:spPr>
          <a:xfrm>
            <a:off x="9326880" y="5047488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5"/>
              </a:rPr>
              <a:t>Leggi il comunicato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418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Data di pubblicazione indicata; periodo delle campagne precisato a pagina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IT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