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"reviewed_at": "2026-10-09T08:43:19.459670+00:00",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"id": "cosrx",</a:t>
            </a:r>
          </a:p>
          <a:p>
            <a:r>
              <a:t>      "title": "COSRX Sets the Fall Skincare Agenda for Amazon Prime Big Deal Days",</a:t>
            </a:r>
          </a:p>
          <a:p>
            <a:r>
              <a:t>      "url": "https://en.prnasia.com/releases/global/cosrx-sets-the-fall-skincare-agenda-for-amazon-prime-big-deal-days-550478.shtml",</a:t>
            </a:r>
          </a:p>
          <a:p>
            <a:r>
              <a:t>      "publisher": "COSRX / PR Newswire",</a:t>
            </a:r>
          </a:p>
          <a:p>
            <a:r>
              <a:t>      "published_at": "2026-10-02T14:00:00+00:00",</a:t>
            </a:r>
          </a:p>
          <a:p>
            <a:r>
              <a:t>      "kind": "brand_promotion",</a:t>
            </a:r>
          </a:p>
          <a:p>
            <a:r>
              <a:t>      "brand": "COSRX",</a:t>
            </a:r>
          </a:p>
          <a:p>
            <a:r>
              <a:t>      "event_start": "2026-10-06",</a:t>
            </a:r>
          </a:p>
          <a:p>
            <a:r>
              <a:t>      "event_end": "2026-10-07",</a:t>
            </a:r>
          </a:p>
          <a:p>
            <a:r>
              <a:t>      "topics": [</a:t>
            </a:r>
          </a:p>
          <a:p>
            <a:r>
              <a:t>        "peptides",</a:t>
            </a:r>
          </a:p>
          <a:p>
            <a:r>
              <a:t>        "ceramides",</a:t>
            </a:r>
          </a:p>
          <a:p>
            <a:r>
              <a:t>        "barrier"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"Peptide",</a:t>
            </a:r>
          </a:p>
          <a:p>
            <a:r>
              <a:t>        "Ceramide",</a:t>
            </a:r>
          </a:p>
          <a:p>
            <a:r>
              <a:t>        "October 6"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"COSRX : offre des 6–7 octobre centrée sur peptides et soin de la barrière. Promotion terminée.",</a:t>
            </a:r>
          </a:p>
          <a:p>
            <a:r>
              <a:t>        "it": "COSRX: promozione del 6–7 ottobre su peptidi e cura della barriera. Offerta conclusa."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"COSRX : offre Prime Big Deal Days",</a:t>
            </a:r>
          </a:p>
          <a:p>
            <a:r>
              <a:t>        "it": "COSRX: offerta Prime Big Deal Days"</a:t>
            </a:r>
          </a:p>
          <a:p>
            <a:r>
              <a:t>      },</a:t>
            </a:r>
          </a:p>
          <a:p>
            <a:r>
              <a:t>      "review_note": "Primary release reread; JSON-LD timestamp is October 2 at 22:00 +08:00, confirmed as 10:00 ET by PR Newswire. October 6–7 promotion has ended. Ingredient families support editorial selection, not a RIGIN-specific trend.",</a:t>
            </a:r>
          </a:p>
          <a:p>
            <a:r>
              <a:t>      "reviewed_at": "2026-10-09T08:43:19.459670+00:00",</a:t>
            </a:r>
          </a:p>
          <a:p>
            <a:r>
              <a:t>      "in_week": true,</a:t>
            </a:r>
          </a:p>
          <a:p>
            <a:r>
              <a:t>      "checked_at": "2026-10-09T08:44:22.768219+00:00",</a:t>
            </a:r>
          </a:p>
          <a:p>
            <a:r>
              <a:t>      "content_sha256": "860a945a6f657255731ede137003d2a5911549131d39f066c858b3228f02f3ca"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"byoma",</a:t>
            </a:r>
          </a:p>
          <a:p>
            <a:r>
              <a:t>      "title": "September beauty launches reviewed",</a:t>
            </a:r>
          </a:p>
          <a:p>
            <a:r>
              <a:t>      "url": "https://www.marieclaire.com/beauty/best-new-beauty-products-september-2026/",</a:t>
            </a:r>
          </a:p>
          <a:p>
            <a:r>
              <a:t>      "publisher": "Marie Claire",</a:t>
            </a:r>
          </a:p>
          <a:p>
            <a:r>
              <a:t>      "published_at": "2026-10-02T18:01:50+00:00",</a:t>
            </a:r>
          </a:p>
          <a:p>
            <a:r>
              <a:t>      "kind": "editorial",</a:t>
            </a:r>
          </a:p>
          <a:p>
            <a:r>
              <a:t>      "brand": "BYOMA",</a:t>
            </a:r>
          </a:p>
          <a:p>
            <a:r>
              <a:t>      "topics": [</a:t>
            </a:r>
          </a:p>
          <a:p>
            <a:r>
              <a:t>        "peptides",</a:t>
            </a:r>
          </a:p>
          <a:p>
            <a:r>
              <a:t>        "ceramides"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"Byoma",</a:t>
            </a:r>
          </a:p>
          <a:p>
            <a:r>
              <a:t>        "tri-ceramide"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"BYOMA : peptides + tri-céramides.",</a:t>
            </a:r>
          </a:p>
          <a:p>
            <a:r>
              <a:t>        "it": "BYOMA: peptidi + tri-ceramidi."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"Nouveautés beauté de septembre",</a:t>
            </a:r>
          </a:p>
          <a:p>
            <a:r>
              <a:t>        "it": "Novità beauty di settembre"</a:t>
            </a:r>
          </a:p>
          <a:p>
            <a:r>
              <a:t>      },</a:t>
            </a:r>
          </a:p>
          <a:p>
            <a:r>
              <a:t>      "review_note": "Ingredient section reread; brief topical summary retained.",</a:t>
            </a:r>
          </a:p>
          <a:p>
            <a:r>
              <a:t>      "reviewed_at": "2026-10-09T08:43:19.459670+00:00",</a:t>
            </a:r>
          </a:p>
          <a:p>
            <a:r>
              <a:t>      "in_week": true,</a:t>
            </a:r>
          </a:p>
          <a:p>
            <a:r>
              <a:t>      "checked_at": "2026-10-09T08:44:22.768219+00:00",</a:t>
            </a:r>
          </a:p>
          <a:p>
            <a:r>
              <a:t>      "content_sha256": "4a2ad3ddc42832fa3640d97ba0a52c797d99523b8309076ccbccb08c03ed7583"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"cerave",</a:t>
            </a:r>
          </a:p>
          <a:p>
            <a:r>
              <a:t>      "title": "CeraVe HK ditches the hard sell to win over Gen Z",</a:t>
            </a:r>
          </a:p>
          <a:p>
            <a:r>
              <a:t>      "url": "https://www.marketing-interactive.com/cerave-hk-ditches-the-hard-sell-to-win-over-genz",</a:t>
            </a:r>
          </a:p>
          <a:p>
            <a:r>
              <a:t>      "publisher": "Marketing-Interactive",</a:t>
            </a:r>
          </a:p>
          <a:p>
            <a:r>
              <a:t>      "published_at": "2026-09-24T00:00:00+00:00",</a:t>
            </a:r>
          </a:p>
          <a:p>
            <a:r>
              <a:t>      "kind": "advertising_campaign",</a:t>
            </a:r>
          </a:p>
          <a:p>
            <a:r>
              <a:t>      "brand": "CeraVe",</a:t>
            </a:r>
          </a:p>
          <a:p>
            <a:r>
              <a:t>      "event_start": "2026-09-01",</a:t>
            </a:r>
          </a:p>
          <a:p>
            <a:r>
              <a:t>      "event_end": "2026-11-30",</a:t>
            </a:r>
          </a:p>
          <a:p>
            <a:r>
              <a:t>      "topics": [</a:t>
            </a:r>
          </a:p>
          <a:p>
            <a:r>
              <a:t>        "social_creative"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"September to November 2026",</a:t>
            </a:r>
          </a:p>
          <a:p>
            <a:r>
              <a:t>        "six-second Reels"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"CeraVe, Hong Kong : campagne annoncée active sept.–nov., Reels courts et découverte produit. Article du 24 septembre.",</a:t>
            </a:r>
          </a:p>
          <a:p>
            <a:r>
              <a:t>        "it": "CeraVe, Hong Kong: campagna annunciata attiva sett.–nov., Reel brevi e scoperta prodotto. Articolo del 24 settembre."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"CeraVe Hong Kong : la campagne « anti-publicité »",</a:t>
            </a:r>
          </a:p>
          <a:p>
            <a:r>
              <a:t>        "it": "CeraVe Hong Kong: la campagna «anti-pubblicità»"</a:t>
            </a:r>
          </a:p>
          <a:p>
            <a:r>
              <a:t>      },</a:t>
            </a:r>
          </a:p>
          <a:p>
            <a:r>
              <a:t>      "review_note": "Trade article reread. Original September 24 date retained; announced September–November 2026 activity and six-second Reels confirmed. Paid delivery and spend are not verified.",</a:t>
            </a:r>
          </a:p>
          <a:p>
            <a:r>
              <a:t>      "reviewed_at": "2026-10-09T08:43:19.459670+00:00",</a:t>
            </a:r>
          </a:p>
          <a:p>
            <a:r>
              <a:t>      "in_week": false,</a:t>
            </a:r>
          </a:p>
          <a:p>
            <a:r>
              <a:t>      "checked_at": "2026-10-09T08:44:22.768219+00:00",</a:t>
            </a:r>
          </a:p>
          <a:p>
            <a:r>
              <a:t>      "content_sha256": "2d71a384a3a78314c9744ccb8d1f80146366c71af7fb37c07bb64e5e398c0e02"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"product_key": "creme-sublime-revitalisante",</a:t>
            </a:r>
          </a:p>
          <a:p>
            <a:r>
              <a:t>  "insight": {</a:t>
            </a:r>
          </a:p>
          <a:p>
            <a:r>
              <a:t>    "fr": "À l’automne, relier confort et fermeté à deux repères de formule : céramides et peptide.",</a:t>
            </a:r>
          </a:p>
          <a:p>
            <a:r>
              <a:t>    "it": "In autunno, legare comfort e compattezza a due riferimenti della formula: ceramidi e peptide."</a:t>
            </a:r>
          </a:p>
          <a:p>
            <a:r>
              <a:t>  },</a:t>
            </a:r>
          </a:p>
          <a:p>
            <a:r>
              <a:t>  "strategy": {</a:t>
            </a:r>
          </a:p>
          <a:p>
            <a:r>
              <a:t>    "fr": {</a:t>
            </a:r>
          </a:p>
          <a:p>
            <a:r>
              <a:t>      "positioning": "Crème Sublime associe nutrition et fermeté. Ses céramides et son peptide RIGIN™ permettent une lecture de la formule en lien avec les familles citées cette semaine.",</a:t>
            </a:r>
          </a:p>
          <a:p>
            <a:r>
              <a:t>      "audience": "Hypothèse de cible : personnes recherchant nutrition, confort et fermeté.",</a:t>
            </a:r>
          </a:p>
          <a:p>
            <a:r>
              <a:t>      "activation": "Feed : nutrition, fermeté et deux actifs. Story : découvrir la formule. Reel à tester : 6–10 s, texture puis application. Bannière : découvrir le soin.",</a:t>
            </a:r>
          </a:p>
          <a:p>
            <a:r>
              <a:t>      "measurement": "Tester le message « barrière » face à « fermeté » avec la même audience et le même budget. Comparer clics et visites de la fiche produit."</a:t>
            </a:r>
          </a:p>
          <a:p>
            <a:r>
              <a:t>    },</a:t>
            </a:r>
          </a:p>
          <a:p>
            <a:r>
              <a:t>    "it": {</a:t>
            </a:r>
          </a:p>
          <a:p>
            <a:r>
              <a:t>      "positioning": "Crème Sublime unisce nutrimento e compattezza. Ceramidi e peptide RIGIN™ collegano la lettura della sua formula alle famiglie citate questa settimana.",</a:t>
            </a:r>
          </a:p>
          <a:p>
            <a:r>
              <a:t>      "audience": "Ipotesi di pubblico: persone che cercano nutrimento, comfort e compattezza.",</a:t>
            </a:r>
          </a:p>
          <a:p>
            <a:r>
              <a:t>      "activation": "Feed: nutrimento, compattezza e due attivi. Story: scoperta della formula. Reel da testare: 6–10 s, texture e applicazione. Banner: scoperta del trattamento.",</a:t>
            </a:r>
          </a:p>
          <a:p>
            <a:r>
              <a:t>      "measurement": "Testare « barriera » contro « compattezza » con pubblico e budget uguali. Confrontare clic e visite alla scheda prodotto."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"google_trends": {</a:t>
            </a:r>
          </a:p>
          <a:p>
            <a:r>
              <a:t>    "category_id": 143,</a:t>
            </a:r>
          </a:p>
          <a:p>
            <a:r>
              <a:t>    "markets": {</a:t>
            </a:r>
          </a:p>
          <a:p>
            <a:r>
              <a:t>      "fr": {</a:t>
            </a:r>
          </a:p>
          <a:p>
            <a:r>
              <a:t>        "geo": "FR",</a:t>
            </a:r>
          </a:p>
          <a:p>
            <a:r>
              <a:t>        "top": [</a:t>
            </a:r>
          </a:p>
          <a:p>
            <a:r>
              <a:t>          "parfum",</a:t>
            </a:r>
          </a:p>
          <a:p>
            <a:r>
              <a:t>          "sephora",</a:t>
            </a:r>
          </a:p>
          <a:p>
            <a:r>
              <a:t>          "ongle",</a:t>
            </a:r>
          </a:p>
          <a:p>
            <a:r>
              <a:t>          "nocibe",</a:t>
            </a:r>
          </a:p>
          <a:p>
            <a:r>
              <a:t>          "ongles",</a:t>
            </a:r>
          </a:p>
          <a:p>
            <a:r>
              <a:t>          "yves rocher",</a:t>
            </a:r>
          </a:p>
          <a:p>
            <a:r>
              <a:t>          "maquillage",</a:t>
            </a:r>
          </a:p>
          <a:p>
            <a:r>
              <a:t>          "dior",</a:t>
            </a:r>
          </a:p>
          <a:p>
            <a:r>
              <a:t>          "parfum homme",</a:t>
            </a:r>
          </a:p>
          <a:p>
            <a:r>
              <a:t>          "parfum femme",</a:t>
            </a:r>
          </a:p>
          <a:p>
            <a:r>
              <a:t>          "vichy",</a:t>
            </a:r>
          </a:p>
          <a:p>
            <a:r>
              <a:t>          "guerlain",</a:t>
            </a:r>
          </a:p>
          <a:p>
            <a:r>
              <a:t>          "mascara",</a:t>
            </a:r>
          </a:p>
          <a:p>
            <a:r>
              <a:t>          "chanel",</a:t>
            </a:r>
          </a:p>
          <a:p>
            <a:r>
              <a:t>          "caudalie",</a:t>
            </a:r>
          </a:p>
          <a:p>
            <a:r>
              <a:t>          "nyx",</a:t>
            </a:r>
          </a:p>
          <a:p>
            <a:r>
              <a:t>          "nocibé",</a:t>
            </a:r>
          </a:p>
          <a:p>
            <a:r>
              <a:t>          "avene",</a:t>
            </a:r>
          </a:p>
          <a:p>
            <a:r>
              <a:t>          "garnier",</a:t>
            </a:r>
          </a:p>
          <a:p>
            <a:r>
              <a:t>          "loreal",</a:t>
            </a:r>
          </a:p>
          <a:p>
            <a:r>
              <a:t>          "marionnaud"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"mugler",</a:t>
            </a:r>
          </a:p>
          <a:p>
            <a:r>
              <a:t>          "juliette has a gun",</a:t>
            </a:r>
          </a:p>
          <a:p>
            <a:r>
              <a:t>          "divain parfum",</a:t>
            </a:r>
          </a:p>
          <a:p>
            <a:r>
              <a:t>          "loreal friends and family",</a:t>
            </a:r>
          </a:p>
          <a:p>
            <a:r>
              <a:t>          "stick teint lancome",</a:t>
            </a:r>
          </a:p>
          <a:p>
            <a:r>
              <a:t>          "thierry mugler",</a:t>
            </a:r>
          </a:p>
          <a:p>
            <a:r>
              <a:t>          "parfum azzaro homme",</a:t>
            </a:r>
          </a:p>
          <a:p>
            <a:r>
              <a:t>          "azzaro",</a:t>
            </a:r>
          </a:p>
          <a:p>
            <a:r>
              <a:t>          "essence maquillage"</a:t>
            </a:r>
          </a:p>
          <a:p>
            <a:r>
              <a:t>        ],</a:t>
            </a:r>
          </a:p>
          <a:p>
            <a:r>
              <a:t>        "interpretation": "Contexte beauté général ; ces recherches ne mesurent pas la demande propre à Crème Sublime."</a:t>
            </a:r>
          </a:p>
          <a:p>
            <a:r>
              <a:t>      },</a:t>
            </a:r>
          </a:p>
          <a:p>
            <a:r>
              <a:t>      "it": {</a:t>
            </a:r>
          </a:p>
          <a:p>
            <a:r>
              <a:t>        "geo": "IT",</a:t>
            </a:r>
          </a:p>
          <a:p>
            <a:r>
              <a:t>        "top": [</a:t>
            </a:r>
          </a:p>
          <a:p>
            <a:r>
              <a:t>          "profumo",</a:t>
            </a:r>
          </a:p>
          <a:p>
            <a:r>
              <a:t>          "crema",</a:t>
            </a:r>
          </a:p>
          <a:p>
            <a:r>
              <a:t>          "unghie",</a:t>
            </a:r>
          </a:p>
          <a:p>
            <a:r>
              <a:t>          "profumi",</a:t>
            </a:r>
          </a:p>
          <a:p>
            <a:r>
              <a:t>          "sephora",</a:t>
            </a:r>
          </a:p>
          <a:p>
            <a:r>
              <a:t>          "fondotinta",</a:t>
            </a:r>
          </a:p>
          <a:p>
            <a:r>
              <a:t>          "profumo uomo",</a:t>
            </a:r>
          </a:p>
          <a:p>
            <a:r>
              <a:t>          "profumo donna",</a:t>
            </a:r>
          </a:p>
          <a:p>
            <a:r>
              <a:t>          "mascara",</a:t>
            </a:r>
          </a:p>
          <a:p>
            <a:r>
              <a:t>          "chanel",</a:t>
            </a:r>
          </a:p>
          <a:p>
            <a:r>
              <a:t>          "la roche posay",</a:t>
            </a:r>
          </a:p>
          <a:p>
            <a:r>
              <a:t>          "bionike",</a:t>
            </a:r>
          </a:p>
          <a:p>
            <a:r>
              <a:t>          "cerave",</a:t>
            </a:r>
          </a:p>
          <a:p>
            <a:r>
              <a:t>          "blush",</a:t>
            </a:r>
          </a:p>
          <a:p>
            <a:r>
              <a:t>          "fragrantica",</a:t>
            </a:r>
          </a:p>
          <a:p>
            <a:r>
              <a:t>          "guerlain",</a:t>
            </a:r>
          </a:p>
          <a:p>
            <a:r>
              <a:t>          "kiko",</a:t>
            </a:r>
          </a:p>
          <a:p>
            <a:r>
              <a:t>          "caudalie",</a:t>
            </a:r>
          </a:p>
          <a:p>
            <a:r>
              <a:t>          "rhode",</a:t>
            </a:r>
          </a:p>
          <a:p>
            <a:r>
              <a:t>          "skincare",</a:t>
            </a:r>
          </a:p>
          <a:p>
            <a:r>
              <a:t>          "garnier",</a:t>
            </a:r>
          </a:p>
          <a:p>
            <a:r>
              <a:t>          "yodeyma",</a:t>
            </a:r>
          </a:p>
          <a:p>
            <a:r>
              <a:t>          "avene"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"zara saffron &amp; orange flowers edp 100ml",</a:t>
            </a:r>
          </a:p>
          <a:p>
            <a:r>
              <a:t>          "nivea labbra",</a:t>
            </a:r>
          </a:p>
          <a:p>
            <a:r>
              <a:t>          "cosmesi decorativa",</a:t>
            </a:r>
          </a:p>
          <a:p>
            <a:r>
              <a:t>          "cicaplast baume b5 la roche posay",</a:t>
            </a:r>
          </a:p>
          <a:p>
            <a:r>
              <a:t>          "medicube zero pore",</a:t>
            </a:r>
          </a:p>
          <a:p>
            <a:r>
              <a:t>          "medicube",</a:t>
            </a:r>
          </a:p>
          <a:p>
            <a:r>
              <a:t>          "smalto per unghie",</a:t>
            </a:r>
          </a:p>
          <a:p>
            <a:r>
              <a:t>          "braun luce pulsata",</a:t>
            </a:r>
          </a:p>
          <a:p>
            <a:r>
              <a:t>          "thierry mugler"</a:t>
            </a:r>
          </a:p>
          <a:p>
            <a:r>
              <a:t>        ],</a:t>
            </a:r>
          </a:p>
          <a:p>
            <a:r>
              <a:t>        "interpretation": "Contesto beauty generale: queste ricerche non misurano la domanda specifica per Crème Sublime."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"review_note": "Reviewed freshly retrieved 2–8 October category results. Retained cosmetics, perfume and retailer terms; excluded people, weather, space-week, unrelated and clinical-disease queries. Source order and scores preserved; broad beauty context is explicitly distinguished from product demand."</a:t>
            </a:r>
          </a:p>
          <a:p>
            <a:r>
              <a:t>  },</a:t>
            </a:r>
          </a:p>
          <a:p>
            <a:r>
              <a:t>  "ingredient_rationale": {</a:t>
            </a:r>
          </a:p>
          <a:p>
            <a:r>
              <a:t>    "fr": "Céramides et peptide RIGIN™ vérifiés dans la formule IOMA. Les sources parlent de ces familles, sans établir la popularité de RIGIN™.",</a:t>
            </a:r>
          </a:p>
          <a:p>
            <a:r>
              <a:t>    "it": "Ceramidi e peptide RIGIN™ verificati nella formula IOMA. Le fonti citano queste famiglie, senza dimostrare la popolarità di RIGIN™."</a:t>
            </a:r>
          </a:p>
          <a:p>
            <a:r>
              <a:t>  },</a:t>
            </a:r>
          </a:p>
          <a:p>
            <a:r>
              <a:t>  "product_review": {</a:t>
            </a:r>
          </a:p>
          <a:p>
            <a:r>
              <a:t>    "source": "https://ioma-paris.com/products/creme-sublime-revitalisante",</a:t>
            </a:r>
          </a:p>
          <a:p>
            <a:r>
              <a:t>    "reviewed_at": "2026-10-09T08:43:19.459670+00:00",</a:t>
            </a:r>
          </a:p>
          <a:p>
            <a:r>
              <a:t>    "verified_inci": [</a:t>
            </a:r>
          </a:p>
          <a:p>
            <a:r>
              <a:t>      "CERAMIDE NP",</a:t>
            </a:r>
          </a:p>
          <a:p>
            <a:r>
              <a:t>      "CERAMIDE AP",</a:t>
            </a:r>
          </a:p>
          <a:p>
            <a:r>
              <a:t>      "PALMITOYL TETRAPEPTIDE-7"</a:t>
            </a:r>
          </a:p>
          <a:p>
            <a:r>
              <a:t>    ],</a:t>
            </a:r>
          </a:p>
          <a:p>
            <a:r>
              <a:t>    "basis": "Official benefit, active ingredient and full INCI sections reread. Nutrition and firmness claims retained, with no numerical efficacy, hormonal, SPF or price claim. Original 2000px packshot retained.",</a:t>
            </a:r>
          </a:p>
          <a:p>
            <a:r>
              <a:t>    "availability_observed": "add_to_cart_enabled"</a:t>
            </a:r>
          </a:p>
          <a:p>
            <a:r>
              <a:t>  },</a:t>
            </a:r>
          </a:p>
          <a:p>
            <a:r>
              <a:t>  "creative_direction": {</a:t>
            </a:r>
          </a:p>
          <a:p>
            <a:r>
              <a:t>    "fr": "Nutrition et fermeté ; soie ivoire et lumière douce autour du pot officiel.",</a:t>
            </a:r>
          </a:p>
          <a:p>
            <a:r>
              <a:t>    "it": "Nutrimento e compattezza; seta avorio e luce morbida intorno al vaso ufficiale."</a:t>
            </a:r>
          </a:p>
          <a:p>
            <a:r>
              <a:t>  },</a:t>
            </a:r>
          </a:p>
          <a:p>
            <a:r>
              <a:t>  "google_trends_results": {</a:t>
            </a:r>
          </a:p>
          <a:p>
            <a:r>
              <a:t>    "fr": {</a:t>
            </a:r>
          </a:p>
          <a:p>
            <a:r>
              <a:t>      "data": {</a:t>
            </a:r>
          </a:p>
          <a:p>
            <a:r>
              <a:t>        "retrieved_at": "2026-10-09T08:43:25.220615+00:00",</a:t>
            </a:r>
          </a:p>
          <a:p>
            <a:r>
              <a:t>        "geo": "FR",</a:t>
            </a:r>
          </a:p>
          <a:p>
            <a:r>
              <a:t>        "language": "fr",</a:t>
            </a:r>
          </a:p>
          <a:p>
            <a:r>
              <a:t>        "period_start": "2026-10-02",</a:t>
            </a:r>
          </a:p>
          <a:p>
            <a:r>
              <a:t>        "period_end": "2026-10-08",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"source_url": "https://trends.google.com/trends/explore?cat=143&amp;date=2026-10-02+2026-10-08&amp;geo=FR&amp;hl=fr",</a:t>
            </a:r>
          </a:p>
          <a:p>
            <a:r>
              <a:t>        "top": [</a:t>
            </a:r>
          </a:p>
          <a:p>
            <a:r>
              <a:t>          {</a:t>
            </a:r>
          </a:p>
          <a:p>
            <a:r>
              <a:t>            "query": "parfum",</a:t>
            </a:r>
          </a:p>
          <a:p>
            <a:r>
              <a:t>            "value": 100,</a:t>
            </a:r>
          </a:p>
          <a:p>
            <a:r>
              <a:t>            "source_rank": 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"sephora",</a:t>
            </a:r>
          </a:p>
          <a:p>
            <a:r>
              <a:t>            "value": 41,</a:t>
            </a:r>
          </a:p>
          <a:p>
            <a:r>
              <a:t>            "source_rank": 2,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"ongle",</a:t>
            </a:r>
          </a:p>
          <a:p>
            <a:r>
              <a:t>            "value": 23,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"nocibe",</a:t>
            </a:r>
          </a:p>
          <a:p>
            <a:r>
              <a:t>            "value": 22,</a:t>
            </a:r>
          </a:p>
          <a:p>
            <a:r>
              <a:t>            "source_rank": 5,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"ongles",</a:t>
            </a:r>
          </a:p>
          <a:p>
            <a:r>
              <a:t>            "value": 17,</a:t>
            </a:r>
          </a:p>
          <a:p>
            <a:r>
              <a:t>            "source_rank": 7,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{</a:t>
            </a:r>
          </a:p>
          <a:p>
            <a:r>
              <a:t>            "query": "thierry mugler",</a:t>
            </a:r>
          </a:p>
          <a:p>
            <a:r>
              <a:t>            "value": 800,</a:t>
            </a:r>
          </a:p>
          <a:p>
            <a:r>
              <a:t>            "source_rank": 7,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"mugler",</a:t>
            </a:r>
          </a:p>
          <a:p>
            <a:r>
              <a:t>            "value": 250,</a:t>
            </a:r>
          </a:p>
          <a:p>
            <a:r>
              <a:t>            "source_rank": 10,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"parfum azzaro homme",</a:t>
            </a:r>
          </a:p>
          <a:p>
            <a:r>
              <a:t>            "value": 100,</a:t>
            </a:r>
          </a:p>
          <a:p>
            <a:r>
              <a:t>            "source_rank": 11,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"interpretation": "Contexte beauté général ; ces recherches ne mesurent pas la demande propre à Crème Sublime.",</a:t>
            </a:r>
          </a:p>
          <a:p>
            <a:r>
              <a:t>        "comparison_start": "2026-09-25",</a:t>
            </a:r>
          </a:p>
          <a:p>
            <a:r>
              <a:t>        "comparison_end": "2026-10-01",</a:t>
            </a:r>
          </a:p>
          <a:p>
            <a:r>
              <a:t>        "method_url": "https://support.google.com/trends/answer/4355000",</a:t>
            </a:r>
          </a:p>
          <a:p>
            <a:r>
              <a:t>        "response_sha256": "4f406dcba41c12d9a6ce2b19ce11b674362af6a7638625bca348a643e7f22b0d",</a:t>
            </a:r>
          </a:p>
          <a:p>
            <a:r>
              <a:t>        "selection_note": "Editorial relevance filter; original order, spelling and scores retained. Not exhaustive beauty search volumes."</a:t>
            </a:r>
          </a:p>
          <a:p>
            <a:r>
              <a:t>      },</a:t>
            </a:r>
          </a:p>
          <a:p>
            <a:r>
              <a:t>      "evidence": {</a:t>
            </a:r>
          </a:p>
          <a:p>
            <a:r>
              <a:t>        "retrieved_at": "2026-10-09T08:43:25.220615+00:00",</a:t>
            </a:r>
          </a:p>
          <a:p>
            <a:r>
              <a:t>        "geo": "FR",</a:t>
            </a:r>
          </a:p>
          <a:p>
            <a:r>
              <a:t>        "language": "fr",</a:t>
            </a:r>
          </a:p>
          <a:p>
            <a:r>
              <a:t>        "period_start": "2026-10-02",</a:t>
            </a:r>
          </a:p>
          <a:p>
            <a:r>
              <a:t>        "period_end": "2026-10-08",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"seed_keyword": "",</a:t>
            </a:r>
          </a:p>
          <a:p>
            <a:r>
              <a:t>        "source_url": "https://trends.google.com/trends/explore?cat=143&amp;date=2026-10-02+2026-10-08&amp;geo=FR&amp;hl=fr",</a:t>
            </a:r>
          </a:p>
          <a:p>
            <a:r>
              <a:t>        "widget_request": {</a:t>
            </a:r>
          </a:p>
          <a:p>
            <a:r>
              <a:t>          "restriction": {</a:t>
            </a:r>
          </a:p>
          <a:p>
            <a:r>
              <a:t>            "geo": {</a:t>
            </a:r>
          </a:p>
          <a:p>
            <a:r>
              <a:t>              "country": "FR"</a:t>
            </a:r>
          </a:p>
          <a:p>
            <a:r>
              <a:t>            },</a:t>
            </a:r>
          </a:p>
          <a:p>
            <a:r>
              <a:t>            "time": "2026-10-02 2026-10-08",</a:t>
            </a:r>
          </a:p>
          <a:p>
            <a:r>
              <a:t>            "originalTimeRangeForExploreUrl": "2026-10-02 2026-10-08"</a:t>
            </a:r>
          </a:p>
          <a:p>
            <a:r>
              <a:t>          },</a:t>
            </a:r>
          </a:p>
          <a:p>
            <a:r>
              <a:t>          "keywordType": "QUERY",</a:t>
            </a:r>
          </a:p>
          <a:p>
            <a:r>
              <a:t>          "metric": [</a:t>
            </a:r>
          </a:p>
          <a:p>
            <a:r>
              <a:t>            "TOP",</a:t>
            </a:r>
          </a:p>
          <a:p>
            <a:r>
              <a:t>            "RISING"</a:t>
            </a:r>
          </a:p>
          <a:p>
            <a:r>
              <a:t>          ],</a:t>
            </a:r>
          </a:p>
          <a:p>
            <a:r>
              <a:t>          "trendinessSettings": {</a:t>
            </a:r>
          </a:p>
          <a:p>
            <a:r>
              <a:t>            "compareTime": "2026-09-25 2026-10-01"</a:t>
            </a:r>
          </a:p>
          <a:p>
            <a:r>
              <a:t>          },</a:t>
            </a:r>
          </a:p>
          <a:p>
            <a:r>
              <a:t>          "requestOptions": {</a:t>
            </a:r>
          </a:p>
          <a:p>
            <a:r>
              <a:t>            "property": "",</a:t>
            </a:r>
          </a:p>
          <a:p>
            <a:r>
              <a:t>            "backend": "IZG",</a:t>
            </a:r>
          </a:p>
          <a:p>
            <a:r>
              <a:t>            "category": 143</a:t>
            </a:r>
          </a:p>
          <a:p>
            <a:r>
              <a:t>          },</a:t>
            </a:r>
          </a:p>
          <a:p>
            <a:r>
              <a:t>          "language": "fr",</a:t>
            </a:r>
          </a:p>
          <a:p>
            <a:r>
              <a:t>          "userCountryCode": "US",</a:t>
            </a:r>
          </a:p>
          <a:p>
            <a:r>
              <a:t>          "userConfig": {</a:t>
            </a:r>
          </a:p>
          <a:p>
            <a:r>
              <a:t>            "userType": "USER_TYPE_SCRAPER"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"response": {</a:t>
            </a:r>
          </a:p>
          <a:p>
            <a:r>
              <a:t>          "default": {</a:t>
            </a:r>
          </a:p>
          <a:p>
            <a:r>
              <a:t>            "rankedList": [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"parfum",</a:t>
            </a:r>
          </a:p>
          <a:p>
            <a:r>
              <a:t>                    "value": 100,</a:t>
            </a:r>
          </a:p>
          <a:p>
            <a:r>
              <a:t>                    "formattedValue": "100",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"sephora",</a:t>
            </a:r>
          </a:p>
          <a:p>
            <a:r>
              <a:t>                    "value": 41,</a:t>
            </a:r>
          </a:p>
          <a:p>
            <a:r>
              <a:t>                    "formattedValue": "41",</a:t>
            </a:r>
          </a:p>
          <a:p>
            <a:r>
              <a:t>                    "hasData": true,</a:t>
            </a:r>
          </a:p>
          <a:p>
            <a:r>
              <a:t>                    "link": "/trends/explore?q=sephora&amp;date=2026-10-02+2026-10-08&amp;geo=FR"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"homme",</a:t>
            </a:r>
          </a:p>
          <a:p>
            <a:r>
              <a:t>                    "value": 33,</a:t>
            </a:r>
          </a:p>
          <a:p>
            <a:r>
              <a:t>                    "formattedValue": "33",</a:t>
            </a:r>
          </a:p>
          <a:p>
            <a:r>
              <a:t>                    "hasData": true,</a:t>
            </a:r>
          </a:p>
          <a:p>
            <a:r>
              <a:t>                    "link": "/trends/explore?q=homme&amp;date=2026-10-02+2026-10-08&amp;geo=FR"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"ongle",</a:t>
            </a:r>
          </a:p>
          <a:p>
            <a:r>
              <a:t>                    "value": 23,</a:t>
            </a:r>
          </a:p>
          <a:p>
            <a:r>
              <a:t>                    "formattedValue": "23",</a:t>
            </a:r>
          </a:p>
          <a:p>
            <a:r>
              <a:t>                    "hasData": true,</a:t>
            </a:r>
          </a:p>
          <a:p>
            <a:r>
              <a:t>                    "link": "/trends/explore?q=ongle&amp;date=2026-10-02+2026-10-08&amp;geo=FR"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"nocibe",</a:t>
            </a:r>
          </a:p>
          <a:p>
            <a:r>
              <a:t>                    "value": 22,</a:t>
            </a:r>
          </a:p>
          <a:p>
            <a:r>
              <a:t>                    "formattedValue": "22",</a:t>
            </a:r>
          </a:p>
          <a:p>
            <a:r>
              <a:t>                    "hasData": true,</a:t>
            </a:r>
          </a:p>
          <a:p>
            <a:r>
              <a:t>                    "link": "/trends/explore?q=nocibe&amp;date=2026-10-02+2026-10-08&amp;geo=FR"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"pied",</a:t>
            </a:r>
          </a:p>
          <a:p>
            <a:r>
              <a:t>                    "value": 20,</a:t>
            </a:r>
          </a:p>
          <a:p>
            <a:r>
              <a:t>                    "formattedValue": "20",</a:t>
            </a:r>
          </a:p>
          <a:p>
            <a:r>
              <a:t>                    "hasData": true,</a:t>
            </a:r>
          </a:p>
          <a:p>
            <a:r>
              <a:t>                    "link": "/trends/explore?q=pied&amp;date=2026-10-02+2026-10-08&amp;geo=FR"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"ongles",</a:t>
            </a:r>
          </a:p>
          <a:p>
            <a:r>
              <a:t>                    "value": 17,</a:t>
            </a:r>
          </a:p>
          <a:p>
            <a:r>
              <a:t>                    "formattedValue": "17",</a:t>
            </a:r>
          </a:p>
          <a:p>
            <a:r>
              <a:t>                    "hasData": true,</a:t>
            </a:r>
          </a:p>
          <a:p>
            <a:r>
              <a:t>                    "link": "/trends/explore?q=ongles&amp;date=2026-10-02+2026-10-08&amp;geo=FR"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"parking",</a:t>
            </a:r>
          </a:p>
          <a:p>
            <a:r>
              <a:t>                    "value": 17,</a:t>
            </a:r>
          </a:p>
          <a:p>
            <a:r>
              <a:t>                    "formattedValue": "17",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"/trends/explore?q=parking&amp;date=2026-10-02+2026-10-08&amp;geo=FR"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"yves rocher",</a:t>
            </a:r>
          </a:p>
          <a:p>
            <a:r>
              <a:t>                    "value": 16,</a:t>
            </a:r>
          </a:p>
          <a:p>
            <a:r>
              <a:t>                    "formattedValue": "16",</a:t>
            </a:r>
          </a:p>
          <a:p>
            <a:r>
              <a:t>                    "hasData": true,</a:t>
            </a:r>
          </a:p>
          <a:p>
            <a:r>
              <a:t>                    "link": "/trends/explore?q=yves+rocher&amp;date=2026-10-02+2026-10-08&amp;geo=FR"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"maquillage",</a:t>
            </a:r>
          </a:p>
          <a:p>
            <a:r>
              <a:t>                    "value": 15,</a:t>
            </a:r>
          </a:p>
          <a:p>
            <a:r>
              <a:t>                    "formattedValue": "15",</a:t>
            </a:r>
          </a:p>
          <a:p>
            <a:r>
              <a:t>                    "hasData": true,</a:t>
            </a:r>
          </a:p>
          <a:p>
            <a:r>
              <a:t>                    "link": "/trends/explore?q=maquillage&amp;date=2026-10-02+2026-10-08&amp;geo=FR"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homme",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"/trends/explore?q=parfum+homme&amp;date=2026-10-02+2026-10-08&amp;geo=FR"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"dior",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"/trends/explore?q=dior&amp;date=2026-10-02+2026-10-08&amp;geo=FR"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"vichy",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"/trends/explore?q=vichy&amp;date=2026-10-02+2026-10-08&amp;geo=FR"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femme",</a:t>
            </a:r>
          </a:p>
          <a:p>
            <a:r>
              <a:t>                    "value": 11,</a:t>
            </a:r>
          </a:p>
          <a:p>
            <a:r>
              <a:t>                    "formattedValue": "11",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"/trends/explore?q=parfum+femme&amp;date=2026-10-02+2026-10-08&amp;geo=FR"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"guerlain",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"/trends/explore?q=guerlain&amp;date=2026-10-02+2026-10-08&amp;geo=FR"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"mascara",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"/trends/explore?q=mascara&amp;date=2026-10-02+2026-10-08&amp;geo=FR"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"chanel",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"/trends/explore?q=chanel&amp;date=2026-10-02+2026-10-08&amp;geo=FR"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"dermatologue",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"/trends/explore?q=dermatologue&amp;date=2026-10-02+2026-10-08&amp;geo=FR"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"caudalie",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"/trends/explore?q=caudalie&amp;date=2026-10-02+2026-10-08&amp;geo=FR"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"amazon",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"/trends/explore?q=amazon&amp;date=2026-10-02+2026-10-08&amp;geo=FR"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"nocibé",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"/trends/explore?q=nocib%C3%A9&amp;date=2026-10-02+2026-10-08&amp;geo=FR"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"nyx",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"/trends/explore?q=nyx&amp;date=2026-10-02+2026-10-08&amp;geo=FR"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"lip",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"/trends/explore?q=lip&amp;date=2026-10-02+2026-10-08&amp;geo=FR"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"loreal",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"/trends/explore?q=loreal&amp;date=2026-10-02+2026-10-08&amp;geo=FR"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"avene",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"/trends/explore?q=avene&amp;date=2026-10-02+2026-10-08&amp;geo=FR"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"pemphigus paranéoplasique",</a:t>
            </a:r>
          </a:p>
          <a:p>
            <a:r>
              <a:t>                    "value": 17000,</a:t>
            </a:r>
          </a:p>
          <a:p>
            <a:r>
              <a:t>                    "formattedValue": "Record",</a:t>
            </a:r>
          </a:p>
          <a:p>
            <a:r>
              <a:t>                    "link": "/trends/explore?q=pemphigus+paran%C3%A9oplasique&amp;date=2026-10-02+2026-10-08&amp;geo=FR"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"semaine mondiale de l'espace 2026",</a:t>
            </a:r>
          </a:p>
          <a:p>
            <a:r>
              <a:t>                    "value": 8700,</a:t>
            </a:r>
          </a:p>
          <a:p>
            <a:r>
              <a:t>                    "formattedValue": "Record",</a:t>
            </a:r>
          </a:p>
          <a:p>
            <a:r>
              <a:t>                    "link": "/trends/explore?q=semaine+mondiale+de+l'espace+2026&amp;date=2026-10-02+2026-10-08&amp;geo=FR"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"jeremy gilbert",</a:t>
            </a:r>
          </a:p>
          <a:p>
            <a:r>
              <a:t>                    "value": 5450,</a:t>
            </a:r>
          </a:p>
          <a:p>
            <a:r>
              <a:t>                    "formattedValue": "Record",</a:t>
            </a:r>
          </a:p>
          <a:p>
            <a:r>
              <a:t>                    "link": "/trends/explore?q=jeremy+gilbert&amp;date=2026-10-02+2026-10-08&amp;geo=FR"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"la-roche-sur-yon.com",</a:t>
            </a:r>
          </a:p>
          <a:p>
            <a:r>
              <a:t>                    "value": 4650,</a:t>
            </a:r>
          </a:p>
          <a:p>
            <a:r>
              <a:t>                    "formattedValue": "+4 650 %",</a:t>
            </a:r>
          </a:p>
          <a:p>
            <a:r>
              <a:t>                    "link": "/trends/explore?q=la-roche-sur-yon.com&amp;date=2026-10-02+2026-10-08&amp;geo=FR"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"prince waly",</a:t>
            </a:r>
          </a:p>
          <a:p>
            <a:r>
              <a:t>                    "value": 4150,</a:t>
            </a:r>
          </a:p>
          <a:p>
            <a:r>
              <a:t>                    "formattedValue": "+4 150 %",</a:t>
            </a:r>
          </a:p>
          <a:p>
            <a:r>
              <a:t>                    "link": "/trends/explore?q=prince+waly&amp;date=2026-10-02+2026-10-08&amp;geo=FR"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"poisson chauve souris à lèvres rouges",</a:t>
            </a:r>
          </a:p>
          <a:p>
            <a:r>
              <a:t>                    "value": 3550,</a:t>
            </a:r>
          </a:p>
          <a:p>
            <a:r>
              <a:t>                    "formattedValue": "+3 550 %",</a:t>
            </a:r>
          </a:p>
          <a:p>
            <a:r>
              <a:t>                    "link": "/trends/explore?q=poisson+chauve+souris+%C3%A0+l%C3%A8vres+rouges&amp;date=2026-10-02+2026-10-08&amp;geo=FR"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"thierry mugler",</a:t>
            </a:r>
          </a:p>
          <a:p>
            <a:r>
              <a:t>                    "value": 800,</a:t>
            </a:r>
          </a:p>
          <a:p>
            <a:r>
              <a:t>                    "formattedValue": "+800 %",</a:t>
            </a:r>
          </a:p>
          <a:p>
            <a:r>
              <a:t>                    "link": "/trends/explore?q=thierry+mugler&amp;date=2026-10-02+2026-10-08&amp;geo=FR"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"hazel eyes",</a:t>
            </a:r>
          </a:p>
          <a:p>
            <a:r>
              <a:t>                    "value": 450,</a:t>
            </a:r>
          </a:p>
          <a:p>
            <a:r>
              <a:t>                    "formattedValue": "+450 %",</a:t>
            </a:r>
          </a:p>
          <a:p>
            <a:r>
              <a:t>                    "link": "/trends/explore?q=hazel+eyes&amp;date=2026-10-02+2026-10-08&amp;geo=FR"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"ectoplasma masaki",</a:t>
            </a:r>
          </a:p>
          <a:p>
            <a:r>
              <a:t>                    "value": 250,</a:t>
            </a:r>
          </a:p>
          <a:p>
            <a:r>
              <a:t>                    "formattedValue": "+250 %",</a:t>
            </a:r>
          </a:p>
          <a:p>
            <a:r>
              <a:t>                    "link": "/trends/explore?q=ectoplasma+masaki&amp;date=2026-10-02+2026-10-08&amp;geo=FR"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"mugler",</a:t>
            </a:r>
          </a:p>
          <a:p>
            <a:r>
              <a:t>                    "value": 250,</a:t>
            </a:r>
          </a:p>
          <a:p>
            <a:r>
              <a:t>                    "formattedValue": "+250 %",</a:t>
            </a:r>
          </a:p>
          <a:p>
            <a:r>
              <a:t>                    "link": "/trends/explore?q=mugler&amp;date=2026-10-02+2026-10-08&amp;geo=FR"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azzaro homme",</a:t>
            </a:r>
          </a:p>
          <a:p>
            <a:r>
              <a:t>                    "value": 100,</a:t>
            </a:r>
          </a:p>
          <a:p>
            <a:r>
              <a:t>                    "formattedValue": "+100 %",</a:t>
            </a:r>
          </a:p>
          <a:p>
            <a:r>
              <a:t>                    "link": "/trends/explore?q=parfum+azzaro+homme&amp;date=2026-10-02+2026-10-08&amp;geo=FR"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"azzaro",</a:t>
            </a:r>
          </a:p>
          <a:p>
            <a:r>
              <a:t>                    "value": 70,</a:t>
            </a:r>
          </a:p>
          <a:p>
            <a:r>
              <a:t>                    "formattedValue": "+70 %",</a:t>
            </a:r>
          </a:p>
          <a:p>
            <a:r>
              <a:t>                    "link": "/trends/explore?q=azzaro&amp;date=2026-10-02+2026-10-08&amp;geo=FR"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"juliette has a gun",</a:t>
            </a:r>
          </a:p>
          <a:p>
            <a:r>
              <a:t>                    "value": 70,</a:t>
            </a:r>
          </a:p>
          <a:p>
            <a:r>
              <a:t>                    "formattedValue": "+70 %",</a:t>
            </a:r>
          </a:p>
          <a:p>
            <a:r>
              <a:t>                    "link": "/trends/explore?q=juliette+has+a+gun&amp;date=2026-10-02+2026-10-08&amp;geo=FR"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"divain parfum",</a:t>
            </a:r>
          </a:p>
          <a:p>
            <a:r>
              <a:t>                    "value": 60,</a:t>
            </a:r>
          </a:p>
          <a:p>
            <a:r>
              <a:t>                    "formattedValue": "+60 %",</a:t>
            </a:r>
          </a:p>
          <a:p>
            <a:r>
              <a:t>                    "link": "/trends/explore?q=divain+parfum&amp;date=2026-10-02+2026-10-08&amp;geo=FR"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"essence maquillage",</a:t>
            </a:r>
          </a:p>
          <a:p>
            <a:r>
              <a:t>                    "value": 40,</a:t>
            </a:r>
          </a:p>
          <a:p>
            <a:r>
              <a:t>                    "formattedValue": "+40 %",</a:t>
            </a:r>
          </a:p>
          <a:p>
            <a:r>
              <a:t>                    "link": "/trends/explore?q=essence+maquillage&amp;date=2026-10-02+2026-10-08&amp;geo=FR"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"it": {</a:t>
            </a:r>
          </a:p>
          <a:p>
            <a:r>
              <a:t>      "data": {</a:t>
            </a:r>
          </a:p>
          <a:p>
            <a:r>
              <a:t>        "retrieved_at": "2026-10-09T08:43:26.482419+00:00",</a:t>
            </a:r>
          </a:p>
          <a:p>
            <a:r>
              <a:t>        "geo": "IT",</a:t>
            </a:r>
          </a:p>
          <a:p>
            <a:r>
              <a:t>        "language": "it",</a:t>
            </a:r>
          </a:p>
          <a:p>
            <a:r>
              <a:t>        "period_start": "2026-10-02",</a:t>
            </a:r>
          </a:p>
          <a:p>
            <a:r>
              <a:t>        "period_end": "2026-10-08",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"source_url": "https://trends.google.com/trends/explore?cat=143&amp;date=2026-10-02+2026-10-08&amp;geo=IT&amp;hl=it",</a:t>
            </a:r>
          </a:p>
          <a:p>
            <a:r>
              <a:t>        "top": [</a:t>
            </a:r>
          </a:p>
          <a:p>
            <a:r>
              <a:t>          {</a:t>
            </a:r>
          </a:p>
          <a:p>
            <a:r>
              <a:t>            "query": "profumo",</a:t>
            </a:r>
          </a:p>
          <a:p>
            <a:r>
              <a:t>            "value": 100,</a:t>
            </a:r>
          </a:p>
          <a:p>
            <a:r>
              <a:t>            "source_rank": 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"crema",</a:t>
            </a:r>
          </a:p>
          <a:p>
            <a:r>
              <a:t>            "value": 93,</a:t>
            </a:r>
          </a:p>
          <a:p>
            <a:r>
              <a:t>            "source_rank": 2,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"unghie",</a:t>
            </a:r>
          </a:p>
          <a:p>
            <a:r>
              <a:t>            "value": 53,</a:t>
            </a:r>
          </a:p>
          <a:p>
            <a:r>
              <a:t>            "source_rank": 3,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"profumi",</a:t>
            </a:r>
          </a:p>
          <a:p>
            <a:r>
              <a:t>            "value": 36,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"sephora",</a:t>
            </a:r>
          </a:p>
          <a:p>
            <a:r>
              <a:t>            "value": 27,</a:t>
            </a:r>
          </a:p>
          <a:p>
            <a:r>
              <a:t>            "source_rank": 5,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{</a:t>
            </a:r>
          </a:p>
          <a:p>
            <a:r>
              <a:t>            "query": "thierry mugler",</a:t>
            </a:r>
          </a:p>
          <a:p>
            <a:r>
              <a:t>            "value": 750,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"cicaplast baume b5 la roche posay",</a:t>
            </a:r>
          </a:p>
          <a:p>
            <a:r>
              <a:t>            "value": 250,</a:t>
            </a:r>
          </a:p>
          <a:p>
            <a:r>
              <a:t>            "source_rank": 6,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"medicube zero pore",</a:t>
            </a:r>
          </a:p>
          <a:p>
            <a:r>
              <a:t>            "value": 80,</a:t>
            </a:r>
          </a:p>
          <a:p>
            <a:r>
              <a:t>            "source_rank": 10,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"interpretation": "Contesto beauty generale: queste ricerche non misurano la domanda specifica per Crème Sublime.",</a:t>
            </a:r>
          </a:p>
          <a:p>
            <a:r>
              <a:t>        "comparison_start": "2026-09-25",</a:t>
            </a:r>
          </a:p>
          <a:p>
            <a:r>
              <a:t>        "comparison_end": "2026-10-01",</a:t>
            </a:r>
          </a:p>
          <a:p>
            <a:r>
              <a:t>        "method_url": "https://support.google.com/trends/answer/4355000",</a:t>
            </a:r>
          </a:p>
          <a:p>
            <a:r>
              <a:t>        "response_sha256": "bee8b41bbdab53cc2f088805db4a2dc553a1d03b28ae5dfe7b7109056bdf90ce",</a:t>
            </a:r>
          </a:p>
          <a:p>
            <a:r>
              <a:t>        "selection_note": "Editorial relevance filter; original order, spelling and scores retained. Not exhaustive beauty search volumes."</a:t>
            </a:r>
          </a:p>
          <a:p>
            <a:r>
              <a:t>      },</a:t>
            </a:r>
          </a:p>
          <a:p>
            <a:r>
              <a:t>      "evidence": {</a:t>
            </a:r>
          </a:p>
          <a:p>
            <a:r>
              <a:t>        "retrieved_at": "2026-10-09T08:43:26.482419+00:00",</a:t>
            </a:r>
          </a:p>
          <a:p>
            <a:r>
              <a:t>        "geo": "IT",</a:t>
            </a:r>
          </a:p>
          <a:p>
            <a:r>
              <a:t>        "language": "it",</a:t>
            </a:r>
          </a:p>
          <a:p>
            <a:r>
              <a:t>        "period_start": "2026-10-02",</a:t>
            </a:r>
          </a:p>
          <a:p>
            <a:r>
              <a:t>        "period_end": "2026-10-08",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"seed_keyword": "",</a:t>
            </a:r>
          </a:p>
          <a:p>
            <a:r>
              <a:t>        "source_url": "https://trends.google.com/trends/explore?cat=143&amp;date=2026-10-02+2026-10-08&amp;geo=IT&amp;hl=it",</a:t>
            </a:r>
          </a:p>
          <a:p>
            <a:r>
              <a:t>        "widget_request": {</a:t>
            </a:r>
          </a:p>
          <a:p>
            <a:r>
              <a:t>          "restriction": {</a:t>
            </a:r>
          </a:p>
          <a:p>
            <a:r>
              <a:t>            "geo": {</a:t>
            </a:r>
          </a:p>
          <a:p>
            <a:r>
              <a:t>              "country": "IT"</a:t>
            </a:r>
          </a:p>
          <a:p>
            <a:r>
              <a:t>            },</a:t>
            </a:r>
          </a:p>
          <a:p>
            <a:r>
              <a:t>            "time": "2026-10-02 2026-10-08",</a:t>
            </a:r>
          </a:p>
          <a:p>
            <a:r>
              <a:t>            "originalTimeRangeForExploreUrl": "2026-10-02 2026-10-08"</a:t>
            </a:r>
          </a:p>
          <a:p>
            <a:r>
              <a:t>          },</a:t>
            </a:r>
          </a:p>
          <a:p>
            <a:r>
              <a:t>          "keywordType": "QUERY",</a:t>
            </a:r>
          </a:p>
          <a:p>
            <a:r>
              <a:t>          "metric": [</a:t>
            </a:r>
          </a:p>
          <a:p>
            <a:r>
              <a:t>            "TOP",</a:t>
            </a:r>
          </a:p>
          <a:p>
            <a:r>
              <a:t>            "RISING"</a:t>
            </a:r>
          </a:p>
          <a:p>
            <a:r>
              <a:t>          ],</a:t>
            </a:r>
          </a:p>
          <a:p>
            <a:r>
              <a:t>          "trendinessSettings": {</a:t>
            </a:r>
          </a:p>
          <a:p>
            <a:r>
              <a:t>            "compareTime": "2026-09-25 2026-10-01"</a:t>
            </a:r>
          </a:p>
          <a:p>
            <a:r>
              <a:t>          },</a:t>
            </a:r>
          </a:p>
          <a:p>
            <a:r>
              <a:t>          "requestOptions": {</a:t>
            </a:r>
          </a:p>
          <a:p>
            <a:r>
              <a:t>            "property": "",</a:t>
            </a:r>
          </a:p>
          <a:p>
            <a:r>
              <a:t>            "backend": "IZG",</a:t>
            </a:r>
          </a:p>
          <a:p>
            <a:r>
              <a:t>            "category": 143</a:t>
            </a:r>
          </a:p>
          <a:p>
            <a:r>
              <a:t>          },</a:t>
            </a:r>
          </a:p>
          <a:p>
            <a:r>
              <a:t>          "language": "it",</a:t>
            </a:r>
          </a:p>
          <a:p>
            <a:r>
              <a:t>          "userCountryCode": "US",</a:t>
            </a:r>
          </a:p>
          <a:p>
            <a:r>
              <a:t>          "userConfig": {</a:t>
            </a:r>
          </a:p>
          <a:p>
            <a:r>
              <a:t>            "userType": "USER_TYPE_SCRAPER"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"response": {</a:t>
            </a:r>
          </a:p>
          <a:p>
            <a:r>
              <a:t>          "default": {</a:t>
            </a:r>
          </a:p>
          <a:p>
            <a:r>
              <a:t>            "rankedList": [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"profumo",</a:t>
            </a:r>
          </a:p>
          <a:p>
            <a:r>
              <a:t>                    "value": 100,</a:t>
            </a:r>
          </a:p>
          <a:p>
            <a:r>
              <a:t>                    "formattedValue": "100",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"crema",</a:t>
            </a:r>
          </a:p>
          <a:p>
            <a:r>
              <a:t>                    "value": 93,</a:t>
            </a:r>
          </a:p>
          <a:p>
            <a:r>
              <a:t>                    "formattedValue": "93",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"unghie",</a:t>
            </a:r>
          </a:p>
          <a:p>
            <a:r>
              <a:t>                    "value": 53,</a:t>
            </a:r>
          </a:p>
          <a:p>
            <a:r>
              <a:t>                    "formattedValue": "53",</a:t>
            </a:r>
          </a:p>
          <a:p>
            <a:r>
              <a:t>                    "hasData": true,</a:t>
            </a:r>
          </a:p>
          <a:p>
            <a:r>
              <a:t>                    "link": "/trends/explore?q=unghie&amp;date=2026-10-02+2026-10-08&amp;geo=IT"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"profumi",</a:t>
            </a:r>
          </a:p>
          <a:p>
            <a:r>
              <a:t>                    "value": 36,</a:t>
            </a:r>
          </a:p>
          <a:p>
            <a:r>
              <a:t>                    "formattedValue": "36",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"/trends/explore?q=profumi&amp;date=2026-10-02+2026-10-08&amp;geo=IT"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"sephora",</a:t>
            </a:r>
          </a:p>
          <a:p>
            <a:r>
              <a:t>                    "value": 27,</a:t>
            </a:r>
          </a:p>
          <a:p>
            <a:r>
              <a:t>                    "formattedValue": "27",</a:t>
            </a:r>
          </a:p>
          <a:p>
            <a:r>
              <a:t>                    "hasData": true,</a:t>
            </a:r>
          </a:p>
          <a:p>
            <a:r>
              <a:t>                    "link": "/trends/explore?q=sephora&amp;date=2026-10-02+2026-10-08&amp;geo=IT"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"amazon",</a:t>
            </a:r>
          </a:p>
          <a:p>
            <a:r>
              <a:t>                    "value": 16,</a:t>
            </a:r>
          </a:p>
          <a:p>
            <a:r>
              <a:t>                    "formattedValue": "16",</a:t>
            </a:r>
          </a:p>
          <a:p>
            <a:r>
              <a:t>                    "hasData": true,</a:t>
            </a:r>
          </a:p>
          <a:p>
            <a:r>
              <a:t>                    "link": "/trends/explore?q=amazon&amp;date=2026-10-02+2026-10-08&amp;geo=IT"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"fondotinta",</a:t>
            </a:r>
          </a:p>
          <a:p>
            <a:r>
              <a:t>                    "value": 14,</a:t>
            </a:r>
          </a:p>
          <a:p>
            <a:r>
              <a:t>                    "formattedValue": "14",</a:t>
            </a:r>
          </a:p>
          <a:p>
            <a:r>
              <a:t>                    "hasData": true,</a:t>
            </a:r>
          </a:p>
          <a:p>
            <a:r>
              <a:t>                    "link": "/trends/explore?q=fondotinta&amp;date=2026-10-02+2026-10-08&amp;geo=IT"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 uomo",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"/trends/explore?q=profumo+uomo&amp;date=2026-10-02+2026-10-08&amp;geo=IT"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"dior",</a:t>
            </a:r>
          </a:p>
          <a:p>
            <a:r>
              <a:t>                    "value": 11,</a:t>
            </a:r>
          </a:p>
          <a:p>
            <a:r>
              <a:t>                    "formattedValue": "11",</a:t>
            </a:r>
          </a:p>
          <a:p>
            <a:r>
              <a:t>                    "hasData": true,</a:t>
            </a:r>
          </a:p>
          <a:p>
            <a:r>
              <a:t>                    "link": "/trends/explore?q=dior&amp;date=2026-10-02+2026-10-08&amp;geo=IT"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"mascara",</a:t>
            </a:r>
          </a:p>
          <a:p>
            <a:r>
              <a:t>                    "value": 11,</a:t>
            </a:r>
          </a:p>
          <a:p>
            <a:r>
              <a:t>                    "formattedValue": "11",</a:t>
            </a:r>
          </a:p>
          <a:p>
            <a:r>
              <a:t>                    "hasData": true,</a:t>
            </a:r>
          </a:p>
          <a:p>
            <a:r>
              <a:t>                    "link": "/trends/explore?q=mascara&amp;date=2026-10-02+2026-10-08&amp;geo=IT"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"braun",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"/trends/explore?q=braun&amp;date=2026-10-02+2026-10-08&amp;geo=IT"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"gabriele sabatini",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"/trends/explore?q=gabriele+sabatini&amp;date=2026-10-02+2026-10-08&amp;geo=IT"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corpo",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"/trends/explore?q=crema+corpo&amp;date=2026-10-02+2026-10-08&amp;geo=IT"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"la roche posay",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"/trends/explore?q=la+roche+posay&amp;date=2026-10-02+2026-10-08&amp;geo=IT"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"bionike",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"/trends/explore?q=bionike&amp;date=2026-10-02+2026-10-08&amp;geo=IT"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"cerave",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"/trends/explore?q=cerave&amp;date=2026-10-02+2026-10-08&amp;geo=IT"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"fragrantica",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"/trends/explore?q=fragrantica&amp;date=2026-10-02+2026-10-08&amp;geo=IT"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"blush",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"/trends/explore?q=blush&amp;date=2026-10-02+2026-10-08&amp;geo=IT"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"makeup",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"/trends/explore?q=makeup&amp;date=2026-10-02+2026-10-08&amp;geo=IT"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"meteo",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"/trends/explore?q=meteo&amp;date=2026-10-02+2026-10-08&amp;geo=IT"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"guerlain",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"/trends/explore?q=guerlain&amp;date=2026-10-02+2026-10-08&amp;geo=IT"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"kiko",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"/trends/explore?q=kiko&amp;date=2026-10-02+2026-10-08&amp;geo=IT"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"caudalie",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"/trends/explore?q=caudalie&amp;date=2026-10-02+2026-10-08&amp;geo=IT"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"skincare",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"/trends/explore?q=skincare&amp;date=2026-10-02+2026-10-08&amp;geo=IT"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"avene",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"/trends/explore?q=avene&amp;date=2026-10-02+2026-10-08&amp;geo=IT"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"gabriele sabatini",</a:t>
            </a:r>
          </a:p>
          <a:p>
            <a:r>
              <a:t>                    "value": 65050,</a:t>
            </a:r>
          </a:p>
          <a:p>
            <a:r>
              <a:t>                    "formattedValue": "Impennata",</a:t>
            </a:r>
          </a:p>
          <a:p>
            <a:r>
              <a:t>                    "link": "/trends/explore?q=gabriele+sabatini&amp;date=2026-10-02+2026-10-08&amp;geo=IT"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"settimana mondiale dello spazio 2026",</a:t>
            </a:r>
          </a:p>
          <a:p>
            <a:r>
              <a:t>                    "value": 6500,</a:t>
            </a:r>
          </a:p>
          <a:p>
            <a:r>
              <a:t>                    "formattedValue": "Impennata",</a:t>
            </a:r>
          </a:p>
          <a:p>
            <a:r>
              <a:t>                    "link": "/trends/explore?q=settimana+mondiale+dello+spazio+2026&amp;date=2026-10-02+2026-10-08&amp;geo=IT"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"world space week 2026",</a:t>
            </a:r>
          </a:p>
          <a:p>
            <a:r>
              <a:t>                    "value": 1100,</a:t>
            </a:r>
          </a:p>
          <a:p>
            <a:r>
              <a:t>                    "formattedValue": "+1.100%",</a:t>
            </a:r>
          </a:p>
          <a:p>
            <a:r>
              <a:t>                    "link": "/trends/explore?q=world+space+week+2026&amp;date=2026-10-02+2026-10-08&amp;geo=IT"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"thierry mugler",</a:t>
            </a:r>
          </a:p>
          <a:p>
            <a:r>
              <a:t>                    "value": 750,</a:t>
            </a:r>
          </a:p>
          <a:p>
            <a:r>
              <a:t>                    "formattedValue": "+750%",</a:t>
            </a:r>
          </a:p>
          <a:p>
            <a:r>
              <a:t>                    "link": "/trends/explore?q=thierry+mugler&amp;date=2026-10-02+2026-10-08&amp;geo=IT"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"hazel eyes",</a:t>
            </a:r>
          </a:p>
          <a:p>
            <a:r>
              <a:t>                    "value": 400,</a:t>
            </a:r>
          </a:p>
          <a:p>
            <a:r>
              <a:t>                    "formattedValue": "+400%",</a:t>
            </a:r>
          </a:p>
          <a:p>
            <a:r>
              <a:t>                    "link": "/trends/explore?q=hazel+eyes&amp;date=2026-10-02+2026-10-08&amp;geo=IT"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"cicaplast baume b5 la roche posay",</a:t>
            </a:r>
          </a:p>
          <a:p>
            <a:r>
              <a:t>                    "value": 250,</a:t>
            </a:r>
          </a:p>
          <a:p>
            <a:r>
              <a:t>                    "formattedValue": "+250%",</a:t>
            </a:r>
          </a:p>
          <a:p>
            <a:r>
              <a:t>                    "link": "/trends/explore?q=cicaplast+baume+b5+la+roche+posay&amp;date=2026-10-02+2026-10-08&amp;geo=IT"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"meteo roma",</a:t>
            </a:r>
          </a:p>
          <a:p>
            <a:r>
              <a:t>                    "value": 150,</a:t>
            </a:r>
          </a:p>
          <a:p>
            <a:r>
              <a:t>                    "formattedValue": "+150%",</a:t>
            </a:r>
          </a:p>
          <a:p>
            <a:r>
              <a:t>                    "link": "/trends/explore?q=meteo+roma&amp;date=2026-10-02+2026-10-08&amp;geo=IT"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"basalioma naso",</a:t>
            </a:r>
          </a:p>
          <a:p>
            <a:r>
              <a:t>                    "value": 150,</a:t>
            </a:r>
          </a:p>
          <a:p>
            <a:r>
              <a:t>                    "formattedValue": "+150%",</a:t>
            </a:r>
          </a:p>
          <a:p>
            <a:r>
              <a:t>                    "link": "/trends/explore?q=basalioma+naso&amp;date=2026-10-02+2026-10-08&amp;geo=IT"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"whatsapp web",</a:t>
            </a:r>
          </a:p>
          <a:p>
            <a:r>
              <a:t>                    "value": 90,</a:t>
            </a:r>
          </a:p>
          <a:p>
            <a:r>
              <a:t>                    "formattedValue": "+90%",</a:t>
            </a:r>
          </a:p>
          <a:p>
            <a:r>
              <a:t>                    "link": "/trends/explore?q=whatsapp+web&amp;date=2026-10-02+2026-10-08&amp;geo=IT"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"medicube zero pore",</a:t>
            </a:r>
          </a:p>
          <a:p>
            <a:r>
              <a:t>                    "value": 80,</a:t>
            </a:r>
          </a:p>
          <a:p>
            <a:r>
              <a:t>                    "formattedValue": "+80%",</a:t>
            </a:r>
          </a:p>
          <a:p>
            <a:r>
              <a:t>                    "link": "/trends/explore?q=medicube+zero+pore&amp;date=2026-10-02+2026-10-08&amp;geo=IT"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"melasma",</a:t>
            </a:r>
          </a:p>
          <a:p>
            <a:r>
              <a:t>                    "value": 70,</a:t>
            </a:r>
          </a:p>
          <a:p>
            <a:r>
              <a:t>                    "formattedValue": "+70%",</a:t>
            </a:r>
          </a:p>
          <a:p>
            <a:r>
              <a:t>                    "link": "/trends/explore?q=melasma&amp;date=2026-10-02+2026-10-08&amp;geo=IT"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"medicube",</a:t>
            </a:r>
          </a:p>
          <a:p>
            <a:r>
              <a:t>                    "value": 70,</a:t>
            </a:r>
          </a:p>
          <a:p>
            <a:r>
              <a:t>                    "formattedValue": "+70%",</a:t>
            </a:r>
          </a:p>
          <a:p>
            <a:r>
              <a:t>                    "link": "/trends/explore?q=medicube&amp;date=2026-10-02+2026-10-08&amp;geo=IT"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"meteo crema",</a:t>
            </a:r>
          </a:p>
          <a:p>
            <a:r>
              <a:t>                    "value": 60,</a:t>
            </a:r>
          </a:p>
          <a:p>
            <a:r>
              <a:t>                    "formattedValue": "+60%",</a:t>
            </a:r>
          </a:p>
          <a:p>
            <a:r>
              <a:t>                    "link": "/trends/explore?q=meteo+crema&amp;date=2026-10-02+2026-10-08&amp;geo=IT"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"meteo di domani",</a:t>
            </a:r>
          </a:p>
          <a:p>
            <a:r>
              <a:t>                    "value": 50,</a:t>
            </a:r>
          </a:p>
          <a:p>
            <a:r>
              <a:t>                    "formattedValue": "+50%",</a:t>
            </a:r>
          </a:p>
          <a:p>
            <a:r>
              <a:t>                    "link": "/trends/explore?q=meteo+di+domani&amp;date=2026-10-02+2026-10-08&amp;geo=IT"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"meteo",</a:t>
            </a:r>
          </a:p>
          <a:p>
            <a:r>
              <a:t>                    "value": 50,</a:t>
            </a:r>
          </a:p>
          <a:p>
            <a:r>
              <a:t>                    "formattedValue": "+50%",</a:t>
            </a:r>
          </a:p>
          <a:p>
            <a:r>
              <a:t>                    "link": "/trends/explore?q=meteo&amp;date=2026-10-02+2026-10-08&amp;geo=IT"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"ingredients": [</a:t>
            </a:r>
          </a:p>
          <a:p>
            <a:r>
              <a:t>    {</a:t>
            </a:r>
          </a:p>
          <a:p>
            <a:r>
              <a:t>      "id": "ceramides",</a:t>
            </a:r>
          </a:p>
          <a:p>
            <a:r>
              <a:t>      "label": {</a:t>
            </a:r>
          </a:p>
          <a:p>
            <a:r>
              <a:t>        "fr": "Céramides",</a:t>
            </a:r>
          </a:p>
          <a:p>
            <a:r>
              <a:t>        "it": "Ceramidi"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"Céramides",</a:t>
            </a:r>
          </a:p>
          <a:p>
            <a:r>
              <a:t>        "it": "Ceramidi"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"CERAMIDE NP",</a:t>
            </a:r>
          </a:p>
          <a:p>
            <a:r>
              <a:t>        "CERAMIDE AP"</a:t>
            </a:r>
          </a:p>
          <a:p>
            <a:r>
              <a:t>      ],</a:t>
            </a:r>
          </a:p>
          <a:p>
            <a:r>
              <a:t>      "priority": 100,</a:t>
            </a:r>
          </a:p>
          <a:p>
            <a:r>
              <a:t>      "role": {</a:t>
            </a:r>
          </a:p>
          <a:p>
            <a:r>
              <a:t>        "fr": "Barrière cutanée",</a:t>
            </a:r>
          </a:p>
          <a:p>
            <a:r>
              <a:t>        "it": "Barriera cutanea"</a:t>
            </a:r>
          </a:p>
          <a:p>
            <a:r>
              <a:t>      },</a:t>
            </a:r>
          </a:p>
          <a:p>
            <a:r>
              <a:t>      "source_ids": [</a:t>
            </a:r>
          </a:p>
          <a:p>
            <a:r>
              <a:t>        "cosrx",</a:t>
            </a:r>
          </a:p>
          <a:p>
            <a:r>
              <a:t>        "byoma"</a:t>
            </a:r>
          </a:p>
          <a:p>
            <a:r>
              <a:t>      ],</a:t>
            </a:r>
          </a:p>
          <a:p>
            <a:r>
              <a:t>      "source_url": "https://ioma-paris.com/products/creme-sublime-revitalisante",</a:t>
            </a:r>
          </a:p>
          <a:p>
            <a:r>
              <a:t>      "verified_at": "2026-10-09T08:44:22.768219+00:00"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"peptides",</a:t>
            </a:r>
          </a:p>
          <a:p>
            <a:r>
              <a:t>      "label": {</a:t>
            </a:r>
          </a:p>
          <a:p>
            <a:r>
              <a:t>        "fr": "Peptide\nRIGIN™",</a:t>
            </a:r>
          </a:p>
          <a:p>
            <a:r>
              <a:t>        "it": "Peptide\nRIGIN™"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"Peptide RIGIN™",</a:t>
            </a:r>
          </a:p>
          <a:p>
            <a:r>
              <a:t>        "it": "Peptide RIGIN™"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"PALMITOYL TETRAPEPTIDE-7"</a:t>
            </a:r>
          </a:p>
          <a:p>
            <a:r>
              <a:t>      ],</a:t>
            </a:r>
          </a:p>
          <a:p>
            <a:r>
              <a:t>      "priority": 95,</a:t>
            </a:r>
          </a:p>
          <a:p>
            <a:r>
              <a:t>      "role": {</a:t>
            </a:r>
          </a:p>
          <a:p>
            <a:r>
              <a:t>        "fr": "Fermeté",</a:t>
            </a:r>
          </a:p>
          <a:p>
            <a:r>
              <a:t>        "it": "Compattezza"</a:t>
            </a:r>
          </a:p>
          <a:p>
            <a:r>
              <a:t>      },</a:t>
            </a:r>
          </a:p>
          <a:p>
            <a:r>
              <a:t>      "source_ids": [</a:t>
            </a:r>
          </a:p>
          <a:p>
            <a:r>
              <a:t>        "cosrx",</a:t>
            </a:r>
          </a:p>
          <a:p>
            <a:r>
              <a:t>        "byoma"</a:t>
            </a:r>
          </a:p>
          <a:p>
            <a:r>
              <a:t>      ],</a:t>
            </a:r>
          </a:p>
          <a:p>
            <a:r>
              <a:t>      "source_url": "https://ioma-paris.com/products/creme-sublime-revitalisante",</a:t>
            </a:r>
          </a:p>
          <a:p>
            <a:r>
              <a:t>      "verified_at": "2026-10-09T08:44:22.768219+00:00"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"caption": "Nutrimento e compattezza, in un unico trattamento.\n\nCrème Sublime Revitalisante nutre la pelle in profondità e contribuisce a renderla più soda. La sua texture ricca e fondente trasforma l’applicazione in un momento di cura.\n\nScopri Crème Sublime Revitalisante su ioma-paris.com.\n\n#IOMAParis #CrèmeSublimeRevitalisante #Skincare",</a:t>
            </a:r>
          </a:p>
          <a:p>
            <a:r>
              <a:t>  "strategy": {</a:t>
            </a:r>
          </a:p>
          <a:p>
            <a:r>
              <a:t>    "positioning": "Crème Sublime unisce nutrimento e compattezza. Ceramidi e peptide RIGIN™ collegano la lettura della sua formula alle famiglie citate questa settimana.",</a:t>
            </a:r>
          </a:p>
          <a:p>
            <a:r>
              <a:t>    "audience": "Ipotesi di pubblico: persone che cercano nutrimento, comfort e compattezza.",</a:t>
            </a:r>
          </a:p>
          <a:p>
            <a:r>
              <a:t>    "activation": "Feed: nutrimento, compattezza e due attivi. Story: scoperta della formula. Reel da testare: 6–10 s, texture e applicazione. Banner: scoperta del trattamento.",</a:t>
            </a:r>
          </a:p>
          <a:p>
            <a:r>
              <a:t>    "measurement": "Testare « barriera » contro « compattezza » con pubblico e budget uguali. Confrontare clic e visite alla scheda prodotto."</a:t>
            </a:r>
          </a:p>
          <a:p>
            <a:r>
              <a:t>  },</a:t>
            </a:r>
          </a:p>
          <a:p>
            <a:r>
              <a:t>  "source": "https://ioma-paris.com/products/creme-sublime-revitalisante"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"data": {</a:t>
            </a:r>
          </a:p>
          <a:p>
            <a:r>
              <a:t>    "retrieved_at": "2026-10-09T08:43:26.482419+00:00",</a:t>
            </a:r>
          </a:p>
          <a:p>
            <a:r>
              <a:t>    "geo": "IT",</a:t>
            </a:r>
          </a:p>
          <a:p>
            <a:r>
              <a:t>    "language": "it",</a:t>
            </a:r>
          </a:p>
          <a:p>
            <a:r>
              <a:t>    "period_start": "2026-10-02",</a:t>
            </a:r>
          </a:p>
          <a:p>
            <a:r>
              <a:t>    "period_end": "2026-10-08",</a:t>
            </a:r>
          </a:p>
          <a:p>
            <a:r>
              <a:t>    "category_id": 143,</a:t>
            </a:r>
          </a:p>
          <a:p>
            <a:r>
              <a:t>    "category_name": "Face &amp; Body Care",</a:t>
            </a:r>
          </a:p>
          <a:p>
            <a:r>
              <a:t>    "search_property": "web",</a:t>
            </a:r>
          </a:p>
          <a:p>
            <a:r>
              <a:t>    "timezone": "UTC",</a:t>
            </a:r>
          </a:p>
          <a:p>
            <a:r>
              <a:t>    "source_url": "https://trends.google.com/trends/explore?cat=143&amp;date=2026-10-02+2026-10-08&amp;geo=IT&amp;hl=it",</a:t>
            </a:r>
          </a:p>
          <a:p>
            <a:r>
              <a:t>    "top": [</a:t>
            </a:r>
          </a:p>
          <a:p>
            <a:r>
              <a:t>      {</a:t>
            </a:r>
          </a:p>
          <a:p>
            <a:r>
              <a:t>        "query": "profumo",</a:t>
            </a:r>
          </a:p>
          <a:p>
            <a:r>
              <a:t>        "value": 100,</a:t>
            </a:r>
          </a:p>
          <a:p>
            <a:r>
              <a:t>        "source_rank": 1,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"crema",</a:t>
            </a:r>
          </a:p>
          <a:p>
            <a:r>
              <a:t>        "value": 93,</a:t>
            </a:r>
          </a:p>
          <a:p>
            <a:r>
              <a:t>        "source_rank": 2,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"unghie",</a:t>
            </a:r>
          </a:p>
          <a:p>
            <a:r>
              <a:t>        "value": 53,</a:t>
            </a:r>
          </a:p>
          <a:p>
            <a:r>
              <a:t>        "source_rank": 3,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"profumi",</a:t>
            </a:r>
          </a:p>
          <a:p>
            <a:r>
              <a:t>        "value": 36,</a:t>
            </a:r>
          </a:p>
          <a:p>
            <a:r>
              <a:t>        "source_rank": 4,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"sephora",</a:t>
            </a:r>
          </a:p>
          <a:p>
            <a:r>
              <a:t>        "value": 27,</a:t>
            </a:r>
          </a:p>
          <a:p>
            <a:r>
              <a:t>        "source_rank": 5,</a:t>
            </a:r>
          </a:p>
          <a:p>
            <a:r>
              <a:t>        "breakout": false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"rising": [</a:t>
            </a:r>
          </a:p>
          <a:p>
            <a:r>
              <a:t>      {</a:t>
            </a:r>
          </a:p>
          <a:p>
            <a:r>
              <a:t>        "query": "thierry mugler",</a:t>
            </a:r>
          </a:p>
          <a:p>
            <a:r>
              <a:t>        "value": 750,</a:t>
            </a:r>
          </a:p>
          <a:p>
            <a:r>
              <a:t>        "source_rank": 4,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"cicaplast baume b5 la roche posay",</a:t>
            </a:r>
          </a:p>
          <a:p>
            <a:r>
              <a:t>        "value": 250,</a:t>
            </a:r>
          </a:p>
          <a:p>
            <a:r>
              <a:t>        "source_rank": 6,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"medicube zero pore",</a:t>
            </a:r>
          </a:p>
          <a:p>
            <a:r>
              <a:t>        "value": 80,</a:t>
            </a:r>
          </a:p>
          <a:p>
            <a:r>
              <a:t>        "source_rank": 10,</a:t>
            </a:r>
          </a:p>
          <a:p>
            <a:r>
              <a:t>        "breakout": false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"interpretation": "Contesto beauty generale: queste ricerche non misurano la domanda specifica per Crème Sublime.",</a:t>
            </a:r>
          </a:p>
          <a:p>
            <a:r>
              <a:t>    "comparison_start": "2026-09-25",</a:t>
            </a:r>
          </a:p>
          <a:p>
            <a:r>
              <a:t>    "comparison_end": "2026-10-01",</a:t>
            </a:r>
          </a:p>
          <a:p>
            <a:r>
              <a:t>    "method_url": "https://support.google.com/trends/answer/4355000",</a:t>
            </a:r>
          </a:p>
          <a:p>
            <a:r>
              <a:t>    "response_sha256": "bee8b41bbdab53cc2f088805db4a2dc553a1d03b28ae5dfe7b7109056bdf90ce",</a:t>
            </a:r>
          </a:p>
          <a:p>
            <a:r>
              <a:t>    "selection_note": "Editorial relevance filter; original order, spelling and scores retained. Not exhaustive beauty search volumes."</a:t>
            </a:r>
          </a:p>
          <a:p>
            <a:r>
              <a:t>  },</a:t>
            </a:r>
          </a:p>
          <a:p>
            <a:r>
              <a:t>  "evidence": {</a:t>
            </a:r>
          </a:p>
          <a:p>
            <a:r>
              <a:t>    "retrieved_at": "2026-10-09T08:43:26.482419+00:00",</a:t>
            </a:r>
          </a:p>
          <a:p>
            <a:r>
              <a:t>    "geo": "IT",</a:t>
            </a:r>
          </a:p>
          <a:p>
            <a:r>
              <a:t>    "language": "it",</a:t>
            </a:r>
          </a:p>
          <a:p>
            <a:r>
              <a:t>    "period_start": "2026-10-02",</a:t>
            </a:r>
          </a:p>
          <a:p>
            <a:r>
              <a:t>    "period_end": "2026-10-08",</a:t>
            </a:r>
          </a:p>
          <a:p>
            <a:r>
              <a:t>    "category_id": 143,</a:t>
            </a:r>
          </a:p>
          <a:p>
            <a:r>
              <a:t>    "category_name": "Face &amp; Body Care",</a:t>
            </a:r>
          </a:p>
          <a:p>
            <a:r>
              <a:t>    "search_property": "web",</a:t>
            </a:r>
          </a:p>
          <a:p>
            <a:r>
              <a:t>    "timezone": "UTC",</a:t>
            </a:r>
          </a:p>
          <a:p>
            <a:r>
              <a:t>    "seed_keyword": "",</a:t>
            </a:r>
          </a:p>
          <a:p>
            <a:r>
              <a:t>    "source_url": "https://trends.google.com/trends/explore?cat=143&amp;date=2026-10-02+2026-10-08&amp;geo=IT&amp;hl=it",</a:t>
            </a:r>
          </a:p>
          <a:p>
            <a:r>
              <a:t>    "widget_request": {</a:t>
            </a:r>
          </a:p>
          <a:p>
            <a:r>
              <a:t>      "restriction": {</a:t>
            </a:r>
          </a:p>
          <a:p>
            <a:r>
              <a:t>        "geo": {</a:t>
            </a:r>
          </a:p>
          <a:p>
            <a:r>
              <a:t>          "country": "IT"</a:t>
            </a:r>
          </a:p>
          <a:p>
            <a:r>
              <a:t>        },</a:t>
            </a:r>
          </a:p>
          <a:p>
            <a:r>
              <a:t>        "time": "2026-10-02 2026-10-08",</a:t>
            </a:r>
          </a:p>
          <a:p>
            <a:r>
              <a:t>        "originalTimeRangeForExploreUrl": "2026-10-02 2026-10-08"</a:t>
            </a:r>
          </a:p>
          <a:p>
            <a:r>
              <a:t>      },</a:t>
            </a:r>
          </a:p>
          <a:p>
            <a:r>
              <a:t>      "keywordType": "QUERY",</a:t>
            </a:r>
          </a:p>
          <a:p>
            <a:r>
              <a:t>      "metric": [</a:t>
            </a:r>
          </a:p>
          <a:p>
            <a:r>
              <a:t>        "TOP",</a:t>
            </a:r>
          </a:p>
          <a:p>
            <a:r>
              <a:t>        "RISING"</a:t>
            </a:r>
          </a:p>
          <a:p>
            <a:r>
              <a:t>      ],</a:t>
            </a:r>
          </a:p>
          <a:p>
            <a:r>
              <a:t>      "trendinessSettings": {</a:t>
            </a:r>
          </a:p>
          <a:p>
            <a:r>
              <a:t>        "compareTime": "2026-09-25 2026-10-01"</a:t>
            </a:r>
          </a:p>
          <a:p>
            <a:r>
              <a:t>      },</a:t>
            </a:r>
          </a:p>
          <a:p>
            <a:r>
              <a:t>      "requestOptions": {</a:t>
            </a:r>
          </a:p>
          <a:p>
            <a:r>
              <a:t>        "property": "",</a:t>
            </a:r>
          </a:p>
          <a:p>
            <a:r>
              <a:t>        "backend": "IZG",</a:t>
            </a:r>
          </a:p>
          <a:p>
            <a:r>
              <a:t>        "category": 143</a:t>
            </a:r>
          </a:p>
          <a:p>
            <a:r>
              <a:t>      },</a:t>
            </a:r>
          </a:p>
          <a:p>
            <a:r>
              <a:t>      "language": "it",</a:t>
            </a:r>
          </a:p>
          <a:p>
            <a:r>
              <a:t>      "userCountryCode": "US",</a:t>
            </a:r>
          </a:p>
          <a:p>
            <a:r>
              <a:t>      "userConfig": {</a:t>
            </a:r>
          </a:p>
          <a:p>
            <a:r>
              <a:t>        "userType": "USER_TYPE_SCRAPER"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"response": {</a:t>
            </a:r>
          </a:p>
          <a:p>
            <a:r>
              <a:t>      "default": {</a:t>
            </a:r>
          </a:p>
          <a:p>
            <a:r>
              <a:t>        "rankedList": [</a:t>
            </a:r>
          </a:p>
          <a:p>
            <a:r>
              <a:t>          {</a:t>
            </a:r>
          </a:p>
          <a:p>
            <a:r>
              <a:t>            "rankedKeyword": [</a:t>
            </a:r>
          </a:p>
          <a:p>
            <a:r>
              <a:t>              {</a:t>
            </a:r>
          </a:p>
          <a:p>
            <a:r>
              <a:t>                "query": "profumo",</a:t>
            </a:r>
          </a:p>
          <a:p>
            <a:r>
              <a:t>                "value": 100,</a:t>
            </a:r>
          </a:p>
          <a:p>
            <a:r>
              <a:t>                "formattedValue": "100",</a:t>
            </a:r>
          </a:p>
          <a:p>
            <a:r>
              <a:t>                "hasData": true,</a:t>
            </a:r>
          </a:p>
          <a:p>
            <a:r>
              <a:t>                "link": "/trends/explore?q=profumo&amp;date=2026-10-02+2026-10-08&amp;geo=IT"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"crema",</a:t>
            </a:r>
          </a:p>
          <a:p>
            <a:r>
              <a:t>                "value": 93,</a:t>
            </a:r>
          </a:p>
          <a:p>
            <a:r>
              <a:t>                "formattedValue": "93",</a:t>
            </a:r>
          </a:p>
          <a:p>
            <a:r>
              <a:t>                "hasData": true,</a:t>
            </a:r>
          </a:p>
          <a:p>
            <a:r>
              <a:t>                "link": "/trends/explore?q=crema&amp;date=2026-10-02+2026-10-08&amp;geo=IT"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"unghie",</a:t>
            </a:r>
          </a:p>
          <a:p>
            <a:r>
              <a:t>                "value": 53,</a:t>
            </a:r>
          </a:p>
          <a:p>
            <a:r>
              <a:t>                "formattedValue": "53",</a:t>
            </a:r>
          </a:p>
          <a:p>
            <a:r>
              <a:t>                "hasData": true,</a:t>
            </a:r>
          </a:p>
          <a:p>
            <a:r>
              <a:t>                "link": "/trends/explore?q=unghie&amp;date=2026-10-02+2026-10-08&amp;geo=IT"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"profumi",</a:t>
            </a:r>
          </a:p>
          <a:p>
            <a:r>
              <a:t>                "value": 36,</a:t>
            </a:r>
          </a:p>
          <a:p>
            <a:r>
              <a:t>                "formattedValue": "36",</a:t>
            </a:r>
          </a:p>
          <a:p>
            <a:r>
              <a:t>                "hasData": true,</a:t>
            </a:r>
          </a:p>
          <a:p>
            <a:r>
              <a:t>                "link": "/trends/explore?q=profumi&amp;date=2026-10-02+2026-10-08&amp;geo=IT"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"sephora",</a:t>
            </a:r>
          </a:p>
          <a:p>
            <a:r>
              <a:t>                "value": 27,</a:t>
            </a:r>
          </a:p>
          <a:p>
            <a:r>
              <a:t>                "formattedValue": "27",</a:t>
            </a:r>
          </a:p>
          <a:p>
            <a:r>
              <a:t>                "hasData": true,</a:t>
            </a:r>
          </a:p>
          <a:p>
            <a:r>
              <a:t>                "link": "/trends/explore?q=sephora&amp;date=2026-10-02+2026-10-08&amp;geo=IT"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"amazon",</a:t>
            </a:r>
          </a:p>
          <a:p>
            <a:r>
              <a:t>                "value": 16,</a:t>
            </a:r>
          </a:p>
          <a:p>
            <a:r>
              <a:t>                "formattedValue": "16",</a:t>
            </a:r>
          </a:p>
          <a:p>
            <a:r>
              <a:t>                "hasData": true,</a:t>
            </a:r>
          </a:p>
          <a:p>
            <a:r>
              <a:t>                "link": "/trends/explore?q=amazon&amp;date=2026-10-02+2026-10-08&amp;geo=IT"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"fondotinta",</a:t>
            </a:r>
          </a:p>
          <a:p>
            <a:r>
              <a:t>                "value": 14,</a:t>
            </a:r>
          </a:p>
          <a:p>
            <a:r>
              <a:t>                "formattedValue": "14",</a:t>
            </a:r>
          </a:p>
          <a:p>
            <a:r>
              <a:t>                "hasData": true,</a:t>
            </a:r>
          </a:p>
          <a:p>
            <a:r>
              <a:t>                "link": "/trends/explore?q=fondotinta&amp;date=2026-10-02+2026-10-08&amp;geo=IT"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"profumo uomo",</a:t>
            </a:r>
          </a:p>
          <a:p>
            <a:r>
              <a:t>                "value": 13,</a:t>
            </a:r>
          </a:p>
          <a:p>
            <a:r>
              <a:t>                "formattedValue": "13",</a:t>
            </a:r>
          </a:p>
          <a:p>
            <a:r>
              <a:t>                "hasData": true,</a:t>
            </a:r>
          </a:p>
          <a:p>
            <a:r>
              <a:t>                "link": "/trends/explore?q=profumo+uomo&amp;date=2026-10-02+2026-10-08&amp;geo=IT"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"dior",</a:t>
            </a:r>
          </a:p>
          <a:p>
            <a:r>
              <a:t>                "value": 11,</a:t>
            </a:r>
          </a:p>
          <a:p>
            <a:r>
              <a:t>                "formattedValue": "11",</a:t>
            </a:r>
          </a:p>
          <a:p>
            <a:r>
              <a:t>                "hasData": true,</a:t>
            </a:r>
          </a:p>
          <a:p>
            <a:r>
              <a:t>                "link": "/trends/explore?q=dior&amp;date=2026-10-02+2026-10-08&amp;geo=IT"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"mascara",</a:t>
            </a:r>
          </a:p>
          <a:p>
            <a:r>
              <a:t>                "value": 11,</a:t>
            </a:r>
          </a:p>
          <a:p>
            <a:r>
              <a:t>                "formattedValue": "11",</a:t>
            </a:r>
          </a:p>
          <a:p>
            <a:r>
              <a:t>                "hasData": true,</a:t>
            </a:r>
          </a:p>
          <a:p>
            <a:r>
              <a:t>                "link": "/trends/explore?q=mascara&amp;date=2026-10-02+2026-10-08&amp;geo=IT"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"braun",</a:t>
            </a:r>
          </a:p>
          <a:p>
            <a:r>
              <a:t>                "value": 10,</a:t>
            </a:r>
          </a:p>
          <a:p>
            <a:r>
              <a:t>                "formattedValue": "10",</a:t>
            </a:r>
          </a:p>
          <a:p>
            <a:r>
              <a:t>                "hasData": true,</a:t>
            </a:r>
          </a:p>
          <a:p>
            <a:r>
              <a:t>                "link": "/trends/explore?q=braun&amp;date=2026-10-02+2026-10-08&amp;geo=IT"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"gabriele sabatini",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"/trends/explore?q=gabriele+sabatini&amp;date=2026-10-02+2026-10-08&amp;geo=IT"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"crema corpo",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"/trends/explore?q=crema+corpo&amp;date=2026-10-02+2026-10-08&amp;geo=IT"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"la roche posay",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"/trends/explore?q=la+roche+posay&amp;date=2026-10-02+2026-10-08&amp;geo=IT"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"bionike",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"/trends/explore?q=bionike&amp;date=2026-10-02+2026-10-08&amp;geo=IT"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"cerave",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"/trends/explore?q=cerave&amp;date=2026-10-02+2026-10-08&amp;geo=IT"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"fragrantica",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"/trends/explore?q=fragrantica&amp;date=2026-10-02+2026-10-08&amp;geo=IT"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"blush",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"/trends/explore?q=blush&amp;date=2026-10-02+2026-10-08&amp;geo=IT"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"makeup",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"/trends/explore?q=makeup&amp;date=2026-10-02+2026-10-08&amp;geo=IT"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"meteo",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"/trends/explore?q=meteo&amp;date=2026-10-02+2026-10-08&amp;geo=IT"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"guerlain",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"/trends/explore?q=guerlain&amp;date=2026-10-02+2026-10-08&amp;geo=IT"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"kiko",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"/trends/explore?q=kiko&amp;date=2026-10-02+2026-10-08&amp;geo=IT"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"caudalie",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"/trends/explore?q=caudalie&amp;date=2026-10-02+2026-10-08&amp;geo=IT"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"skincare",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"/trends/explore?q=skincare&amp;date=2026-10-02+2026-10-08&amp;geo=IT"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"avene",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"/trends/explore?q=avene&amp;date=2026-10-02+2026-10-08&amp;geo=IT"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"rankedKeyword": [</a:t>
            </a:r>
          </a:p>
          <a:p>
            <a:r>
              <a:t>              {</a:t>
            </a:r>
          </a:p>
          <a:p>
            <a:r>
              <a:t>                "query": "gabriele sabatini",</a:t>
            </a:r>
          </a:p>
          <a:p>
            <a:r>
              <a:t>                "value": 65050,</a:t>
            </a:r>
          </a:p>
          <a:p>
            <a:r>
              <a:t>                "formattedValue": "Impennata",</a:t>
            </a:r>
          </a:p>
          <a:p>
            <a:r>
              <a:t>                "link": "/trends/explore?q=gabriele+sabatini&amp;date=2026-10-02+2026-10-08&amp;geo=IT"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"settimana mondiale dello spazio 2026",</a:t>
            </a:r>
          </a:p>
          <a:p>
            <a:r>
              <a:t>                "value": 6500,</a:t>
            </a:r>
          </a:p>
          <a:p>
            <a:r>
              <a:t>                "formattedValue": "Impennata",</a:t>
            </a:r>
          </a:p>
          <a:p>
            <a:r>
              <a:t>                "link": "/trends/explore?q=settimana+mondiale+dello+spazio+2026&amp;date=2026-10-02+2026-10-08&amp;geo=IT"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"world space week 2026",</a:t>
            </a:r>
          </a:p>
          <a:p>
            <a:r>
              <a:t>                "value": 1100,</a:t>
            </a:r>
          </a:p>
          <a:p>
            <a:r>
              <a:t>                "formattedValue": "+1.100%",</a:t>
            </a:r>
          </a:p>
          <a:p>
            <a:r>
              <a:t>                "link": "/trends/explore?q=world+space+week+2026&amp;date=2026-10-02+2026-10-08&amp;geo=IT"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"thierry mugler",</a:t>
            </a:r>
          </a:p>
          <a:p>
            <a:r>
              <a:t>                "value": 750,</a:t>
            </a:r>
          </a:p>
          <a:p>
            <a:r>
              <a:t>                "formattedValue": "+750%",</a:t>
            </a:r>
          </a:p>
          <a:p>
            <a:r>
              <a:t>                "link": "/trends/explore?q=thierry+mugler&amp;date=2026-10-02+2026-10-08&amp;geo=IT"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"hazel eyes",</a:t>
            </a:r>
          </a:p>
          <a:p>
            <a:r>
              <a:t>                "value": 400,</a:t>
            </a:r>
          </a:p>
          <a:p>
            <a:r>
              <a:t>                "formattedValue": "+400%",</a:t>
            </a:r>
          </a:p>
          <a:p>
            <a:r>
              <a:t>                "link": "/trends/explore?q=hazel+eyes&amp;date=2026-10-02+2026-10-08&amp;geo=IT"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"cicaplast baume b5 la roche posay",</a:t>
            </a:r>
          </a:p>
          <a:p>
            <a:r>
              <a:t>                "value": 250,</a:t>
            </a:r>
          </a:p>
          <a:p>
            <a:r>
              <a:t>                "formattedValue": "+250%",</a:t>
            </a:r>
          </a:p>
          <a:p>
            <a:r>
              <a:t>                "link": "/trends/explore?q=cicaplast+baume+b5+la+roche+posay&amp;date=2026-10-02+2026-10-08&amp;geo=IT"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"meteo roma",</a:t>
            </a:r>
          </a:p>
          <a:p>
            <a:r>
              <a:t>                "value": 150,</a:t>
            </a:r>
          </a:p>
          <a:p>
            <a:r>
              <a:t>                "formattedValue": "+150%",</a:t>
            </a:r>
          </a:p>
          <a:p>
            <a:r>
              <a:t>                "link": "/trends/explore?q=meteo+roma&amp;date=2026-10-02+2026-10-08&amp;geo=IT"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"basalioma naso",</a:t>
            </a:r>
          </a:p>
          <a:p>
            <a:r>
              <a:t>                "value": 150,</a:t>
            </a:r>
          </a:p>
          <a:p>
            <a:r>
              <a:t>                "formattedValue": "+150%",</a:t>
            </a:r>
          </a:p>
          <a:p>
            <a:r>
              <a:t>                "link": "/trends/explore?q=basalioma+naso&amp;date=2026-10-02+2026-10-08&amp;geo=IT"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"whatsapp web",</a:t>
            </a:r>
          </a:p>
          <a:p>
            <a:r>
              <a:t>                "value": 90,</a:t>
            </a:r>
          </a:p>
          <a:p>
            <a:r>
              <a:t>                "formattedValue": "+90%",</a:t>
            </a:r>
          </a:p>
          <a:p>
            <a:r>
              <a:t>                "link": "/trends/explore?q=whatsapp+web&amp;date=2026-10-02+2026-10-08&amp;geo=IT"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"medicube zero pore",</a:t>
            </a:r>
          </a:p>
          <a:p>
            <a:r>
              <a:t>                "value": 80,</a:t>
            </a:r>
          </a:p>
          <a:p>
            <a:r>
              <a:t>                "formattedValue": "+80%",</a:t>
            </a:r>
          </a:p>
          <a:p>
            <a:r>
              <a:t>                "link": "/trends/explore?q=medicube+zero+pore&amp;date=2026-10-02+2026-10-08&amp;geo=IT"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"melasma",</a:t>
            </a:r>
          </a:p>
          <a:p>
            <a:r>
              <a:t>                "value": 70,</a:t>
            </a:r>
          </a:p>
          <a:p>
            <a:r>
              <a:t>                "formattedValue": "+70%",</a:t>
            </a:r>
          </a:p>
          <a:p>
            <a:r>
              <a:t>                "link": "/trends/explore?q=melasma&amp;date=2026-10-02+2026-10-08&amp;geo=IT"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"medicube",</a:t>
            </a:r>
          </a:p>
          <a:p>
            <a:r>
              <a:t>                "value": 70,</a:t>
            </a:r>
          </a:p>
          <a:p>
            <a:r>
              <a:t>                "formattedValue": "+70%",</a:t>
            </a:r>
          </a:p>
          <a:p>
            <a:r>
              <a:t>                "link": "/trends/explore?q=medicube&amp;date=2026-10-02+2026-10-08&amp;geo=IT"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"meteo crema",</a:t>
            </a:r>
          </a:p>
          <a:p>
            <a:r>
              <a:t>                "value": 60,</a:t>
            </a:r>
          </a:p>
          <a:p>
            <a:r>
              <a:t>                "formattedValue": "+60%",</a:t>
            </a:r>
          </a:p>
          <a:p>
            <a:r>
              <a:t>                "link": "/trends/explore?q=meteo+crema&amp;date=2026-10-02+2026-10-08&amp;geo=IT"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"meteo di domani",</a:t>
            </a:r>
          </a:p>
          <a:p>
            <a:r>
              <a:t>                "value": 50,</a:t>
            </a:r>
          </a:p>
          <a:p>
            <a:r>
              <a:t>                "formattedValue": "+50%",</a:t>
            </a:r>
          </a:p>
          <a:p>
            <a:r>
              <a:t>                "link": "/trends/explore?q=meteo+di+domani&amp;date=2026-10-02+2026-10-08&amp;geo=IT"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"meteo",</a:t>
            </a:r>
          </a:p>
          <a:p>
            <a:r>
              <a:t>                "value": 50,</a:t>
            </a:r>
          </a:p>
          <a:p>
            <a:r>
              <a:t>                "formattedValue": "+50%",</a:t>
            </a:r>
          </a:p>
          <a:p>
            <a:r>
              <a:t>                "link": "/trends/explore?q=meteo&amp;date=2026-10-02+2026-10-08&amp;geo=IT"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]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</a:t>
            </a:r>
          </a:p>
          <a:p>
            <a:r>
              <a:t>  {</a:t>
            </a:r>
          </a:p>
          <a:p>
            <a:r>
              <a:t>    "id": "cosrx",</a:t>
            </a:r>
          </a:p>
          <a:p>
            <a:r>
              <a:t>    "title": "COSRX Sets the Fall Skincare Agenda for Amazon Prime Big Deal Days",</a:t>
            </a:r>
          </a:p>
          <a:p>
            <a:r>
              <a:t>    "url": "https://en.prnasia.com/releases/global/cosrx-sets-the-fall-skincare-agenda-for-amazon-prime-big-deal-days-550478.shtml",</a:t>
            </a:r>
          </a:p>
          <a:p>
            <a:r>
              <a:t>    "publisher": "COSRX / PR Newswire",</a:t>
            </a:r>
          </a:p>
          <a:p>
            <a:r>
              <a:t>    "published_at": "2026-10-02T14:00:00+00:00",</a:t>
            </a:r>
          </a:p>
          <a:p>
            <a:r>
              <a:t>    "kind": "brand_promotion",</a:t>
            </a:r>
          </a:p>
          <a:p>
            <a:r>
              <a:t>    "brand": "COSRX",</a:t>
            </a:r>
          </a:p>
          <a:p>
            <a:r>
              <a:t>    "event_start": "2026-10-06",</a:t>
            </a:r>
          </a:p>
          <a:p>
            <a:r>
              <a:t>    "event_end": "2026-10-07",</a:t>
            </a:r>
          </a:p>
          <a:p>
            <a:r>
              <a:t>    "topics": [</a:t>
            </a:r>
          </a:p>
          <a:p>
            <a:r>
              <a:t>      "peptides",</a:t>
            </a:r>
          </a:p>
          <a:p>
            <a:r>
              <a:t>      "ceramides",</a:t>
            </a:r>
          </a:p>
          <a:p>
            <a:r>
              <a:t>      "barrier"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"Peptide",</a:t>
            </a:r>
          </a:p>
          <a:p>
            <a:r>
              <a:t>      "Ceramide",</a:t>
            </a:r>
          </a:p>
          <a:p>
            <a:r>
              <a:t>      "October 6"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"COSRX : offre des 6–7 octobre centrée sur peptides et soin de la barrière. Promotion terminée.",</a:t>
            </a:r>
          </a:p>
          <a:p>
            <a:r>
              <a:t>      "it": "COSRX: promozione del 6–7 ottobre su peptidi e cura della barriera. Offerta conclusa."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"COSRX : offre Prime Big Deal Days",</a:t>
            </a:r>
          </a:p>
          <a:p>
            <a:r>
              <a:t>      "it": "COSRX: offerta Prime Big Deal Days"</a:t>
            </a:r>
          </a:p>
          <a:p>
            <a:r>
              <a:t>    },</a:t>
            </a:r>
          </a:p>
          <a:p>
            <a:r>
              <a:t>    "review_note": "Primary release reread; JSON-LD timestamp is October 2 at 22:00 +08:00, confirmed as 10:00 ET by PR Newswire. October 6–7 promotion has ended. Ingredient families support editorial selection, not a RIGIN-specific trend.",</a:t>
            </a:r>
          </a:p>
          <a:p>
            <a:r>
              <a:t>    "reviewed_at": "2026-10-09T08:43:19.459670+00:00",</a:t>
            </a:r>
          </a:p>
          <a:p>
            <a:r>
              <a:t>    "in_week": true,</a:t>
            </a:r>
          </a:p>
          <a:p>
            <a:r>
              <a:t>    "checked_at": "2026-10-09T08:44:22.768219+00:00",</a:t>
            </a:r>
          </a:p>
          <a:p>
            <a:r>
              <a:t>    "content_sha256": "860a945a6f657255731ede137003d2a5911549131d39f066c858b3228f02f3ca"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"id": "byoma",</a:t>
            </a:r>
          </a:p>
          <a:p>
            <a:r>
              <a:t>    "title": "September beauty launches reviewed",</a:t>
            </a:r>
          </a:p>
          <a:p>
            <a:r>
              <a:t>    "url": "https://www.marieclaire.com/beauty/best-new-beauty-products-september-2026/",</a:t>
            </a:r>
          </a:p>
          <a:p>
            <a:r>
              <a:t>    "publisher": "Marie Claire",</a:t>
            </a:r>
          </a:p>
          <a:p>
            <a:r>
              <a:t>    "published_at": "2026-10-02T18:01:50+00:00",</a:t>
            </a:r>
          </a:p>
          <a:p>
            <a:r>
              <a:t>    "kind": "editorial",</a:t>
            </a:r>
          </a:p>
          <a:p>
            <a:r>
              <a:t>    "brand": "BYOMA",</a:t>
            </a:r>
          </a:p>
          <a:p>
            <a:r>
              <a:t>    "topics": [</a:t>
            </a:r>
          </a:p>
          <a:p>
            <a:r>
              <a:t>      "peptides",</a:t>
            </a:r>
          </a:p>
          <a:p>
            <a:r>
              <a:t>      "ceramides"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"Byoma",</a:t>
            </a:r>
          </a:p>
          <a:p>
            <a:r>
              <a:t>      "tri-ceramide"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"BYOMA : peptides + tri-céramides.",</a:t>
            </a:r>
          </a:p>
          <a:p>
            <a:r>
              <a:t>      "it": "BYOMA: peptidi + tri-ceramidi."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"Nouveautés beauté de septembre",</a:t>
            </a:r>
          </a:p>
          <a:p>
            <a:r>
              <a:t>      "it": "Novità beauty di settembre"</a:t>
            </a:r>
          </a:p>
          <a:p>
            <a:r>
              <a:t>    },</a:t>
            </a:r>
          </a:p>
          <a:p>
            <a:r>
              <a:t>    "review_note": "Ingredient section reread; brief topical summary retained.",</a:t>
            </a:r>
          </a:p>
          <a:p>
            <a:r>
              <a:t>    "reviewed_at": "2026-10-09T08:43:19.459670+00:00",</a:t>
            </a:r>
          </a:p>
          <a:p>
            <a:r>
              <a:t>    "in_week": true,</a:t>
            </a:r>
          </a:p>
          <a:p>
            <a:r>
              <a:t>    "checked_at": "2026-10-09T08:44:22.768219+00:00",</a:t>
            </a:r>
          </a:p>
          <a:p>
            <a:r>
              <a:t>    "content_sha256": "4a2ad3ddc42832fa3640d97ba0a52c797d99523b8309076ccbccb08c03ed7583"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"id": "cerave",</a:t>
            </a:r>
          </a:p>
          <a:p>
            <a:r>
              <a:t>    "title": "CeraVe HK ditches the hard sell to win over Gen Z",</a:t>
            </a:r>
          </a:p>
          <a:p>
            <a:r>
              <a:t>    "url": "https://www.marketing-interactive.com/cerave-hk-ditches-the-hard-sell-to-win-over-genz",</a:t>
            </a:r>
          </a:p>
          <a:p>
            <a:r>
              <a:t>    "publisher": "Marketing-Interactive",</a:t>
            </a:r>
          </a:p>
          <a:p>
            <a:r>
              <a:t>    "published_at": "2026-09-24T00:00:00+00:00",</a:t>
            </a:r>
          </a:p>
          <a:p>
            <a:r>
              <a:t>    "kind": "advertising_campaign",</a:t>
            </a:r>
          </a:p>
          <a:p>
            <a:r>
              <a:t>    "brand": "CeraVe",</a:t>
            </a:r>
          </a:p>
          <a:p>
            <a:r>
              <a:t>    "event_start": "2026-09-01",</a:t>
            </a:r>
          </a:p>
          <a:p>
            <a:r>
              <a:t>    "event_end": "2026-11-30",</a:t>
            </a:r>
          </a:p>
          <a:p>
            <a:r>
              <a:t>    "topics": [</a:t>
            </a:r>
          </a:p>
          <a:p>
            <a:r>
              <a:t>      "social_creative"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"September to November 2026",</a:t>
            </a:r>
          </a:p>
          <a:p>
            <a:r>
              <a:t>      "six-second Reels"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"CeraVe, Hong Kong : campagne annoncée active sept.–nov., Reels courts et découverte produit. Article du 24 septembre.",</a:t>
            </a:r>
          </a:p>
          <a:p>
            <a:r>
              <a:t>      "it": "CeraVe, Hong Kong: campagna annunciata attiva sett.–nov., Reel brevi e scoperta prodotto. Articolo del 24 settembre."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"CeraVe Hong Kong : la campagne « anti-publicité »",</a:t>
            </a:r>
          </a:p>
          <a:p>
            <a:r>
              <a:t>      "it": "CeraVe Hong Kong: la campagna «anti-pubblicità»"</a:t>
            </a:r>
          </a:p>
          <a:p>
            <a:r>
              <a:t>    },</a:t>
            </a:r>
          </a:p>
          <a:p>
            <a:r>
              <a:t>    "review_note": "Trade article reread. Original September 24 date retained; announced September–November 2026 activity and six-second Reels confirmed. Paid delivery and spend are not verified.",</a:t>
            </a:r>
          </a:p>
          <a:p>
            <a:r>
              <a:t>    "reviewed_at": "2026-10-09T08:43:19.459670+00:00",</a:t>
            </a:r>
          </a:p>
          <a:p>
            <a:r>
              <a:t>    "in_week": false,</a:t>
            </a:r>
          </a:p>
          <a:p>
            <a:r>
              <a:t>    "checked_at": "2026-10-09T08:44:22.768219+00:00",</a:t>
            </a:r>
          </a:p>
          <a:p>
            <a:r>
              <a:t>    "content_sha256": "2d71a384a3a78314c9744ccb8d1f80146366c71af7fb37c07bb64e5e398c0e02"</a:t>
            </a:r>
          </a:p>
          <a:p>
            <a:r>
              <a:t>  }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en.prnasia.com/releases/global/cosrx-sets-the-fall-skincare-agenda-for-amazon-prime-big-deal-days-550478.shtml" TargetMode="External"/><Relationship Id="rId4" Type="http://schemas.openxmlformats.org/officeDocument/2006/relationships/hyperlink" Target="https://www.marieclaire.com/beauty/best-new-beauty-products-september-2026/" TargetMode="External"/><Relationship Id="rId5" Type="http://schemas.openxmlformats.org/officeDocument/2006/relationships/hyperlink" Target="https://www.marketing-interactive.com/cerave-hk-ditches-the-hard-sell-to-win-over-genz" TargetMode="Externa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ioma-paris.com/products/creme-sublime-revitalisante" TargetMode="Externa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trends.google.com/trends/explore?cat=143&amp;date=2026-10-02+2026-10-08&amp;geo=IT&amp;hl=it" TargetMode="External"/><Relationship Id="rId4" Type="http://schemas.openxmlformats.org/officeDocument/2006/relationships/hyperlink" Target="https://support.google.com/trends/answer/4355000" TargetMode="Externa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marieclaire.com/beauty/best-new-beauty-products-september-2026/" TargetMode="External"/><Relationship Id="rId4" Type="http://schemas.openxmlformats.org/officeDocument/2006/relationships/hyperlink" Target="https://www.marketing-interactive.com/cerave-hk-ditches-the-hard-sell-to-win-over-genz" TargetMode="External"/><Relationship Id="rId5" Type="http://schemas.openxmlformats.org/officeDocument/2006/relationships/hyperlink" Target="https://en.prnasia.com/releases/global/cosrx-sets-the-fall-skincare-agenda-for-amazon-prime-big-deal-days-550478.shtml" TargetMode="External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02.10.2026 — 09.10.2026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>
                <a:solidFill>
                  <a:srgbClr val="262320"/>
                </a:solidFill>
                <a:latin typeface="Cormorant Garamond"/>
              </a:defRPr>
            </a:pPr>
            <a:r>
              <a:t>La settimana skincare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Segnali editoriali, attivi e campagne osservate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01  SKINCARE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02  INGREDIENTI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3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03  PUBBLICITÀ &amp; PROMOZIONI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1583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72384"/>
            <a:ext cx="3502152" cy="68580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262320"/>
                </a:solidFill>
                <a:latin typeface="Cormorant Garamond"/>
              </a:defRPr>
            </a:pPr>
            <a:r>
              <a:t>Barriera &amp; compattezza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77056"/>
            <a:ext cx="3502152" cy="10789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In autunno, legare comfort e compattezza a due riferimenti della formula: ceramidi e peptide.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38928"/>
            <a:ext cx="3502152" cy="5029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BYOMA: peptidi + tri-ceramidi.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3072384"/>
            <a:ext cx="3502152" cy="10058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62320"/>
                </a:solidFill>
                <a:latin typeface="Cormorant Garamond"/>
              </a:defRPr>
            </a:pPr>
            <a:r>
              <a:t>Ceramidi + Peptide RIGIN™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5112" y="4279392"/>
            <a:ext cx="3502152" cy="12618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262320"/>
                </a:solidFill>
                <a:latin typeface="DejaVu Sans"/>
              </a:defRPr>
            </a:pPr>
            <a:r>
              <a:t>Ceramidi e peptide RIGIN™ verificati nella formula IOMA. Le fonti citano queste famiglie, senza dimostrare la popolarità di RIGIN™.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1583" y="3090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COSRX: promozione del 6–7 ottobre su peptidi e cura della barriera. Offerta conclusa.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1583" y="4233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CeraVe, Hong Kong: campagna annunciata attiva sett.–nov., Reel brevi e scoperta prodotto. Articolo del 24 settembre.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1583" y="5559552"/>
            <a:ext cx="3502152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Osservazione internazionale; erogazione paid e budget non verificati.</a:t>
            </a:r>
          </a:p>
        </p:txBody>
      </p:sp>
      <p:sp>
        <p:nvSpPr>
          <p:cNvPr id="24" name="TextBox 23">
            <a:hlinkClick r:id="rId3"/>
          </p:cNvPr>
          <p:cNvSpPr txBox="1"/>
          <p:nvPr/>
        </p:nvSpPr>
        <p:spPr>
          <a:xfrm>
            <a:off x="548640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[1] COSRX / PR Newswire · 02/10</a:t>
            </a:r>
          </a:p>
        </p:txBody>
      </p:sp>
      <p:sp>
        <p:nvSpPr>
          <p:cNvPr id="25" name="TextBox 24">
            <a:hlinkClick r:id="rId4"/>
          </p:cNvPr>
          <p:cNvSpPr txBox="1"/>
          <p:nvPr/>
        </p:nvSpPr>
        <p:spPr>
          <a:xfrm>
            <a:off x="4325112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[2] Marie Claire · 02/10</a:t>
            </a:r>
          </a:p>
        </p:txBody>
      </p:sp>
      <p:sp>
        <p:nvSpPr>
          <p:cNvPr id="26" name="TextBox 25">
            <a:hlinkClick r:id="rId5"/>
          </p:cNvPr>
          <p:cNvSpPr txBox="1"/>
          <p:nvPr/>
        </p:nvSpPr>
        <p:spPr>
          <a:xfrm>
            <a:off x="8101583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[3] Marketing-Interactive · 24/09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02.10.2026 — 09.10.2026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33271"/>
            <a:ext cx="11064240" cy="5669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62320"/>
                </a:solidFill>
                <a:latin typeface="Cormorant Garamond"/>
              </a:defRPr>
            </a:pPr>
            <a:r>
              <a:t>Crème Sublime Revitalisante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Dai trend ai contenuti social</a:t>
            </a:r>
          </a:p>
        </p:txBody>
      </p:sp>
      <p:pic>
        <p:nvPicPr>
          <p:cNvPr id="10" name="Picture 9" descr="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13432"/>
            <a:ext cx="2926079" cy="3657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58768" y="2368296"/>
            <a:ext cx="722376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IL PRODOTTO E IL COLLEGAMENTO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2807208"/>
            <a:ext cx="7333488" cy="8961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Crème Sublime unisce nutrimento e compattezza. Ceramidi e peptide RIGIN™ collegano la lettura della sua formula alle famiglie citate questa settimana.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3767328"/>
            <a:ext cx="7333488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645E57"/>
                </a:solidFill>
                <a:latin typeface="DejaVu Sans"/>
              </a:defRPr>
            </a:pPr>
            <a:r>
              <a:t>Ipotesi di pubblico: persone che cercano nutrimento, comfort e compattezza.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58768" y="4425696"/>
            <a:ext cx="7726679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8" y="4590288"/>
            <a:ext cx="7333488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ATTIVAZIONE DA TESTARE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4983480"/>
            <a:ext cx="7333488" cy="70408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Feed: nutrimento, compattezza e due attivi. Story: scoperta della formula. Reel da testare: 6–10 s, texture e applicazione. Banner: scoperta del trattamento.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5779008"/>
            <a:ext cx="7333488" cy="5760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645E57"/>
                </a:solidFill>
                <a:latin typeface="DejaVu Sans"/>
              </a:defRPr>
            </a:pPr>
            <a:r>
              <a:t>Testare « barriera » contro « compattezza » con pubblico e budget uguali. Confrontare clic e visite alla scheda prodotto.</a:t>
            </a:r>
          </a:p>
        </p:txBody>
      </p:sp>
      <p:sp>
        <p:nvSpPr>
          <p:cNvPr id="18" name="TextBox 17">
            <a:hlinkClick r:id="rId4"/>
          </p:cNvPr>
          <p:cNvSpPr txBox="1"/>
          <p:nvPr/>
        </p:nvSpPr>
        <p:spPr>
          <a:xfrm>
            <a:off x="548640" y="6181344"/>
            <a:ext cx="292608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Formula e INCI IOMA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02.10.2026 — 08.10.2026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62320"/>
                </a:solidFill>
                <a:latin typeface="Cormorant Garamond"/>
              </a:defRPr>
            </a:pPr>
            <a:r>
              <a:t>Le ricerche beauty su Google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Italia · Cura di viso e corpo · Ricerca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66928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QUERY PRINCIPALI · INDICE 0–100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31720"/>
            <a:ext cx="502920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IN CRESCITA · SELEZIONE BEAUTY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34056"/>
            <a:ext cx="521208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2734056"/>
            <a:ext cx="502920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98648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profumo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898648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64991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crema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364991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93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31335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unghie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3831335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53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97680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profumi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4297680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36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64024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sephora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4764024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89864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thierry mugler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289864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+750 %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63016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cicaplast baume b5 la roche posay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363016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+250 %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36168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medicube zero pore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436168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+80 %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376672"/>
            <a:ext cx="11064240" cy="29260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Indice relativo, non volume. Crescita rispetto al 25.09.2026–01.10.2026.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760720"/>
            <a:ext cx="11064240" cy="4389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262320"/>
                </a:solidFill>
                <a:latin typeface="DejaVu Sans"/>
              </a:defRPr>
            </a:pPr>
            <a:r>
              <a:t>Contesto beauty generale: queste ricerche non misurano la domanda specifica per Crème Sublime.</a:t>
            </a:r>
          </a:p>
        </p:txBody>
      </p:sp>
      <p:sp>
        <p:nvSpPr>
          <p:cNvPr id="32" name="TextBox 31">
            <a:hlinkClick r:id="rId3"/>
          </p:cNvPr>
          <p:cNvSpPr txBox="1"/>
          <p:nvPr/>
        </p:nvSpPr>
        <p:spPr>
          <a:xfrm>
            <a:off x="548640" y="6254496"/>
            <a:ext cx="4114800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Google Trends · apri i dati</a:t>
            </a:r>
          </a:p>
        </p:txBody>
      </p:sp>
      <p:sp>
        <p:nvSpPr>
          <p:cNvPr id="33" name="TextBox 32">
            <a:hlinkClick r:id="rId4"/>
          </p:cNvPr>
          <p:cNvSpPr txBox="1"/>
          <p:nvPr/>
        </p:nvSpPr>
        <p:spPr>
          <a:xfrm>
            <a:off x="4937760" y="6254496"/>
            <a:ext cx="6675120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Selezione pertinente; ordine Google conservato. Metodo 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02.10.2026 — 09.10.2026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>
                <a:solidFill>
                  <a:srgbClr val="262320"/>
                </a:solidFill>
                <a:latin typeface="Cormorant Garamond"/>
              </a:defRPr>
            </a:pPr>
            <a:r>
              <a:t>Articoli e fonti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Apri le pubblicazioni citate nel radar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Marie Claire  ·  02.10.2026  ·  ARTICOLO EDITORIALE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34056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Novità beauty di settembre</a:t>
            </a:r>
          </a:p>
        </p:txBody>
      </p:sp>
      <p:sp>
        <p:nvSpPr>
          <p:cNvPr id="12" name="TextBox 11">
            <a:hlinkClick r:id="rId3"/>
          </p:cNvPr>
          <p:cNvSpPr txBox="1"/>
          <p:nvPr/>
        </p:nvSpPr>
        <p:spPr>
          <a:xfrm>
            <a:off x="9326880" y="2779776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3"/>
              </a:rPr>
              <a:t>Leggi l’articolo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74136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557015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Marketing-Interactive  ·  24.09.2026  ·  STAMPA MARKETING · CAMPAGNA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67911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CeraVe Hong Kong: la campagna «anti-pubblicità»</a:t>
            </a:r>
          </a:p>
        </p:txBody>
      </p:sp>
      <p:sp>
        <p:nvSpPr>
          <p:cNvPr id="16" name="TextBox 15">
            <a:hlinkClick r:id="rId4"/>
          </p:cNvPr>
          <p:cNvSpPr txBox="1"/>
          <p:nvPr/>
        </p:nvSpPr>
        <p:spPr>
          <a:xfrm>
            <a:off x="9326880" y="3913631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4"/>
              </a:rPr>
              <a:t>Leggi l’articolo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07992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690872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COSRX / PR Newswire  ·  02.10.2026  ·  COMUNICATO DEL MARCHIO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01768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COSRX: offerta Prime Big Deal Days</a:t>
            </a:r>
          </a:p>
        </p:txBody>
      </p:sp>
      <p:sp>
        <p:nvSpPr>
          <p:cNvPr id="20" name="TextBox 19">
            <a:hlinkClick r:id="rId5"/>
          </p:cNvPr>
          <p:cNvSpPr txBox="1"/>
          <p:nvPr/>
        </p:nvSpPr>
        <p:spPr>
          <a:xfrm>
            <a:off x="9326880" y="5047488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5"/>
              </a:rPr>
              <a:t>Leggi il comunicato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6418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Data di pubblicazione indicata; periodo delle campagne precisato a pagina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IOMA Beauty Radar — IT</dc:title>
  <dc:subject/>
  <dc:creator>IOMA Paris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