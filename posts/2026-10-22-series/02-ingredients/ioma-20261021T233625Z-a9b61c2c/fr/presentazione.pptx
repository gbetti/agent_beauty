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"reviewed_at": "2026-10-21T23:33:26.399058+00:00",</a:t>
            </a:r>
          </a:p>
          <a:p>
            <a:r>
              <a:t>  "product_key": "creme-genereuse-contour-des-yeux",</a:t>
            </a:r>
          </a:p>
          <a:p>
            <a:r>
              <a:t>  "sources": [</a:t>
            </a:r>
          </a:p>
          <a:p>
            <a:r>
              <a:t>    {</a:t>
            </a:r>
          </a:p>
          <a:p>
            <a:r>
              <a:t>      "id": "arpy-eye",</a:t>
            </a:r>
          </a:p>
          <a:p>
            <a:r>
              <a:t>      "title": "peptide eye cream: what’s in it, and how and when to use it",</a:t>
            </a:r>
          </a:p>
          <a:p>
            <a:r>
              <a:t>      "url": "https://arpyskin.com/blogs/guides/peptide-eye-cream",</a:t>
            </a:r>
          </a:p>
          <a:p>
            <a:r>
              <a:t>      "publisher": "arpy",</a:t>
            </a:r>
          </a:p>
          <a:p>
            <a:r>
              <a:t>      "published_at": "2026-10-15T00:00:00+00:00",</a:t>
            </a:r>
          </a:p>
          <a:p>
            <a:r>
              <a:t>      "kind": "brand_promotion",</a:t>
            </a:r>
          </a:p>
          <a:p>
            <a:r>
              <a:t>      "brand": "arpy",</a:t>
            </a:r>
          </a:p>
          <a:p>
            <a:r>
              <a:t>      "topics": [</a:t>
            </a:r>
          </a:p>
          <a:p>
            <a:r>
              <a:t>        "peptides",</a:t>
            </a:r>
          </a:p>
          <a:p>
            <a:r>
              <a:t>        "vitamin-e",</a:t>
            </a:r>
          </a:p>
          <a:p>
            <a:r>
              <a:t>        "glycerin"</a:t>
            </a:r>
          </a:p>
          <a:p>
            <a:r>
              <a:t>      ],</a:t>
            </a:r>
          </a:p>
          <a:p>
            <a:r>
              <a:t>      "evidence_terms": [</a:t>
            </a:r>
          </a:p>
          <a:p>
            <a:r>
              <a:t>        "October 15, 2026",</a:t>
            </a:r>
          </a:p>
          <a:p>
            <a:r>
              <a:t>        "peptides",</a:t>
            </a:r>
          </a:p>
          <a:p>
            <a:r>
              <a:t>        "tocopherol: vitamin E",</a:t>
            </a:r>
          </a:p>
          <a:p>
            <a:r>
              <a:t>        "glycerin is a humectant"</a:t>
            </a:r>
          </a:p>
          <a:p>
            <a:r>
              <a:t>      ],</a:t>
            </a:r>
          </a:p>
          <a:p>
            <a:r>
              <a:t>      "summary": {</a:t>
            </a:r>
          </a:p>
          <a:p>
            <a:r>
              <a:t>        "fr": "arpy : contenu de marque du 15 octobre sur les peptides du contour des yeux. Ce n’est pas une annonce payante vérifiée.",</a:t>
            </a:r>
          </a:p>
          <a:p>
            <a:r>
              <a:t>        "it": "arpy: contenuto del marchio del 15 ottobre sui peptidi nel contorno occhi. Non è una campagna paid verificata."</a:t>
            </a:r>
          </a:p>
          <a:p>
            <a:r>
              <a:t>      },</a:t>
            </a:r>
          </a:p>
          <a:p>
            <a:r>
              <a:t>      "display_title": {</a:t>
            </a:r>
          </a:p>
          <a:p>
            <a:r>
              <a:t>        "fr": "Peptides &amp; contour des yeux : guide de marque",</a:t>
            </a:r>
          </a:p>
          <a:p>
            <a:r>
              <a:t>        "it": "Peptidi e contorno occhi: guida del marchio"</a:t>
            </a:r>
          </a:p>
          <a:p>
            <a:r>
              <a:t>      },</a:t>
            </a:r>
          </a:p>
          <a:p>
            <a:r>
              <a:t>      "in_week": true,</a:t>
            </a:r>
          </a:p>
          <a:p>
            <a:r>
              <a:t>      "checked_at": "2026-10-21T23:36:25.189922+00:00",</a:t>
            </a:r>
          </a:p>
          <a:p>
            <a:r>
              <a:t>      "content_sha256": "5635edc23b241274ea06f3cb61641693d863ef0d1b94408444ad281883d12d7b"</a:t>
            </a:r>
          </a:p>
          <a:p>
            <a:r>
              <a:t>    },</a:t>
            </a:r>
          </a:p>
          <a:p>
            <a:r>
              <a:t>    {</a:t>
            </a:r>
          </a:p>
          <a:p>
            <a:r>
              <a:t>      "id": "cerave",</a:t>
            </a:r>
          </a:p>
          <a:p>
            <a:r>
              <a:t>      "title": "CeraVe Hong Kong campaign",</a:t>
            </a:r>
          </a:p>
          <a:p>
            <a:r>
              <a:t>      "url": "https://www.marketing-interactive.com/cerave-hk-ditches-the-hard-sell-to-win-over-genz",</a:t>
            </a:r>
          </a:p>
          <a:p>
            <a:r>
              <a:t>      "publisher": "Marketing-Interactive",</a:t>
            </a:r>
          </a:p>
          <a:p>
            <a:r>
              <a:t>      "published_at": "2026-09-24T00:00:00+00:00",</a:t>
            </a:r>
          </a:p>
          <a:p>
            <a:r>
              <a:t>      "kind": "advertising_campaign",</a:t>
            </a:r>
          </a:p>
          <a:p>
            <a:r>
              <a:t>      "brand": "CeraVe",</a:t>
            </a:r>
          </a:p>
          <a:p>
            <a:r>
              <a:t>      "event_start": "2026-09-01",</a:t>
            </a:r>
          </a:p>
          <a:p>
            <a:r>
              <a:t>      "event_end": "2026-11-30",</a:t>
            </a:r>
          </a:p>
          <a:p>
            <a:r>
              <a:t>      "topics": [</a:t>
            </a:r>
          </a:p>
          <a:p>
            <a:r>
              <a:t>        "social_creative"</a:t>
            </a:r>
          </a:p>
          <a:p>
            <a:r>
              <a:t>      ],</a:t>
            </a:r>
          </a:p>
          <a:p>
            <a:r>
              <a:t>      "evidence_terms": [</a:t>
            </a:r>
          </a:p>
          <a:p>
            <a:r>
              <a:t>        "September to November 2026",</a:t>
            </a:r>
          </a:p>
          <a:p>
            <a:r>
              <a:t>        "six-second Reels"</a:t>
            </a:r>
          </a:p>
          <a:p>
            <a:r>
              <a:t>      ],</a:t>
            </a:r>
          </a:p>
          <a:p>
            <a:r>
              <a:t>      "summary": {</a:t>
            </a:r>
          </a:p>
          <a:p>
            <a:r>
              <a:t>        "fr": "CeraVe, Hong Kong : campagne prévue sept.–nov. 2026, dont Reels de 6 s. Article du 24 septembre.",</a:t>
            </a:r>
          </a:p>
          <a:p>
            <a:r>
              <a:t>        "it": "CeraVe, Hong Kong: campagna prevista sett.–nov. 2026, con Reel da 6 s. Articolo del 24 settembre."</a:t>
            </a:r>
          </a:p>
          <a:p>
            <a:r>
              <a:t>      },</a:t>
            </a:r>
          </a:p>
          <a:p>
            <a:r>
              <a:t>      "display_title": {</a:t>
            </a:r>
          </a:p>
          <a:p>
            <a:r>
              <a:t>        "fr": "CeraVe Hong Kong : la campagne « anti-publicité »",</a:t>
            </a:r>
          </a:p>
          <a:p>
            <a:r>
              <a:t>        "it": "CeraVe Hong Kong: la campagna «anti-pubblicità»"</a:t>
            </a:r>
          </a:p>
          <a:p>
            <a:r>
              <a:t>      },</a:t>
            </a:r>
          </a:p>
          <a:p>
            <a:r>
              <a:t>      "in_week": false,</a:t>
            </a:r>
          </a:p>
          <a:p>
            <a:r>
              <a:t>      "checked_at": "2026-10-21T23:36:25.189922+00:00",</a:t>
            </a:r>
          </a:p>
          <a:p>
            <a:r>
              <a:t>      "content_sha256": "f36f609e57c2a10bb6e40e7893d923e80dabf309ece01798c2e3562c7ca8f0ef"</a:t>
            </a:r>
          </a:p>
          <a:p>
            <a:r>
              <a:t>    }</a:t>
            </a:r>
          </a:p>
          <a:p>
            <a:r>
              <a:t>  ],</a:t>
            </a:r>
          </a:p>
          <a:p>
            <a:r>
              <a:t>  "signal_title": {</a:t>
            </a:r>
          </a:p>
          <a:p>
            <a:r>
              <a:t>    "fr": "Le soin ciblé",</a:t>
            </a:r>
          </a:p>
          <a:p>
            <a:r>
              <a:t>    "it": "La cura mirata"</a:t>
            </a:r>
          </a:p>
          <a:p>
            <a:r>
              <a:t>  },</a:t>
            </a:r>
          </a:p>
          <a:p>
            <a:r>
              <a:t>  "insight": {</a:t>
            </a:r>
          </a:p>
          <a:p>
            <a:r>
              <a:t>    "fr": "Angle proposé : associer le confort de la routine à un soin ciblé pour les rides du regard.",</a:t>
            </a:r>
          </a:p>
          <a:p>
            <a:r>
              <a:t>    "it": "Angolo proposto: unire il comfort della routine a un trattamento mirato per le rughe del contorno occhi."</a:t>
            </a:r>
          </a:p>
          <a:p>
            <a:r>
              <a:t>  },</a:t>
            </a:r>
          </a:p>
          <a:p>
            <a:r>
              <a:t>  "strategy": {</a:t>
            </a:r>
          </a:p>
          <a:p>
            <a:r>
              <a:t>    "fr": {</a:t>
            </a:r>
          </a:p>
          <a:p>
            <a:r>
              <a:t>      "positioning": "Crème Généreuse lisse les rides et aide à raffermir le contour des yeux. Peptides et vitamine E : présents dans son INCI et cités dans le récent contenu arpy.",</a:t>
            </a:r>
          </a:p>
          <a:p>
            <a:r>
              <a:t>      "audience": "Hypothèse de cible : personnes recherchant un soin ciblé pour les rides du contour des yeux.",</a:t>
            </a:r>
          </a:p>
          <a:p>
            <a:r>
              <a:t>      "activation": "Alterner claim, inspiration animée et avis client. Email avec lien du post publié.",</a:t>
            </a:r>
          </a:p>
          <a:p>
            <a:r>
              <a:t>      "measurement": "Comparer enregistrements et visites produit par format. Ne pas déduire une efficacité du soin."</a:t>
            </a:r>
          </a:p>
          <a:p>
            <a:r>
              <a:t>    },</a:t>
            </a:r>
          </a:p>
          <a:p>
            <a:r>
              <a:t>    "it": {</a:t>
            </a:r>
          </a:p>
          <a:p>
            <a:r>
              <a:t>      "positioning": "Crème Généreuse leviga le rughe e aiuta a rassodare il contorno occhi. Peptidi e vitamina E: presenti nel suo INCI e citati nel recente contenuto arpy.",</a:t>
            </a:r>
          </a:p>
          <a:p>
            <a:r>
              <a:t>      "audience": "Ipotesi di pubblico: persone che cercano una cura mirata per le rughe del contorno occhi.",</a:t>
            </a:r>
          </a:p>
          <a:p>
            <a:r>
              <a:t>      "activation": "Alternare claim, ispirazione animata e recensione. Email con link al post pubblicato.",</a:t>
            </a:r>
          </a:p>
          <a:p>
            <a:r>
              <a:t>      "measurement": "Confrontare salvataggi e visite prodotto per formato. Non dedurre l’efficacia del trattamento."</a:t>
            </a:r>
          </a:p>
          <a:p>
            <a:r>
              <a:t>    }</a:t>
            </a:r>
          </a:p>
          <a:p>
            <a:r>
              <a:t>  },</a:t>
            </a:r>
          </a:p>
          <a:p>
            <a:r>
              <a:t>  "google_trends": {</a:t>
            </a:r>
          </a:p>
          <a:p>
            <a:r>
              <a:t>    "category_id": 143,</a:t>
            </a:r>
          </a:p>
          <a:p>
            <a:r>
              <a:t>    "markets": {</a:t>
            </a:r>
          </a:p>
          <a:p>
            <a:r>
              <a:t>      "fr": {</a:t>
            </a:r>
          </a:p>
          <a:p>
            <a:r>
              <a:t>        "geo": "FR",</a:t>
            </a:r>
          </a:p>
          <a:p>
            <a:r>
              <a:t>        "top": [</a:t>
            </a:r>
          </a:p>
          <a:p>
            <a:r>
              <a:t>          "crème",</a:t>
            </a:r>
          </a:p>
          <a:p>
            <a:r>
              <a:t>          "yves rocher",</a:t>
            </a:r>
          </a:p>
          <a:p>
            <a:r>
              <a:t>          "vichy",</a:t>
            </a:r>
          </a:p>
          <a:p>
            <a:r>
              <a:t>          "guerlain",</a:t>
            </a:r>
          </a:p>
          <a:p>
            <a:r>
              <a:t>          "chanel",</a:t>
            </a:r>
          </a:p>
          <a:p>
            <a:r>
              <a:t>          "caudalie",</a:t>
            </a:r>
          </a:p>
          <a:p>
            <a:r>
              <a:t>          "lancome",</a:t>
            </a:r>
          </a:p>
          <a:p>
            <a:r>
              <a:t>          "la roche posay",</a:t>
            </a:r>
          </a:p>
          <a:p>
            <a:r>
              <a:t>          "avene"</a:t>
            </a:r>
          </a:p>
          <a:p>
            <a:r>
              <a:t>        ],</a:t>
            </a:r>
          </a:p>
          <a:p>
            <a:r>
              <a:t>        "rising": [</a:t>
            </a:r>
          </a:p>
          <a:p>
            <a:r>
              <a:t>          "musc ravageur",</a:t>
            </a:r>
          </a:p>
          <a:p>
            <a:r>
              <a:t>          "vernis rouge",</a:t>
            </a:r>
          </a:p>
          <a:p>
            <a:r>
              <a:t>          "action l'oreal"</a:t>
            </a:r>
          </a:p>
          <a:p>
            <a:r>
              <a:t>        ],</a:t>
            </a:r>
          </a:p>
          <a:p>
            <a:r>
              <a:t>        "interpretation": "Sélection de marques beauté et soins. Les hausses ne prouvent pas un intérêt accru pour le contour des yeux IOMA."</a:t>
            </a:r>
          </a:p>
          <a:p>
            <a:r>
              <a:t>      },</a:t>
            </a:r>
          </a:p>
          <a:p>
            <a:r>
              <a:t>      "it": {</a:t>
            </a:r>
          </a:p>
          <a:p>
            <a:r>
              <a:t>        "geo": "IT",</a:t>
            </a:r>
          </a:p>
          <a:p>
            <a:r>
              <a:t>        "top": [</a:t>
            </a:r>
          </a:p>
          <a:p>
            <a:r>
              <a:t>          "crema",</a:t>
            </a:r>
          </a:p>
          <a:p>
            <a:r>
              <a:t>          "crema viso",</a:t>
            </a:r>
          </a:p>
          <a:p>
            <a:r>
              <a:t>          "crema idratante",</a:t>
            </a:r>
          </a:p>
          <a:p>
            <a:r>
              <a:t>          "roche posay",</a:t>
            </a:r>
          </a:p>
          <a:p>
            <a:r>
              <a:t>          "contorno occhi",</a:t>
            </a:r>
          </a:p>
          <a:p>
            <a:r>
              <a:t>          "bionike",</a:t>
            </a:r>
          </a:p>
          <a:p>
            <a:r>
              <a:t>          "cerave",</a:t>
            </a:r>
          </a:p>
          <a:p>
            <a:r>
              <a:t>          "la roche posay",</a:t>
            </a:r>
          </a:p>
          <a:p>
            <a:r>
              <a:t>          "skincare",</a:t>
            </a:r>
          </a:p>
          <a:p>
            <a:r>
              <a:t>          "acne",</a:t>
            </a:r>
          </a:p>
          <a:p>
            <a:r>
              <a:t>          "avene",</a:t>
            </a:r>
          </a:p>
          <a:p>
            <a:r>
              <a:t>          "caudalie"</a:t>
            </a:r>
          </a:p>
          <a:p>
            <a:r>
              <a:t>        ],</a:t>
            </a:r>
          </a:p>
          <a:p>
            <a:r>
              <a:t>        "rising": [</a:t>
            </a:r>
          </a:p>
          <a:p>
            <a:r>
              <a:t>          "ascella",</a:t>
            </a:r>
          </a:p>
          <a:p>
            <a:r>
              <a:t>          "crema idratante viso",</a:t>
            </a:r>
          </a:p>
          <a:p>
            <a:r>
              <a:t>          "crema idratante"</a:t>
            </a:r>
          </a:p>
          <a:p>
            <a:r>
              <a:t>        ],</a:t>
            </a:r>
          </a:p>
          <a:p>
            <a:r>
              <a:t>        "interpretation": "Selezione skincare e cura corpo: le crescite non misurano un aumento dell’interesse per il contorno occhi IOMA."</a:t>
            </a:r>
          </a:p>
          <a:p>
            <a:r>
              <a:t>      }</a:t>
            </a:r>
          </a:p>
          <a:p>
            <a:r>
              <a:t>    },</a:t>
            </a:r>
          </a:p>
          <a:p>
            <a:r>
              <a:t>    "evidence_files": {</a:t>
            </a:r>
          </a:p>
          <a:p>
            <a:r>
              <a:t>      "fr": "research/2026-10-22-series/FR-trends.json",</a:t>
            </a:r>
          </a:p>
          <a:p>
            <a:r>
              <a:t>      "it": "research/2026-10-22-series/IT-trends.json"</a:t>
            </a:r>
          </a:p>
          <a:p>
            <a:r>
              <a:t>    }</a:t>
            </a:r>
          </a:p>
          <a:p>
            <a:r>
              <a:t>  },</a:t>
            </a:r>
          </a:p>
          <a:p>
            <a:r>
              <a:t>  "google_trends_results": {</a:t>
            </a:r>
          </a:p>
          <a:p>
            <a:r>
              <a:t>    "fr": {</a:t>
            </a:r>
          </a:p>
          <a:p>
            <a:r>
              <a:t>      "data": {</a:t>
            </a:r>
          </a:p>
          <a:p>
            <a:r>
              <a:t>        "retrieved_at": "2026-10-21T23:26:46.230414+00:00",</a:t>
            </a:r>
          </a:p>
          <a:p>
            <a:r>
              <a:t>        "geo": "FR",</a:t>
            </a:r>
          </a:p>
          <a:p>
            <a:r>
              <a:t>        "language": "fr",</a:t>
            </a:r>
          </a:p>
          <a:p>
            <a:r>
              <a:t>        "period_start": "2026-10-14",</a:t>
            </a:r>
          </a:p>
          <a:p>
            <a:r>
              <a:t>        "period_end": "2026-10-20",</a:t>
            </a:r>
          </a:p>
          <a:p>
            <a:r>
              <a:t>        "category_id": 143,</a:t>
            </a:r>
          </a:p>
          <a:p>
            <a:r>
              <a:t>        "category_name": "Face &amp; Body Care",</a:t>
            </a:r>
          </a:p>
          <a:p>
            <a:r>
              <a:t>        "search_property": "web",</a:t>
            </a:r>
          </a:p>
          <a:p>
            <a:r>
              <a:t>        "timezone": "UTC",</a:t>
            </a:r>
          </a:p>
          <a:p>
            <a:r>
              <a:t>        "source_url": "https://trends.google.com/trends/explore?cat=143&amp;date=2026-10-14+2026-10-20&amp;geo=FR&amp;hl=fr",</a:t>
            </a:r>
          </a:p>
          <a:p>
            <a:r>
              <a:t>        "top": [</a:t>
            </a:r>
          </a:p>
          <a:p>
            <a:r>
              <a:t>          {</a:t>
            </a:r>
          </a:p>
          <a:p>
            <a:r>
              <a:t>            "query": "yves rocher",</a:t>
            </a:r>
          </a:p>
          <a:p>
            <a:r>
              <a:t>            "value": 17,</a:t>
            </a:r>
          </a:p>
          <a:p>
            <a:r>
              <a:t>            "source_rank": 7,</a:t>
            </a:r>
          </a:p>
          <a:p>
            <a:r>
              <a:t>            "breakout": false</a:t>
            </a:r>
          </a:p>
          <a:p>
            <a:r>
              <a:t>          },</a:t>
            </a:r>
          </a:p>
          <a:p>
            <a:r>
              <a:t>          {</a:t>
            </a:r>
          </a:p>
          <a:p>
            <a:r>
              <a:t>            "query": "crème",</a:t>
            </a:r>
          </a:p>
          <a:p>
            <a:r>
              <a:t>            "value": 15,</a:t>
            </a:r>
          </a:p>
          <a:p>
            <a:r>
              <a:t>            "source_rank": 9,</a:t>
            </a:r>
          </a:p>
          <a:p>
            <a:r>
              <a:t>            "breakout": false</a:t>
            </a:r>
          </a:p>
          <a:p>
            <a:r>
              <a:t>          },</a:t>
            </a:r>
          </a:p>
          <a:p>
            <a:r>
              <a:t>          {</a:t>
            </a:r>
          </a:p>
          <a:p>
            <a:r>
              <a:t>            "query": "vichy",</a:t>
            </a:r>
          </a:p>
          <a:p>
            <a:r>
              <a:t>            "value": 12,</a:t>
            </a:r>
          </a:p>
          <a:p>
            <a:r>
              <a:t>            "source_rank": 11,</a:t>
            </a:r>
          </a:p>
          <a:p>
            <a:r>
              <a:t>            "breakout": false</a:t>
            </a:r>
          </a:p>
          <a:p>
            <a:r>
              <a:t>          },</a:t>
            </a:r>
          </a:p>
          <a:p>
            <a:r>
              <a:t>          {</a:t>
            </a:r>
          </a:p>
          <a:p>
            <a:r>
              <a:t>            "query": "guerlain",</a:t>
            </a:r>
          </a:p>
          <a:p>
            <a:r>
              <a:t>            "value": 10,</a:t>
            </a:r>
          </a:p>
          <a:p>
            <a:r>
              <a:t>            "source_rank": 12,</a:t>
            </a:r>
          </a:p>
          <a:p>
            <a:r>
              <a:t>            "breakout": false</a:t>
            </a:r>
          </a:p>
          <a:p>
            <a:r>
              <a:t>          },</a:t>
            </a:r>
          </a:p>
          <a:p>
            <a:r>
              <a:t>          {</a:t>
            </a:r>
          </a:p>
          <a:p>
            <a:r>
              <a:t>            "query": "chanel",</a:t>
            </a:r>
          </a:p>
          <a:p>
            <a:r>
              <a:t>            "value": 9,</a:t>
            </a:r>
          </a:p>
          <a:p>
            <a:r>
              <a:t>            "source_rank": 15,</a:t>
            </a:r>
          </a:p>
          <a:p>
            <a:r>
              <a:t>            "breakout": false</a:t>
            </a:r>
          </a:p>
          <a:p>
            <a:r>
              <a:t>          }</a:t>
            </a:r>
          </a:p>
          <a:p>
            <a:r>
              <a:t>        ],</a:t>
            </a:r>
          </a:p>
          <a:p>
            <a:r>
              <a:t>        "rising": [</a:t>
            </a:r>
          </a:p>
          <a:p>
            <a:r>
              <a:t>          {</a:t>
            </a:r>
          </a:p>
          <a:p>
            <a:r>
              <a:t>            "query": "musc ravageur",</a:t>
            </a:r>
          </a:p>
          <a:p>
            <a:r>
              <a:t>            "value": 350,</a:t>
            </a:r>
          </a:p>
          <a:p>
            <a:r>
              <a:t>            "source_rank": 2,</a:t>
            </a:r>
          </a:p>
          <a:p>
            <a:r>
              <a:t>            "breakout": false</a:t>
            </a:r>
          </a:p>
          <a:p>
            <a:r>
              <a:t>          },</a:t>
            </a:r>
          </a:p>
          <a:p>
            <a:r>
              <a:t>          {</a:t>
            </a:r>
          </a:p>
          <a:p>
            <a:r>
              <a:t>            "query": "vernis rouge",</a:t>
            </a:r>
          </a:p>
          <a:p>
            <a:r>
              <a:t>            "value": 90,</a:t>
            </a:r>
          </a:p>
          <a:p>
            <a:r>
              <a:t>            "source_rank": 4,</a:t>
            </a:r>
          </a:p>
          <a:p>
            <a:r>
              <a:t>            "breakout": false</a:t>
            </a:r>
          </a:p>
          <a:p>
            <a:r>
              <a:t>          },</a:t>
            </a:r>
          </a:p>
          <a:p>
            <a:r>
              <a:t>          {</a:t>
            </a:r>
          </a:p>
          <a:p>
            <a:r>
              <a:t>            "query": "action l'oreal",</a:t>
            </a:r>
          </a:p>
          <a:p>
            <a:r>
              <a:t>            "value": 80,</a:t>
            </a:r>
          </a:p>
          <a:p>
            <a:r>
              <a:t>            "source_rank": 5,</a:t>
            </a:r>
          </a:p>
          <a:p>
            <a:r>
              <a:t>            "breakout": false</a:t>
            </a:r>
          </a:p>
          <a:p>
            <a:r>
              <a:t>          }</a:t>
            </a:r>
          </a:p>
          <a:p>
            <a:r>
              <a:t>        ],</a:t>
            </a:r>
          </a:p>
          <a:p>
            <a:r>
              <a:t>        "interpretation": "Sélection de marques beauté et soins. Les hausses ne prouvent pas un intérêt accru pour le contour des yeux IOMA.",</a:t>
            </a:r>
          </a:p>
          <a:p>
            <a:r>
              <a:t>        "comparison_start": "2026-10-07",</a:t>
            </a:r>
          </a:p>
          <a:p>
            <a:r>
              <a:t>        "comparison_end": "2026-10-13",</a:t>
            </a:r>
          </a:p>
          <a:p>
            <a:r>
              <a:t>        "method_url": "https://support.google.com/trends/answer/4355000",</a:t>
            </a:r>
          </a:p>
          <a:p>
            <a:r>
              <a:t>        "response_sha256": "abe2e1fa0b6abbdfe43e53a10cff48c44bcbce833fc6d80b255398199af8fce9",</a:t>
            </a:r>
          </a:p>
          <a:p>
            <a:r>
              <a:t>        "selection_note": "Editorial relevance filter; original order, spelling and scores retained. Not exhaustive beauty search volumes."</a:t>
            </a:r>
          </a:p>
          <a:p>
            <a:r>
              <a:t>      },</a:t>
            </a:r>
          </a:p>
          <a:p>
            <a:r>
              <a:t>      "evidence": {</a:t>
            </a:r>
          </a:p>
          <a:p>
            <a:r>
              <a:t>        "retrieved_at": "2026-10-21T23:26:46.230414+00:00",</a:t>
            </a:r>
          </a:p>
          <a:p>
            <a:r>
              <a:t>        "geo": "FR",</a:t>
            </a:r>
          </a:p>
          <a:p>
            <a:r>
              <a:t>        "language": "fr",</a:t>
            </a:r>
          </a:p>
          <a:p>
            <a:r>
              <a:t>        "period_start": "2026-10-14",</a:t>
            </a:r>
          </a:p>
          <a:p>
            <a:r>
              <a:t>        "period_end": "2026-10-20",</a:t>
            </a:r>
          </a:p>
          <a:p>
            <a:r>
              <a:t>        "category_id": 143,</a:t>
            </a:r>
          </a:p>
          <a:p>
            <a:r>
              <a:t>        "category_name": "Face &amp; Body Care",</a:t>
            </a:r>
          </a:p>
          <a:p>
            <a:r>
              <a:t>        "search_property": "web",</a:t>
            </a:r>
          </a:p>
          <a:p>
            <a:r>
              <a:t>        "timezone": "UTC",</a:t>
            </a:r>
          </a:p>
          <a:p>
            <a:r>
              <a:t>        "seed_keyword": "",</a:t>
            </a:r>
          </a:p>
          <a:p>
            <a:r>
              <a:t>        "source_url": "https://trends.google.com/trends/explore?cat=143&amp;date=2026-10-14+2026-10-20&amp;geo=FR&amp;hl=fr",</a:t>
            </a:r>
          </a:p>
          <a:p>
            <a:r>
              <a:t>        "widget_request": {</a:t>
            </a:r>
          </a:p>
          <a:p>
            <a:r>
              <a:t>          "restriction": {</a:t>
            </a:r>
          </a:p>
          <a:p>
            <a:r>
              <a:t>            "geo": {</a:t>
            </a:r>
          </a:p>
          <a:p>
            <a:r>
              <a:t>              "country": "FR"</a:t>
            </a:r>
          </a:p>
          <a:p>
            <a:r>
              <a:t>            },</a:t>
            </a:r>
          </a:p>
          <a:p>
            <a:r>
              <a:t>            "time": "2026-10-14 2026-10-20",</a:t>
            </a:r>
          </a:p>
          <a:p>
            <a:r>
              <a:t>            "originalTimeRangeForExploreUrl": "2026-10-14 2026-10-20"</a:t>
            </a:r>
          </a:p>
          <a:p>
            <a:r>
              <a:t>          },</a:t>
            </a:r>
          </a:p>
          <a:p>
            <a:r>
              <a:t>          "keywordType": "QUERY",</a:t>
            </a:r>
          </a:p>
          <a:p>
            <a:r>
              <a:t>          "metric": [</a:t>
            </a:r>
          </a:p>
          <a:p>
            <a:r>
              <a:t>            "TOP",</a:t>
            </a:r>
          </a:p>
          <a:p>
            <a:r>
              <a:t>            "RISING"</a:t>
            </a:r>
          </a:p>
          <a:p>
            <a:r>
              <a:t>          ],</a:t>
            </a:r>
          </a:p>
          <a:p>
            <a:r>
              <a:t>          "trendinessSettings": {</a:t>
            </a:r>
          </a:p>
          <a:p>
            <a:r>
              <a:t>            "compareTime": "2026-10-07 2026-10-13"</a:t>
            </a:r>
          </a:p>
          <a:p>
            <a:r>
              <a:t>          },</a:t>
            </a:r>
          </a:p>
          <a:p>
            <a:r>
              <a:t>          "requestOptions": {</a:t>
            </a:r>
          </a:p>
          <a:p>
            <a:r>
              <a:t>            "property": "",</a:t>
            </a:r>
          </a:p>
          <a:p>
            <a:r>
              <a:t>            "backend": "IZG",</a:t>
            </a:r>
          </a:p>
          <a:p>
            <a:r>
              <a:t>            "category": 143</a:t>
            </a:r>
          </a:p>
          <a:p>
            <a:r>
              <a:t>          },</a:t>
            </a:r>
          </a:p>
          <a:p>
            <a:r>
              <a:t>          "language": "fr",</a:t>
            </a:r>
          </a:p>
          <a:p>
            <a:r>
              <a:t>          "userCountryCode": "US",</a:t>
            </a:r>
          </a:p>
          <a:p>
            <a:r>
              <a:t>          "userConfig": {</a:t>
            </a:r>
          </a:p>
          <a:p>
            <a:r>
              <a:t>            "userType": "USER_TYPE_SCRAPER"</a:t>
            </a:r>
          </a:p>
          <a:p>
            <a:r>
              <a:t>          }</a:t>
            </a:r>
          </a:p>
          <a:p>
            <a:r>
              <a:t>        },</a:t>
            </a:r>
          </a:p>
          <a:p>
            <a:r>
              <a:t>        "response": {</a:t>
            </a:r>
          </a:p>
          <a:p>
            <a:r>
              <a:t>          "default": {</a:t>
            </a:r>
          </a:p>
          <a:p>
            <a:r>
              <a:t>            "rankedList": [</a:t>
            </a:r>
          </a:p>
          <a:p>
            <a:r>
              <a:t>              {</a:t>
            </a:r>
          </a:p>
          <a:p>
            <a:r>
              <a:t>                "rankedKeyword": [</a:t>
            </a:r>
          </a:p>
          <a:p>
            <a:r>
              <a:t>                  {</a:t>
            </a:r>
          </a:p>
          <a:p>
            <a:r>
              <a:t>                    "query": "parfum",</a:t>
            </a:r>
          </a:p>
          <a:p>
            <a:r>
              <a:t>                    "value": 100,</a:t>
            </a:r>
          </a:p>
          <a:p>
            <a:r>
              <a:t>                    "formattedValue": "100",</a:t>
            </a:r>
          </a:p>
          <a:p>
            <a:r>
              <a:t>                    "hasData": true,</a:t>
            </a:r>
          </a:p>
          <a:p>
            <a:r>
              <a:t>                    "link": "/trends/explore?q=parfum&amp;date=2026-10-14+2026-10-20&amp;geo=FR"</a:t>
            </a:r>
          </a:p>
          <a:p>
            <a:r>
              <a:t>                  },</a:t>
            </a:r>
          </a:p>
          <a:p>
            <a:r>
              <a:t>                  {</a:t>
            </a:r>
          </a:p>
          <a:p>
            <a:r>
              <a:t>                    "query": "sephora",</a:t>
            </a:r>
          </a:p>
          <a:p>
            <a:r>
              <a:t>                    "value": 43,</a:t>
            </a:r>
          </a:p>
          <a:p>
            <a:r>
              <a:t>                    "formattedValue": "43",</a:t>
            </a:r>
          </a:p>
          <a:p>
            <a:r>
              <a:t>                    "hasData": true,</a:t>
            </a:r>
          </a:p>
          <a:p>
            <a:r>
              <a:t>                    "link": "/trends/explore?q=sephora&amp;date=2026-10-14+2026-10-20&amp;geo=FR"</a:t>
            </a:r>
          </a:p>
          <a:p>
            <a:r>
              <a:t>                  },</a:t>
            </a:r>
          </a:p>
          <a:p>
            <a:r>
              <a:t>                  {</a:t>
            </a:r>
          </a:p>
          <a:p>
            <a:r>
              <a:t>                    "query": "nocibe",</a:t>
            </a:r>
          </a:p>
          <a:p>
            <a:r>
              <a:t>                    "value": 23,</a:t>
            </a:r>
          </a:p>
          <a:p>
            <a:r>
              <a:t>                    "formattedValue": "23",</a:t>
            </a:r>
          </a:p>
          <a:p>
            <a:r>
              <a:t>                    "hasData": true,</a:t>
            </a:r>
          </a:p>
          <a:p>
            <a:r>
              <a:t>                    "link": "/trends/explore?q=nocibe&amp;date=2026-10-14+2026-10-20&amp;geo=FR"</a:t>
            </a:r>
          </a:p>
          <a:p>
            <a:r>
              <a:t>                  },</a:t>
            </a:r>
          </a:p>
          <a:p>
            <a:r>
              <a:t>                  {</a:t>
            </a:r>
          </a:p>
          <a:p>
            <a:r>
              <a:t>                    "query": "ongle",</a:t>
            </a:r>
          </a:p>
          <a:p>
            <a:r>
              <a:t>                    "value": 23,</a:t>
            </a:r>
          </a:p>
          <a:p>
            <a:r>
              <a:t>                    "formattedValue": "23",</a:t>
            </a:r>
          </a:p>
          <a:p>
            <a:r>
              <a:t>                    "hasData": true,</a:t>
            </a:r>
          </a:p>
          <a:p>
            <a:r>
              <a:t>                    "link": "/trends/explore?q=ongle&amp;date=2026-10-14+2026-10-20&amp;geo=FR"</a:t>
            </a:r>
          </a:p>
          <a:p>
            <a:r>
              <a:t>                  },</a:t>
            </a:r>
          </a:p>
          <a:p>
            <a:r>
              <a:t>                  {</a:t>
            </a:r>
          </a:p>
          <a:p>
            <a:r>
              <a:t>                    "query": "maquillage",</a:t>
            </a:r>
          </a:p>
          <a:p>
            <a:r>
              <a:t>                    "value": 19,</a:t>
            </a:r>
          </a:p>
          <a:p>
            <a:r>
              <a:t>                    "formattedValue": "19",</a:t>
            </a:r>
          </a:p>
          <a:p>
            <a:r>
              <a:t>                    "hasData": true,</a:t>
            </a:r>
          </a:p>
          <a:p>
            <a:r>
              <a:t>                    "link": "/trends/explore?q=maquillage&amp;date=2026-10-14+2026-10-20&amp;geo=FR"</a:t>
            </a:r>
          </a:p>
          <a:p>
            <a:r>
              <a:t>                  },</a:t>
            </a:r>
          </a:p>
          <a:p>
            <a:r>
              <a:t>                  {</a:t>
            </a:r>
          </a:p>
          <a:p>
            <a:r>
              <a:t>                    "query": "parking",</a:t>
            </a:r>
          </a:p>
          <a:p>
            <a:r>
              <a:t>                    "value": 19,</a:t>
            </a:r>
          </a:p>
          <a:p>
            <a:r>
              <a:t>                    "formattedValue": "19",</a:t>
            </a:r>
          </a:p>
          <a:p>
            <a:r>
              <a:t>                    "hasData": true,</a:t>
            </a:r>
          </a:p>
          <a:p>
            <a:r>
              <a:t>                    "link": "/trends/explore?q=parking&amp;date=2026-10-14+2026-10-20&amp;geo=FR"</a:t>
            </a:r>
          </a:p>
          <a:p>
            <a:r>
              <a:t>                  },</a:t>
            </a:r>
          </a:p>
          <a:p>
            <a:r>
              <a:t>                  {</a:t>
            </a:r>
          </a:p>
          <a:p>
            <a:r>
              <a:t>                    "query": "yves rocher",</a:t>
            </a:r>
          </a:p>
          <a:p>
            <a:r>
              <a:t>                    "value": 17,</a:t>
            </a:r>
          </a:p>
          <a:p>
            <a:r>
              <a:t>                    "formattedValue": "17",</a:t>
            </a:r>
          </a:p>
          <a:p>
            <a:r>
              <a:t>                    "hasData": true,</a:t>
            </a:r>
          </a:p>
          <a:p>
            <a:r>
              <a:t>                    "link": "/trends/explore?q=yves+rocher&amp;date=2026-10-14+2026-10-20&amp;geo=FR"</a:t>
            </a:r>
          </a:p>
          <a:p>
            <a:r>
              <a:t>                  },</a:t>
            </a:r>
          </a:p>
          <a:p>
            <a:r>
              <a:t>                  {</a:t>
            </a:r>
          </a:p>
          <a:p>
            <a:r>
              <a:t>                    "query": "dior",</a:t>
            </a:r>
          </a:p>
          <a:p>
            <a:r>
              <a:t>                    "value": 15,</a:t>
            </a:r>
          </a:p>
          <a:p>
            <a:r>
              <a:t>                    "formattedValue": "15",</a:t>
            </a:r>
          </a:p>
          <a:p>
            <a:r>
              <a:t>                    "hasData": true,</a:t>
            </a:r>
          </a:p>
          <a:p>
            <a:r>
              <a:t>                    "link": "/trends/explore?q=dior&amp;date=2026-10-14+2026-10-20&amp;geo=FR"</a:t>
            </a:r>
          </a:p>
          <a:p>
            <a:r>
              <a:t>                  },</a:t>
            </a:r>
          </a:p>
          <a:p>
            <a:r>
              <a:t>                  {</a:t>
            </a:r>
          </a:p>
          <a:p>
            <a:r>
              <a:t>                    "query": "crème",</a:t>
            </a:r>
          </a:p>
          <a:p>
            <a:r>
              <a:t>                    "value": 15,</a:t>
            </a:r>
          </a:p>
          <a:p>
            <a:r>
              <a:t>                    "formattedValue": "15",</a:t>
            </a:r>
          </a:p>
          <a:p>
            <a:r>
              <a:t>                    "hasData": true,</a:t>
            </a:r>
          </a:p>
          <a:p>
            <a:r>
              <a:t>                    "link": "/trends/explore?q=cr%C3%A8me&amp;date=2026-10-14+2026-10-20&amp;geo=FR"</a:t>
            </a:r>
          </a:p>
          <a:p>
            <a:r>
              <a:t>                  },</a:t>
            </a:r>
          </a:p>
          <a:p>
            <a:r>
              <a:t>                  {</a:t>
            </a:r>
          </a:p>
          <a:p>
            <a:r>
              <a:t>                    "query": "parfum homme",</a:t>
            </a:r>
          </a:p>
          <a:p>
            <a:r>
              <a:t>                    "value": 12,</a:t>
            </a:r>
          </a:p>
          <a:p>
            <a:r>
              <a:t>                    "formattedValue": "12",</a:t>
            </a:r>
          </a:p>
          <a:p>
            <a:r>
              <a:t>                    "hasData": true,</a:t>
            </a:r>
          </a:p>
          <a:p>
            <a:r>
              <a:t>                    "link": "/trends/explore?q=parfum+homme&amp;date=2026-10-14+2026-10-20&amp;geo=FR"</a:t>
            </a:r>
          </a:p>
          <a:p>
            <a:r>
              <a:t>                  },</a:t>
            </a:r>
          </a:p>
          <a:p>
            <a:r>
              <a:t>                  {</a:t>
            </a:r>
          </a:p>
          <a:p>
            <a:r>
              <a:t>                    "query": "vichy",</a:t>
            </a:r>
          </a:p>
          <a:p>
            <a:r>
              <a:t>                    "value": 12,</a:t>
            </a:r>
          </a:p>
          <a:p>
            <a:r>
              <a:t>                    "formattedValue": "12",</a:t>
            </a:r>
          </a:p>
          <a:p>
            <a:r>
              <a:t>                    "hasData": true,</a:t>
            </a:r>
          </a:p>
          <a:p>
            <a:r>
              <a:t>                    "link": "/trends/explore?q=vichy&amp;date=2026-10-14+2026-10-20&amp;geo=FR"</a:t>
            </a:r>
          </a:p>
          <a:p>
            <a:r>
              <a:t>                  },</a:t>
            </a:r>
          </a:p>
          <a:p>
            <a:r>
              <a:t>                  {</a:t>
            </a:r>
          </a:p>
          <a:p>
            <a:r>
              <a:t>                    "query": "guerlain",</a:t>
            </a:r>
          </a:p>
          <a:p>
            <a:r>
              <a:t>                    "value": 10,</a:t>
            </a:r>
          </a:p>
          <a:p>
            <a:r>
              <a:t>                    "formattedValue": "10",</a:t>
            </a:r>
          </a:p>
          <a:p>
            <a:r>
              <a:t>                    "hasData": true,</a:t>
            </a:r>
          </a:p>
          <a:p>
            <a:r>
              <a:t>                    "link": "/trends/explore?q=guerlain&amp;date=2026-10-14+2026-10-20&amp;geo=FR"</a:t>
            </a:r>
          </a:p>
          <a:p>
            <a:r>
              <a:t>                  },</a:t>
            </a:r>
          </a:p>
          <a:p>
            <a:r>
              <a:t>                  {</a:t>
            </a:r>
          </a:p>
          <a:p>
            <a:r>
              <a:t>                    "query": "parfum femme",</a:t>
            </a:r>
          </a:p>
          <a:p>
            <a:r>
              <a:t>                    "value": 10,</a:t>
            </a:r>
          </a:p>
          <a:p>
            <a:r>
              <a:t>                    "formattedValue": "10",</a:t>
            </a:r>
          </a:p>
          <a:p>
            <a:r>
              <a:t>                    "hasData": true,</a:t>
            </a:r>
          </a:p>
          <a:p>
            <a:r>
              <a:t>                    "link": "/trends/explore?q=parfum+femme&amp;date=2026-10-14+2026-10-20&amp;geo=FR"</a:t>
            </a:r>
          </a:p>
          <a:p>
            <a:r>
              <a:t>                  },</a:t>
            </a:r>
          </a:p>
          <a:p>
            <a:r>
              <a:t>                  {</a:t>
            </a:r>
          </a:p>
          <a:p>
            <a:r>
              <a:t>                    "query": "mascara",</a:t>
            </a:r>
          </a:p>
          <a:p>
            <a:r>
              <a:t>                    "value": 10,</a:t>
            </a:r>
          </a:p>
          <a:p>
            <a:r>
              <a:t>                    "formattedValue": "10",</a:t>
            </a:r>
          </a:p>
          <a:p>
            <a:r>
              <a:t>                    "hasData": true,</a:t>
            </a:r>
          </a:p>
          <a:p>
            <a:r>
              <a:t>                    "link": "/trends/explore?q=mascara&amp;date=2026-10-14+2026-10-20&amp;geo=FR"</a:t>
            </a:r>
          </a:p>
          <a:p>
            <a:r>
              <a:t>                  },</a:t>
            </a:r>
          </a:p>
          <a:p>
            <a:r>
              <a:t>                  {</a:t>
            </a:r>
          </a:p>
          <a:p>
            <a:r>
              <a:t>                    "query": "chanel",</a:t>
            </a:r>
          </a:p>
          <a:p>
            <a:r>
              <a:t>                    "value": 9,</a:t>
            </a:r>
          </a:p>
          <a:p>
            <a:r>
              <a:t>                    "formattedValue": "9",</a:t>
            </a:r>
          </a:p>
          <a:p>
            <a:r>
              <a:t>                    "hasData": true,</a:t>
            </a:r>
          </a:p>
          <a:p>
            <a:r>
              <a:t>                    "link": "/trends/explore?q=chanel&amp;date=2026-10-14+2026-10-20&amp;geo=FR"</a:t>
            </a:r>
          </a:p>
          <a:p>
            <a:r>
              <a:t>                  },</a:t>
            </a:r>
          </a:p>
          <a:p>
            <a:r>
              <a:t>                  {</a:t>
            </a:r>
          </a:p>
          <a:p>
            <a:r>
              <a:t>                    "query": "fond de teint",</a:t>
            </a:r>
          </a:p>
          <a:p>
            <a:r>
              <a:t>                    "value": 8,</a:t>
            </a:r>
          </a:p>
          <a:p>
            <a:r>
              <a:t>                    "formattedValue": "8",</a:t>
            </a:r>
          </a:p>
          <a:p>
            <a:r>
              <a:t>                    "hasData": true,</a:t>
            </a:r>
          </a:p>
          <a:p>
            <a:r>
              <a:t>                    "link": "/trends/explore?q=fond+de+teint&amp;date=2026-10-14+2026-10-20&amp;geo=FR"</a:t>
            </a:r>
          </a:p>
          <a:p>
            <a:r>
              <a:t>                  },</a:t>
            </a:r>
          </a:p>
          <a:p>
            <a:r>
              <a:t>                  {</a:t>
            </a:r>
          </a:p>
          <a:p>
            <a:r>
              <a:t>                    "query": "nocibé",</a:t>
            </a:r>
          </a:p>
          <a:p>
            <a:r>
              <a:t>                    "value": 8,</a:t>
            </a:r>
          </a:p>
          <a:p>
            <a:r>
              <a:t>                    "formattedValue": "8",</a:t>
            </a:r>
          </a:p>
          <a:p>
            <a:r>
              <a:t>                    "hasData": true,</a:t>
            </a:r>
          </a:p>
          <a:p>
            <a:r>
              <a:t>                    "link": "/trends/explore?q=nocib%C3%A9&amp;date=2026-10-14+2026-10-20&amp;geo=FR"</a:t>
            </a:r>
          </a:p>
          <a:p>
            <a:r>
              <a:t>                  },</a:t>
            </a:r>
          </a:p>
          <a:p>
            <a:r>
              <a:t>                  {</a:t>
            </a:r>
          </a:p>
          <a:p>
            <a:r>
              <a:t>                    "query": "nyx",</a:t>
            </a:r>
          </a:p>
          <a:p>
            <a:r>
              <a:t>                    "value": 7,</a:t>
            </a:r>
          </a:p>
          <a:p>
            <a:r>
              <a:t>                    "formattedValue": "7",</a:t>
            </a:r>
          </a:p>
          <a:p>
            <a:r>
              <a:t>                    "hasData": true,</a:t>
            </a:r>
          </a:p>
          <a:p>
            <a:r>
              <a:t>                    "link": "/trends/explore?q=nyx&amp;date=2026-10-14+2026-10-20&amp;geo=FR"</a:t>
            </a:r>
          </a:p>
          <a:p>
            <a:r>
              <a:t>                  },</a:t>
            </a:r>
          </a:p>
          <a:p>
            <a:r>
              <a:t>                  {</a:t>
            </a:r>
          </a:p>
          <a:p>
            <a:r>
              <a:t>                    "query": "amazon",</a:t>
            </a:r>
          </a:p>
          <a:p>
            <a:r>
              <a:t>                    "value": 7,</a:t>
            </a:r>
          </a:p>
          <a:p>
            <a:r>
              <a:t>                    "formattedValue": "7",</a:t>
            </a:r>
          </a:p>
          <a:p>
            <a:r>
              <a:t>                    "hasData": true,</a:t>
            </a:r>
          </a:p>
          <a:p>
            <a:r>
              <a:t>                    "link": "/trends/explore?q=amazon&amp;date=2026-10-14+2026-10-20&amp;geo=FR"</a:t>
            </a:r>
          </a:p>
          <a:p>
            <a:r>
              <a:t>                  },</a:t>
            </a:r>
          </a:p>
          <a:p>
            <a:r>
              <a:t>                  {</a:t>
            </a:r>
          </a:p>
          <a:p>
            <a:r>
              <a:t>                    "query": "dermatologue",</a:t>
            </a:r>
          </a:p>
          <a:p>
            <a:r>
              <a:t>                    "value": 7,</a:t>
            </a:r>
          </a:p>
          <a:p>
            <a:r>
              <a:t>                    "formattedValue": "7",</a:t>
            </a:r>
          </a:p>
          <a:p>
            <a:r>
              <a:t>                    "hasData": true,</a:t>
            </a:r>
          </a:p>
          <a:p>
            <a:r>
              <a:t>                    "link": "/trends/explore?q=dermatologue&amp;date=2026-10-14+2026-10-20&amp;geo=FR"</a:t>
            </a:r>
          </a:p>
          <a:p>
            <a:r>
              <a:t>                  },</a:t>
            </a:r>
          </a:p>
          <a:p>
            <a:r>
              <a:t>                  {</a:t>
            </a:r>
          </a:p>
          <a:p>
            <a:r>
              <a:t>                    "query": "lip",</a:t>
            </a:r>
          </a:p>
          <a:p>
            <a:r>
              <a:t>                    "value": 6,</a:t>
            </a:r>
          </a:p>
          <a:p>
            <a:r>
              <a:t>                    "formattedValue": "6",</a:t>
            </a:r>
          </a:p>
          <a:p>
            <a:r>
              <a:t>                    "hasData": true,</a:t>
            </a:r>
          </a:p>
          <a:p>
            <a:r>
              <a:t>                    "link": "/trends/explore?q=lip&amp;date=2026-10-14+2026-10-20&amp;geo=FR"</a:t>
            </a:r>
          </a:p>
          <a:p>
            <a:r>
              <a:t>                  },</a:t>
            </a:r>
          </a:p>
          <a:p>
            <a:r>
              <a:t>                  {</a:t>
            </a:r>
          </a:p>
          <a:p>
            <a:r>
              <a:t>                    "query": "caudalie",</a:t>
            </a:r>
          </a:p>
          <a:p>
            <a:r>
              <a:t>                    "value": 6,</a:t>
            </a:r>
          </a:p>
          <a:p>
            <a:r>
              <a:t>                    "formattedValue": "6",</a:t>
            </a:r>
          </a:p>
          <a:p>
            <a:r>
              <a:t>                    "hasData": true,</a:t>
            </a:r>
          </a:p>
          <a:p>
            <a:r>
              <a:t>                    "link": "/trends/explore?q=caudalie&amp;date=2026-10-14+2026-10-20&amp;geo=FR"</a:t>
            </a:r>
          </a:p>
          <a:p>
            <a:r>
              <a:t>                  },</a:t>
            </a:r>
          </a:p>
          <a:p>
            <a:r>
              <a:t>                  {</a:t>
            </a:r>
          </a:p>
          <a:p>
            <a:r>
              <a:t>                    "query": "marionnaud",</a:t>
            </a:r>
          </a:p>
          <a:p>
            <a:r>
              <a:t>                    "value": 6,</a:t>
            </a:r>
          </a:p>
          <a:p>
            <a:r>
              <a:t>                    "formattedValue": "6",</a:t>
            </a:r>
          </a:p>
          <a:p>
            <a:r>
              <a:t>                    "hasData": true,</a:t>
            </a:r>
          </a:p>
          <a:p>
            <a:r>
              <a:t>                    "link": "/trends/explore?q=marionnaud&amp;date=2026-10-14+2026-10-20&amp;geo=FR"</a:t>
            </a:r>
          </a:p>
          <a:p>
            <a:r>
              <a:t>                  },</a:t>
            </a:r>
          </a:p>
          <a:p>
            <a:r>
              <a:t>                  {</a:t>
            </a:r>
          </a:p>
          <a:p>
            <a:r>
              <a:t>                    "query": "parfumerie",</a:t>
            </a:r>
          </a:p>
          <a:p>
            <a:r>
              <a:t>                    "value": 6,</a:t>
            </a:r>
          </a:p>
          <a:p>
            <a:r>
              <a:t>                    "formattedValue": "6",</a:t>
            </a:r>
          </a:p>
          <a:p>
            <a:r>
              <a:t>                    "hasData": true,</a:t>
            </a:r>
          </a:p>
          <a:p>
            <a:r>
              <a:t>                    "link": "/trends/explore?q=parfumerie&amp;date=2026-10-14+2026-10-20&amp;geo=FR"</a:t>
            </a:r>
          </a:p>
          <a:p>
            <a:r>
              <a:t>                  },</a:t>
            </a:r>
          </a:p>
          <a:p>
            <a:r>
              <a:t>                  {</a:t>
            </a:r>
          </a:p>
          <a:p>
            <a:r>
              <a:t>                    "query": "lancome",</a:t>
            </a:r>
          </a:p>
          <a:p>
            <a:r>
              <a:t>                    "value": 6,</a:t>
            </a:r>
          </a:p>
          <a:p>
            <a:r>
              <a:t>                    "formattedValue": "6",</a:t>
            </a:r>
          </a:p>
          <a:p>
            <a:r>
              <a:t>                    "hasData": true,</a:t>
            </a:r>
          </a:p>
          <a:p>
            <a:r>
              <a:t>                    "link": "/trends/explore?q=lancome&amp;date=2026-10-14+2026-10-20&amp;geo=FR"</a:t>
            </a:r>
          </a:p>
          <a:p>
            <a:r>
              <a:t>                  }</a:t>
            </a:r>
          </a:p>
          <a:p>
            <a:r>
              <a:t>                ]</a:t>
            </a:r>
          </a:p>
          <a:p>
            <a:r>
              <a:t>              },</a:t>
            </a:r>
          </a:p>
          <a:p>
            <a:r>
              <a:t>              {</a:t>
            </a:r>
          </a:p>
          <a:p>
            <a:r>
              <a:t>                "rankedKeyword": [</a:t>
            </a:r>
          </a:p>
          <a:p>
            <a:r>
              <a:t>                  {</a:t>
            </a:r>
          </a:p>
          <a:p>
            <a:r>
              <a:t>                    "query": "patou",</a:t>
            </a:r>
          </a:p>
          <a:p>
            <a:r>
              <a:t>                    "value": 350,</a:t>
            </a:r>
          </a:p>
          <a:p>
            <a:r>
              <a:t>                    "formattedValue": "+350 %",</a:t>
            </a:r>
          </a:p>
          <a:p>
            <a:r>
              <a:t>                    "link": "/trends/explore?q=patou&amp;date=2026-10-14+2026-10-20&amp;geo=FR"</a:t>
            </a:r>
          </a:p>
          <a:p>
            <a:r>
              <a:t>                  },</a:t>
            </a:r>
          </a:p>
          <a:p>
            <a:r>
              <a:t>                  {</a:t>
            </a:r>
          </a:p>
          <a:p>
            <a:r>
              <a:t>                    "query": "musc ravageur",</a:t>
            </a:r>
          </a:p>
          <a:p>
            <a:r>
              <a:t>                    "value": 350,</a:t>
            </a:r>
          </a:p>
          <a:p>
            <a:r>
              <a:t>                    "formattedValue": "+350 %",</a:t>
            </a:r>
          </a:p>
          <a:p>
            <a:r>
              <a:t>                    "link": "/trends/explore?q=musc+ravageur&amp;date=2026-10-14+2026-10-20&amp;geo=FR"</a:t>
            </a:r>
          </a:p>
          <a:p>
            <a:r>
              <a:t>                  },</a:t>
            </a:r>
          </a:p>
          <a:p>
            <a:r>
              <a:t>                  {</a:t>
            </a:r>
          </a:p>
          <a:p>
            <a:r>
              <a:t>                    "query": "clara vello",</a:t>
            </a:r>
          </a:p>
          <a:p>
            <a:r>
              <a:t>                    "value": 250,</a:t>
            </a:r>
          </a:p>
          <a:p>
            <a:r>
              <a:t>                    "formattedValue": "+250 %",</a:t>
            </a:r>
          </a:p>
          <a:p>
            <a:r>
              <a:t>                    "link": "/trends/explore?q=clara+vello&amp;date=2026-10-14+2026-10-20&amp;geo=FR"</a:t>
            </a:r>
          </a:p>
          <a:p>
            <a:r>
              <a:t>                  },</a:t>
            </a:r>
          </a:p>
          <a:p>
            <a:r>
              <a:t>                  {</a:t>
            </a:r>
          </a:p>
          <a:p>
            <a:r>
              <a:t>                    "query": "vernis rouge",</a:t>
            </a:r>
          </a:p>
          <a:p>
            <a:r>
              <a:t>                    "value": 90,</a:t>
            </a:r>
          </a:p>
          <a:p>
            <a:r>
              <a:t>                    "formattedValue": "+90 %",</a:t>
            </a:r>
          </a:p>
          <a:p>
            <a:r>
              <a:t>                    "link": "/trends/explore?q=vernis+rouge&amp;date=2026-10-14+2026-10-20&amp;geo=FR"</a:t>
            </a:r>
          </a:p>
          <a:p>
            <a:r>
              <a:t>                  },</a:t>
            </a:r>
          </a:p>
          <a:p>
            <a:r>
              <a:t>                  {</a:t>
            </a:r>
          </a:p>
          <a:p>
            <a:r>
              <a:t>                    "query": "action l'oreal",</a:t>
            </a:r>
          </a:p>
          <a:p>
            <a:r>
              <a:t>                    "value": 80,</a:t>
            </a:r>
          </a:p>
          <a:p>
            <a:r>
              <a:t>                    "formattedValue": "+80 %",</a:t>
            </a:r>
          </a:p>
          <a:p>
            <a:r>
              <a:t>                    "link": "/trends/explore?q=action+l'oreal&amp;date=2026-10-14+2026-10-20&amp;geo=FR"</a:t>
            </a:r>
          </a:p>
          <a:p>
            <a:r>
              <a:t>                  },</a:t>
            </a:r>
          </a:p>
          <a:p>
            <a:r>
              <a:t>                  {</a:t>
            </a:r>
          </a:p>
          <a:p>
            <a:r>
              <a:t>                    "query": "gloss victoria secret",</a:t>
            </a:r>
          </a:p>
          <a:p>
            <a:r>
              <a:t>                    "value": 70,</a:t>
            </a:r>
          </a:p>
          <a:p>
            <a:r>
              <a:t>                    "formattedValue": "+70 %",</a:t>
            </a:r>
          </a:p>
          <a:p>
            <a:r>
              <a:t>                    "link": "/trends/explore?q=gloss+victoria+secret&amp;date=2026-10-14+2026-10-20&amp;geo=FR"</a:t>
            </a:r>
          </a:p>
          <a:p>
            <a:r>
              <a:t>                  },</a:t>
            </a:r>
          </a:p>
          <a:p>
            <a:r>
              <a:t>                  {</a:t>
            </a:r>
          </a:p>
          <a:p>
            <a:r>
              <a:t>                    "query": "poudre huda beauty",</a:t>
            </a:r>
          </a:p>
          <a:p>
            <a:r>
              <a:t>                    "value": 40,</a:t>
            </a:r>
          </a:p>
          <a:p>
            <a:r>
              <a:t>                    "formattedValue": "+40 %",</a:t>
            </a:r>
          </a:p>
          <a:p>
            <a:r>
              <a:t>                    "link": "/trends/explore?q=poudre+huda+beauty&amp;date=2026-10-14+2026-10-20&amp;geo=FR"</a:t>
            </a:r>
          </a:p>
          <a:p>
            <a:r>
              <a:t>                  }</a:t>
            </a:r>
          </a:p>
          <a:p>
            <a:r>
              <a:t>                ]</a:t>
            </a:r>
          </a:p>
          <a:p>
            <a:r>
              <a:t>              }</a:t>
            </a:r>
          </a:p>
          <a:p>
            <a:r>
              <a:t>            ]</a:t>
            </a:r>
          </a:p>
          <a:p>
            <a:r>
              <a:t>          }</a:t>
            </a:r>
          </a:p>
          <a:p>
            <a:r>
              <a:t>        }</a:t>
            </a:r>
          </a:p>
          <a:p>
            <a:r>
              <a:t>      }</a:t>
            </a:r>
          </a:p>
          <a:p>
            <a:r>
              <a:t>    },</a:t>
            </a:r>
          </a:p>
          <a:p>
            <a:r>
              <a:t>    "it": {</a:t>
            </a:r>
          </a:p>
          <a:p>
            <a:r>
              <a:t>      "data": {</a:t>
            </a:r>
          </a:p>
          <a:p>
            <a:r>
              <a:t>        "retrieved_at": "2026-10-21T23:26:46.230414+00:00",</a:t>
            </a:r>
          </a:p>
          <a:p>
            <a:r>
              <a:t>        "geo": "IT",</a:t>
            </a:r>
          </a:p>
          <a:p>
            <a:r>
              <a:t>        "language": "it",</a:t>
            </a:r>
          </a:p>
          <a:p>
            <a:r>
              <a:t>        "period_start": "2026-10-14",</a:t>
            </a:r>
          </a:p>
          <a:p>
            <a:r>
              <a:t>        "period_end": "2026-10-20",</a:t>
            </a:r>
          </a:p>
          <a:p>
            <a:r>
              <a:t>        "category_id": 143,</a:t>
            </a:r>
          </a:p>
          <a:p>
            <a:r>
              <a:t>        "category_name": "Face &amp; Body Care",</a:t>
            </a:r>
          </a:p>
          <a:p>
            <a:r>
              <a:t>        "search_property": "web",</a:t>
            </a:r>
          </a:p>
          <a:p>
            <a:r>
              <a:t>        "timezone": "UTC",</a:t>
            </a:r>
          </a:p>
          <a:p>
            <a:r>
              <a:t>        "source_url": "https://trends.google.com/trends/explore?cat=143&amp;date=2026-10-14+2026-10-20&amp;geo=IT&amp;hl=it",</a:t>
            </a:r>
          </a:p>
          <a:p>
            <a:r>
              <a:t>        "top": [</a:t>
            </a:r>
          </a:p>
          <a:p>
            <a:r>
              <a:t>          {</a:t>
            </a:r>
          </a:p>
          <a:p>
            <a:r>
              <a:t>            "query": "crema",</a:t>
            </a:r>
          </a:p>
          <a:p>
            <a:r>
              <a:t>            "value": 100,</a:t>
            </a:r>
          </a:p>
          <a:p>
            <a:r>
              <a:t>            "source_rank": 1,</a:t>
            </a:r>
          </a:p>
          <a:p>
            <a:r>
              <a:t>            "breakout": false</a:t>
            </a:r>
          </a:p>
          <a:p>
            <a:r>
              <a:t>          },</a:t>
            </a:r>
          </a:p>
          <a:p>
            <a:r>
              <a:t>          {</a:t>
            </a:r>
          </a:p>
          <a:p>
            <a:r>
              <a:t>            "query": "crema viso",</a:t>
            </a:r>
          </a:p>
          <a:p>
            <a:r>
              <a:t>            "value": 22,</a:t>
            </a:r>
          </a:p>
          <a:p>
            <a:r>
              <a:t>            "source_rank": 6,</a:t>
            </a:r>
          </a:p>
          <a:p>
            <a:r>
              <a:t>            "breakout": false</a:t>
            </a:r>
          </a:p>
          <a:p>
            <a:r>
              <a:t>          },</a:t>
            </a:r>
          </a:p>
          <a:p>
            <a:r>
              <a:t>          {</a:t>
            </a:r>
          </a:p>
          <a:p>
            <a:r>
              <a:t>            "query": "crema idratante",</a:t>
            </a:r>
          </a:p>
          <a:p>
            <a:r>
              <a:t>            "value": 12,</a:t>
            </a:r>
          </a:p>
          <a:p>
            <a:r>
              <a:t>            "source_rank": 11,</a:t>
            </a:r>
          </a:p>
          <a:p>
            <a:r>
              <a:t>            "breakout": false</a:t>
            </a:r>
          </a:p>
          <a:p>
            <a:r>
              <a:t>          },</a:t>
            </a:r>
          </a:p>
          <a:p>
            <a:r>
              <a:t>          {</a:t>
            </a:r>
          </a:p>
          <a:p>
            <a:r>
              <a:t>            "query": "cerave",</a:t>
            </a:r>
          </a:p>
          <a:p>
            <a:r>
              <a:t>            "value": 7,</a:t>
            </a:r>
          </a:p>
          <a:p>
            <a:r>
              <a:t>            "source_rank": 15,</a:t>
            </a:r>
          </a:p>
          <a:p>
            <a:r>
              <a:t>            "breakout": false</a:t>
            </a:r>
          </a:p>
          <a:p>
            <a:r>
              <a:t>          },</a:t>
            </a:r>
          </a:p>
          <a:p>
            <a:r>
              <a:t>          {</a:t>
            </a:r>
          </a:p>
          <a:p>
            <a:r>
              <a:t>            "query": "bionike",</a:t>
            </a:r>
          </a:p>
          <a:p>
            <a:r>
              <a:t>            "value": 7,</a:t>
            </a:r>
          </a:p>
          <a:p>
            <a:r>
              <a:t>            "source_rank": 16,</a:t>
            </a:r>
          </a:p>
          <a:p>
            <a:r>
              <a:t>            "breakout": false</a:t>
            </a:r>
          </a:p>
          <a:p>
            <a:r>
              <a:t>          }</a:t>
            </a:r>
          </a:p>
          <a:p>
            <a:r>
              <a:t>        ],</a:t>
            </a:r>
          </a:p>
          <a:p>
            <a:r>
              <a:t>        "rising": [</a:t>
            </a:r>
          </a:p>
          <a:p>
            <a:r>
              <a:t>          {</a:t>
            </a:r>
          </a:p>
          <a:p>
            <a:r>
              <a:t>            "query": "ascella",</a:t>
            </a:r>
          </a:p>
          <a:p>
            <a:r>
              <a:t>            "value": 180,</a:t>
            </a:r>
          </a:p>
          <a:p>
            <a:r>
              <a:t>            "source_rank": 4,</a:t>
            </a:r>
          </a:p>
          <a:p>
            <a:r>
              <a:t>            "breakout": false</a:t>
            </a:r>
          </a:p>
          <a:p>
            <a:r>
              <a:t>          },</a:t>
            </a:r>
          </a:p>
          <a:p>
            <a:r>
              <a:t>          {</a:t>
            </a:r>
          </a:p>
          <a:p>
            <a:r>
              <a:t>            "query": "crema idratante viso",</a:t>
            </a:r>
          </a:p>
          <a:p>
            <a:r>
              <a:t>            "value": 160,</a:t>
            </a:r>
          </a:p>
          <a:p>
            <a:r>
              <a:t>            "source_rank": 5,</a:t>
            </a:r>
          </a:p>
          <a:p>
            <a:r>
              <a:t>            "breakout": false</a:t>
            </a:r>
          </a:p>
          <a:p>
            <a:r>
              <a:t>          },</a:t>
            </a:r>
          </a:p>
          <a:p>
            <a:r>
              <a:t>          {</a:t>
            </a:r>
          </a:p>
          <a:p>
            <a:r>
              <a:t>            "query": "crema idratante",</a:t>
            </a:r>
          </a:p>
          <a:p>
            <a:r>
              <a:t>            "value": 110,</a:t>
            </a:r>
          </a:p>
          <a:p>
            <a:r>
              <a:t>            "source_rank": 6,</a:t>
            </a:r>
          </a:p>
          <a:p>
            <a:r>
              <a:t>            "breakout": false</a:t>
            </a:r>
          </a:p>
          <a:p>
            <a:r>
              <a:t>          }</a:t>
            </a:r>
          </a:p>
          <a:p>
            <a:r>
              <a:t>        ],</a:t>
            </a:r>
          </a:p>
          <a:p>
            <a:r>
              <a:t>        "interpretation": "Selezione skincare e cura corpo: le crescite non misurano un aumento dell’interesse per il contorno occhi IOMA.",</a:t>
            </a:r>
          </a:p>
          <a:p>
            <a:r>
              <a:t>        "comparison_start": "2026-10-07",</a:t>
            </a:r>
          </a:p>
          <a:p>
            <a:r>
              <a:t>        "comparison_end": "2026-10-13",</a:t>
            </a:r>
          </a:p>
          <a:p>
            <a:r>
              <a:t>        "method_url": "https://support.google.com/trends/answer/4355000",</a:t>
            </a:r>
          </a:p>
          <a:p>
            <a:r>
              <a:t>        "response_sha256": "6c535b598784c69a107afb28750aeb9aa67f5b2bbc16c8ed66290786c9961453",</a:t>
            </a:r>
          </a:p>
          <a:p>
            <a:r>
              <a:t>        "selection_note": "Editorial relevance filter; original order, spelling and scores retained. Not exhaustive beauty search volumes."</a:t>
            </a:r>
          </a:p>
          <a:p>
            <a:r>
              <a:t>      },</a:t>
            </a:r>
          </a:p>
          <a:p>
            <a:r>
              <a:t>      "evidence": {</a:t>
            </a:r>
          </a:p>
          <a:p>
            <a:r>
              <a:t>        "retrieved_at": "2026-10-21T23:26:46.230414+00:00",</a:t>
            </a:r>
          </a:p>
          <a:p>
            <a:r>
              <a:t>        "geo": "IT",</a:t>
            </a:r>
          </a:p>
          <a:p>
            <a:r>
              <a:t>        "language": "it",</a:t>
            </a:r>
          </a:p>
          <a:p>
            <a:r>
              <a:t>        "period_start": "2026-10-14",</a:t>
            </a:r>
          </a:p>
          <a:p>
            <a:r>
              <a:t>        "period_end": "2026-10-20",</a:t>
            </a:r>
          </a:p>
          <a:p>
            <a:r>
              <a:t>        "category_id": 143,</a:t>
            </a:r>
          </a:p>
          <a:p>
            <a:r>
              <a:t>        "category_name": "Face &amp; Body Care",</a:t>
            </a:r>
          </a:p>
          <a:p>
            <a:r>
              <a:t>        "search_property": "web",</a:t>
            </a:r>
          </a:p>
          <a:p>
            <a:r>
              <a:t>        "timezone": "UTC",</a:t>
            </a:r>
          </a:p>
          <a:p>
            <a:r>
              <a:t>        "seed_keyword": "",</a:t>
            </a:r>
          </a:p>
          <a:p>
            <a:r>
              <a:t>        "source_url": "https://trends.google.com/trends/explore?cat=143&amp;date=2026-10-14+2026-10-20&amp;geo=IT&amp;hl=it",</a:t>
            </a:r>
          </a:p>
          <a:p>
            <a:r>
              <a:t>        "widget_request": {</a:t>
            </a:r>
          </a:p>
          <a:p>
            <a:r>
              <a:t>          "restriction": {</a:t>
            </a:r>
          </a:p>
          <a:p>
            <a:r>
              <a:t>            "geo": {</a:t>
            </a:r>
          </a:p>
          <a:p>
            <a:r>
              <a:t>              "country": "IT"</a:t>
            </a:r>
          </a:p>
          <a:p>
            <a:r>
              <a:t>            },</a:t>
            </a:r>
          </a:p>
          <a:p>
            <a:r>
              <a:t>            "time": "2026-10-14 2026-10-20",</a:t>
            </a:r>
          </a:p>
          <a:p>
            <a:r>
              <a:t>            "originalTimeRangeForExploreUrl": "2026-10-14 2026-10-20"</a:t>
            </a:r>
          </a:p>
          <a:p>
            <a:r>
              <a:t>          },</a:t>
            </a:r>
          </a:p>
          <a:p>
            <a:r>
              <a:t>          "keywordType": "QUERY",</a:t>
            </a:r>
          </a:p>
          <a:p>
            <a:r>
              <a:t>          "metric": [</a:t>
            </a:r>
          </a:p>
          <a:p>
            <a:r>
              <a:t>            "TOP",</a:t>
            </a:r>
          </a:p>
          <a:p>
            <a:r>
              <a:t>            "RISING"</a:t>
            </a:r>
          </a:p>
          <a:p>
            <a:r>
              <a:t>          ],</a:t>
            </a:r>
          </a:p>
          <a:p>
            <a:r>
              <a:t>          "trendinessSettings": {</a:t>
            </a:r>
          </a:p>
          <a:p>
            <a:r>
              <a:t>            "compareTime": "2026-10-07 2026-10-13"</a:t>
            </a:r>
          </a:p>
          <a:p>
            <a:r>
              <a:t>          },</a:t>
            </a:r>
          </a:p>
          <a:p>
            <a:r>
              <a:t>          "requestOptions": {</a:t>
            </a:r>
          </a:p>
          <a:p>
            <a:r>
              <a:t>            "property": "",</a:t>
            </a:r>
          </a:p>
          <a:p>
            <a:r>
              <a:t>            "backend": "IZG",</a:t>
            </a:r>
          </a:p>
          <a:p>
            <a:r>
              <a:t>            "category": 143</a:t>
            </a:r>
          </a:p>
          <a:p>
            <a:r>
              <a:t>          },</a:t>
            </a:r>
          </a:p>
          <a:p>
            <a:r>
              <a:t>          "language": "it",</a:t>
            </a:r>
          </a:p>
          <a:p>
            <a:r>
              <a:t>          "userCountryCode": "US",</a:t>
            </a:r>
          </a:p>
          <a:p>
            <a:r>
              <a:t>          "userConfig": {</a:t>
            </a:r>
          </a:p>
          <a:p>
            <a:r>
              <a:t>            "userType": "USER_TYPE_SCRAPER"</a:t>
            </a:r>
          </a:p>
          <a:p>
            <a:r>
              <a:t>          }</a:t>
            </a:r>
          </a:p>
          <a:p>
            <a:r>
              <a:t>        },</a:t>
            </a:r>
          </a:p>
          <a:p>
            <a:r>
              <a:t>        "response": {</a:t>
            </a:r>
          </a:p>
          <a:p>
            <a:r>
              <a:t>          "default": {</a:t>
            </a:r>
          </a:p>
          <a:p>
            <a:r>
              <a:t>            "rankedList": [</a:t>
            </a:r>
          </a:p>
          <a:p>
            <a:r>
              <a:t>              {</a:t>
            </a:r>
          </a:p>
          <a:p>
            <a:r>
              <a:t>                "rankedKeyword": [</a:t>
            </a:r>
          </a:p>
          <a:p>
            <a:r>
              <a:t>                  {</a:t>
            </a:r>
          </a:p>
          <a:p>
            <a:r>
              <a:t>                    "query": "crema",</a:t>
            </a:r>
          </a:p>
          <a:p>
            <a:r>
              <a:t>                    "value": 100,</a:t>
            </a:r>
          </a:p>
          <a:p>
            <a:r>
              <a:t>                    "formattedValue": "100",</a:t>
            </a:r>
          </a:p>
          <a:p>
            <a:r>
              <a:t>                    "hasData": true,</a:t>
            </a:r>
          </a:p>
          <a:p>
            <a:r>
              <a:t>                    "link": "/trends/explore?q=crema&amp;date=2026-10-14+2026-10-20&amp;geo=IT"</a:t>
            </a:r>
          </a:p>
          <a:p>
            <a:r>
              <a:t>                  },</a:t>
            </a:r>
          </a:p>
          <a:p>
            <a:r>
              <a:t>                  {</a:t>
            </a:r>
          </a:p>
          <a:p>
            <a:r>
              <a:t>                    "query": "profumo",</a:t>
            </a:r>
          </a:p>
          <a:p>
            <a:r>
              <a:t>                    "value": 94,</a:t>
            </a:r>
          </a:p>
          <a:p>
            <a:r>
              <a:t>                    "formattedValue": "94",</a:t>
            </a:r>
          </a:p>
          <a:p>
            <a:r>
              <a:t>                    "hasData": true,</a:t>
            </a:r>
          </a:p>
          <a:p>
            <a:r>
              <a:t>                    "link": "/trends/explore?q=profumo&amp;date=2026-10-14+2026-10-20&amp;geo=IT"</a:t>
            </a:r>
          </a:p>
          <a:p>
            <a:r>
              <a:t>                  },</a:t>
            </a:r>
          </a:p>
          <a:p>
            <a:r>
              <a:t>                  {</a:t>
            </a:r>
          </a:p>
          <a:p>
            <a:r>
              <a:t>                    "query": "unghie",</a:t>
            </a:r>
          </a:p>
          <a:p>
            <a:r>
              <a:t>                    "value": 53,</a:t>
            </a:r>
          </a:p>
          <a:p>
            <a:r>
              <a:t>                    "formattedValue": "53",</a:t>
            </a:r>
          </a:p>
          <a:p>
            <a:r>
              <a:t>                    "hasData": true,</a:t>
            </a:r>
          </a:p>
          <a:p>
            <a:r>
              <a:t>                    "link": "/trends/explore?q=unghie&amp;date=2026-10-14+2026-10-20&amp;geo=IT"</a:t>
            </a:r>
          </a:p>
          <a:p>
            <a:r>
              <a:t>                  },</a:t>
            </a:r>
          </a:p>
          <a:p>
            <a:r>
              <a:t>                  {</a:t>
            </a:r>
          </a:p>
          <a:p>
            <a:r>
              <a:t>                    "query": "profumi",</a:t>
            </a:r>
          </a:p>
          <a:p>
            <a:r>
              <a:t>                    "value": 36,</a:t>
            </a:r>
          </a:p>
          <a:p>
            <a:r>
              <a:t>                    "formattedValue": "36",</a:t>
            </a:r>
          </a:p>
          <a:p>
            <a:r>
              <a:t>                    "hasData": true,</a:t>
            </a:r>
          </a:p>
          <a:p>
            <a:r>
              <a:t>                    "link": "/trends/explore?q=profumi&amp;date=2026-10-14+2026-10-20&amp;geo=IT"</a:t>
            </a:r>
          </a:p>
          <a:p>
            <a:r>
              <a:t>                  },</a:t>
            </a:r>
          </a:p>
          <a:p>
            <a:r>
              <a:t>                  {</a:t>
            </a:r>
          </a:p>
          <a:p>
            <a:r>
              <a:t>                    "query": "sephora",</a:t>
            </a:r>
          </a:p>
          <a:p>
            <a:r>
              <a:t>                    "value": 24,</a:t>
            </a:r>
          </a:p>
          <a:p>
            <a:r>
              <a:t>                    "formattedValue": "24",</a:t>
            </a:r>
          </a:p>
          <a:p>
            <a:r>
              <a:t>                    "hasData": true,</a:t>
            </a:r>
          </a:p>
          <a:p>
            <a:r>
              <a:t>                    "link": "/trends/explore?q=sephora&amp;date=2026-10-14+2026-10-20&amp;geo=IT"</a:t>
            </a:r>
          </a:p>
          <a:p>
            <a:r>
              <a:t>                  },</a:t>
            </a:r>
          </a:p>
          <a:p>
            <a:r>
              <a:t>                  {</a:t>
            </a:r>
          </a:p>
          <a:p>
            <a:r>
              <a:t>                    "query": "crema viso",</a:t>
            </a:r>
          </a:p>
          <a:p>
            <a:r>
              <a:t>                    "value": 22,</a:t>
            </a:r>
          </a:p>
          <a:p>
            <a:r>
              <a:t>                    "formattedValue": "22",</a:t>
            </a:r>
          </a:p>
          <a:p>
            <a:r>
              <a:t>                    "hasData": true,</a:t>
            </a:r>
          </a:p>
          <a:p>
            <a:r>
              <a:t>                    "link": "/trends/explore?q=crema+viso&amp;date=2026-10-14+2026-10-20&amp;geo=IT"</a:t>
            </a:r>
          </a:p>
          <a:p>
            <a:r>
              <a:t>                  },</a:t>
            </a:r>
          </a:p>
          <a:p>
            <a:r>
              <a:t>                  {</a:t>
            </a:r>
          </a:p>
          <a:p>
            <a:r>
              <a:t>                    "query": "fondotinta",</a:t>
            </a:r>
          </a:p>
          <a:p>
            <a:r>
              <a:t>                    "value": 17,</a:t>
            </a:r>
          </a:p>
          <a:p>
            <a:r>
              <a:t>                    "formattedValue": "17",</a:t>
            </a:r>
          </a:p>
          <a:p>
            <a:r>
              <a:t>                    "hasData": true,</a:t>
            </a:r>
          </a:p>
          <a:p>
            <a:r>
              <a:t>                    "link": "/trends/explore?q=fondotinta&amp;date=2026-10-14+2026-10-20&amp;geo=IT"</a:t>
            </a:r>
          </a:p>
          <a:p>
            <a:r>
              <a:t>                  },</a:t>
            </a:r>
          </a:p>
          <a:p>
            <a:r>
              <a:t>                  {</a:t>
            </a:r>
          </a:p>
          <a:p>
            <a:r>
              <a:t>                    "query": "amazon",</a:t>
            </a:r>
          </a:p>
          <a:p>
            <a:r>
              <a:t>                    "value": 13,</a:t>
            </a:r>
          </a:p>
          <a:p>
            <a:r>
              <a:t>                    "formattedValue": "13",</a:t>
            </a:r>
          </a:p>
          <a:p>
            <a:r>
              <a:t>                    "hasData": true,</a:t>
            </a:r>
          </a:p>
          <a:p>
            <a:r>
              <a:t>                    "link": "/trends/explore?q=amazon&amp;date=2026-10-14+2026-10-20&amp;geo=IT"</a:t>
            </a:r>
          </a:p>
          <a:p>
            <a:r>
              <a:t>                  },</a:t>
            </a:r>
          </a:p>
          <a:p>
            <a:r>
              <a:t>                  {</a:t>
            </a:r>
          </a:p>
          <a:p>
            <a:r>
              <a:t>                    "query": "profumo uomo",</a:t>
            </a:r>
          </a:p>
          <a:p>
            <a:r>
              <a:t>                    "value": 13,</a:t>
            </a:r>
          </a:p>
          <a:p>
            <a:r>
              <a:t>                    "formattedValue": "13",</a:t>
            </a:r>
          </a:p>
          <a:p>
            <a:r>
              <a:t>                    "hasData": true,</a:t>
            </a:r>
          </a:p>
          <a:p>
            <a:r>
              <a:t>                    "link": "/trends/explore?q=profumo+uomo&amp;date=2026-10-14+2026-10-20&amp;geo=IT"</a:t>
            </a:r>
          </a:p>
          <a:p>
            <a:r>
              <a:t>                  },</a:t>
            </a:r>
          </a:p>
          <a:p>
            <a:r>
              <a:t>                  {</a:t>
            </a:r>
          </a:p>
          <a:p>
            <a:r>
              <a:t>                    "query": "dior",</a:t>
            </a:r>
          </a:p>
          <a:p>
            <a:r>
              <a:t>                    "value": 12,</a:t>
            </a:r>
          </a:p>
          <a:p>
            <a:r>
              <a:t>                    "formattedValue": "12",</a:t>
            </a:r>
          </a:p>
          <a:p>
            <a:r>
              <a:t>                    "hasData": true,</a:t>
            </a:r>
          </a:p>
          <a:p>
            <a:r>
              <a:t>                    "link": "/trends/explore?q=dior&amp;date=2026-10-14+2026-10-20&amp;geo=IT"</a:t>
            </a:r>
          </a:p>
          <a:p>
            <a:r>
              <a:t>                  },</a:t>
            </a:r>
          </a:p>
          <a:p>
            <a:r>
              <a:t>                  {</a:t>
            </a:r>
          </a:p>
          <a:p>
            <a:r>
              <a:t>                    "query": "crema idratante",</a:t>
            </a:r>
          </a:p>
          <a:p>
            <a:r>
              <a:t>                    "value": 12,</a:t>
            </a:r>
          </a:p>
          <a:p>
            <a:r>
              <a:t>                    "formattedValue": "12",</a:t>
            </a:r>
          </a:p>
          <a:p>
            <a:r>
              <a:t>                    "hasData": true,</a:t>
            </a:r>
          </a:p>
          <a:p>
            <a:r>
              <a:t>                    "link": "/trends/explore?q=crema+idratante&amp;date=2026-10-14+2026-10-20&amp;geo=IT"</a:t>
            </a:r>
          </a:p>
          <a:p>
            <a:r>
              <a:t>                  },</a:t>
            </a:r>
          </a:p>
          <a:p>
            <a:r>
              <a:t>                  {</a:t>
            </a:r>
          </a:p>
          <a:p>
            <a:r>
              <a:t>                    "query": "profumo donna",</a:t>
            </a:r>
          </a:p>
          <a:p>
            <a:r>
              <a:t>                    "value": 12,</a:t>
            </a:r>
          </a:p>
          <a:p>
            <a:r>
              <a:t>                    "formattedValue": "12",</a:t>
            </a:r>
          </a:p>
          <a:p>
            <a:r>
              <a:t>                    "hasData": true,</a:t>
            </a:r>
          </a:p>
          <a:p>
            <a:r>
              <a:t>                    "link": "/trends/explore?q=profumo+donna&amp;date=2026-10-14+2026-10-20&amp;geo=IT"</a:t>
            </a:r>
          </a:p>
          <a:p>
            <a:r>
              <a:t>                  },</a:t>
            </a:r>
          </a:p>
          <a:p>
            <a:r>
              <a:t>                  {</a:t>
            </a:r>
          </a:p>
          <a:p>
            <a:r>
              <a:t>                    "query": "braun",</a:t>
            </a:r>
          </a:p>
          <a:p>
            <a:r>
              <a:t>                    "value": 7,</a:t>
            </a:r>
          </a:p>
          <a:p>
            <a:r>
              <a:t>                    "formattedValue": "7",</a:t>
            </a:r>
          </a:p>
          <a:p>
            <a:r>
              <a:t>                    "hasData": true,</a:t>
            </a:r>
          </a:p>
          <a:p>
            <a:r>
              <a:t>                    "link": "/trends/explore?q=braun&amp;date=2026-10-14+2026-10-20&amp;geo=IT"</a:t>
            </a:r>
          </a:p>
          <a:p>
            <a:r>
              <a:t>                  },</a:t>
            </a:r>
          </a:p>
          <a:p>
            <a:r>
              <a:t>                  {</a:t>
            </a:r>
          </a:p>
          <a:p>
            <a:r>
              <a:t>                    "query": "unghia",</a:t>
            </a:r>
          </a:p>
          <a:p>
            <a:r>
              <a:t>                    "value": 7,</a:t>
            </a:r>
          </a:p>
          <a:p>
            <a:r>
              <a:t>                    "formattedValue": "7",</a:t>
            </a:r>
          </a:p>
          <a:p>
            <a:r>
              <a:t>                    "hasData": true,</a:t>
            </a:r>
          </a:p>
          <a:p>
            <a:r>
              <a:t>                    "link": "/trends/explore?q=unghia&amp;date=2026-10-14+2026-10-20&amp;geo=IT"</a:t>
            </a:r>
          </a:p>
          <a:p>
            <a:r>
              <a:t>                  },</a:t>
            </a:r>
          </a:p>
          <a:p>
            <a:r>
              <a:t>                  {</a:t>
            </a:r>
          </a:p>
          <a:p>
            <a:r>
              <a:t>                    "query": "cerave",</a:t>
            </a:r>
          </a:p>
          <a:p>
            <a:r>
              <a:t>                    "value": 7,</a:t>
            </a:r>
          </a:p>
          <a:p>
            <a:r>
              <a:t>                    "formattedValue": "7",</a:t>
            </a:r>
          </a:p>
          <a:p>
            <a:r>
              <a:t>                    "hasData": true,</a:t>
            </a:r>
          </a:p>
          <a:p>
            <a:r>
              <a:t>                    "link": "/trends/explore?q=cerave&amp;date=2026-10-14+2026-10-20&amp;geo=IT"</a:t>
            </a:r>
          </a:p>
          <a:p>
            <a:r>
              <a:t>                  },</a:t>
            </a:r>
          </a:p>
          <a:p>
            <a:r>
              <a:t>                  {</a:t>
            </a:r>
          </a:p>
          <a:p>
            <a:r>
              <a:t>                    "query": "bionike",</a:t>
            </a:r>
          </a:p>
          <a:p>
            <a:r>
              <a:t>                    "value": 7,</a:t>
            </a:r>
          </a:p>
          <a:p>
            <a:r>
              <a:t>                    "formattedValue": "7",</a:t>
            </a:r>
          </a:p>
          <a:p>
            <a:r>
              <a:t>                    "hasData": true,</a:t>
            </a:r>
          </a:p>
          <a:p>
            <a:r>
              <a:t>                    "link": "/trends/explore?q=bionike&amp;date=2026-10-14+2026-10-20&amp;geo=IT"</a:t>
            </a:r>
          </a:p>
          <a:p>
            <a:r>
              <a:t>                  },</a:t>
            </a:r>
          </a:p>
          <a:p>
            <a:r>
              <a:t>                  {</a:t>
            </a:r>
          </a:p>
          <a:p>
            <a:r>
              <a:t>                    "query": "la roche posay",</a:t>
            </a:r>
          </a:p>
          <a:p>
            <a:r>
              <a:t>                    "value": 6,</a:t>
            </a:r>
          </a:p>
          <a:p>
            <a:r>
              <a:t>                    "formattedValue": "6",</a:t>
            </a:r>
          </a:p>
          <a:p>
            <a:r>
              <a:t>                    "hasData": true,</a:t>
            </a:r>
          </a:p>
          <a:p>
            <a:r>
              <a:t>                    "link": "/trends/explore?q=la+roche+posay&amp;date=2026-10-14+2026-10-20&amp;geo=IT"</a:t>
            </a:r>
          </a:p>
          <a:p>
            <a:r>
              <a:t>                  },</a:t>
            </a:r>
          </a:p>
          <a:p>
            <a:r>
              <a:t>                  {</a:t>
            </a:r>
          </a:p>
          <a:p>
            <a:r>
              <a:t>                    "query": "crema corpo",</a:t>
            </a:r>
          </a:p>
          <a:p>
            <a:r>
              <a:t>                    "value": 6,</a:t>
            </a:r>
          </a:p>
          <a:p>
            <a:r>
              <a:t>                    "formattedValue": "6",</a:t>
            </a:r>
          </a:p>
          <a:p>
            <a:r>
              <a:t>                    "hasData": true,</a:t>
            </a:r>
          </a:p>
          <a:p>
            <a:r>
              <a:t>                    "link": "/trends/explore?q=crema+corpo&amp;date=2026-10-14+2026-10-20&amp;geo=IT"</a:t>
            </a:r>
          </a:p>
          <a:p>
            <a:r>
              <a:t>                  },</a:t>
            </a:r>
          </a:p>
          <a:p>
            <a:r>
              <a:t>                  {</a:t>
            </a:r>
          </a:p>
          <a:p>
            <a:r>
              <a:t>                    "query": "blush",</a:t>
            </a:r>
          </a:p>
          <a:p>
            <a:r>
              <a:t>                    "value": 6,</a:t>
            </a:r>
          </a:p>
          <a:p>
            <a:r>
              <a:t>                    "formattedValue": "6",</a:t>
            </a:r>
          </a:p>
          <a:p>
            <a:r>
              <a:t>                    "hasData": true,</a:t>
            </a:r>
          </a:p>
          <a:p>
            <a:r>
              <a:t>                    "link": "/trends/explore?q=blush&amp;date=2026-10-14+2026-10-20&amp;geo=IT"</a:t>
            </a:r>
          </a:p>
          <a:p>
            <a:r>
              <a:t>                  },</a:t>
            </a:r>
          </a:p>
          <a:p>
            <a:r>
              <a:t>                  {</a:t>
            </a:r>
          </a:p>
          <a:p>
            <a:r>
              <a:t>                    "query": "kiko",</a:t>
            </a:r>
          </a:p>
          <a:p>
            <a:r>
              <a:t>                    "value": 6,</a:t>
            </a:r>
          </a:p>
          <a:p>
            <a:r>
              <a:t>                    "formattedValue": "6",</a:t>
            </a:r>
          </a:p>
          <a:p>
            <a:r>
              <a:t>                    "hasData": true,</a:t>
            </a:r>
          </a:p>
          <a:p>
            <a:r>
              <a:t>                    "link": "/trends/explore?q=kiko&amp;date=2026-10-14+2026-10-20&amp;geo=IT"</a:t>
            </a:r>
          </a:p>
          <a:p>
            <a:r>
              <a:t>                  },</a:t>
            </a:r>
          </a:p>
          <a:p>
            <a:r>
              <a:t>                  {</a:t>
            </a:r>
          </a:p>
          <a:p>
            <a:r>
              <a:t>                    "query": "fragrantica",</a:t>
            </a:r>
          </a:p>
          <a:p>
            <a:r>
              <a:t>                    "value": 6,</a:t>
            </a:r>
          </a:p>
          <a:p>
            <a:r>
              <a:t>                    "formattedValue": "6",</a:t>
            </a:r>
          </a:p>
          <a:p>
            <a:r>
              <a:t>                    "hasData": true,</a:t>
            </a:r>
          </a:p>
          <a:p>
            <a:r>
              <a:t>                    "link": "/trends/explore?q=fragrantica&amp;date=2026-10-14+2026-10-20&amp;geo=IT"</a:t>
            </a:r>
          </a:p>
          <a:p>
            <a:r>
              <a:t>                  },</a:t>
            </a:r>
          </a:p>
          <a:p>
            <a:r>
              <a:t>                  {</a:t>
            </a:r>
          </a:p>
          <a:p>
            <a:r>
              <a:t>                    "query": "yodeyma",</a:t>
            </a:r>
          </a:p>
          <a:p>
            <a:r>
              <a:t>                    "value": 5,</a:t>
            </a:r>
          </a:p>
          <a:p>
            <a:r>
              <a:t>                    "formattedValue": "5",</a:t>
            </a:r>
          </a:p>
          <a:p>
            <a:r>
              <a:t>                    "hasData": true,</a:t>
            </a:r>
          </a:p>
          <a:p>
            <a:r>
              <a:t>                    "link": "/trends/explore?q=yodeyma&amp;date=2026-10-14+2026-10-20&amp;geo=IT"</a:t>
            </a:r>
          </a:p>
          <a:p>
            <a:r>
              <a:t>                  },</a:t>
            </a:r>
          </a:p>
          <a:p>
            <a:r>
              <a:t>                  {</a:t>
            </a:r>
          </a:p>
          <a:p>
            <a:r>
              <a:t>                    "query": "meteo",</a:t>
            </a:r>
          </a:p>
          <a:p>
            <a:r>
              <a:t>                    "value": 5,</a:t>
            </a:r>
          </a:p>
          <a:p>
            <a:r>
              <a:t>                    "formattedValue": "5",</a:t>
            </a:r>
          </a:p>
          <a:p>
            <a:r>
              <a:t>                    "hasData": true,</a:t>
            </a:r>
          </a:p>
          <a:p>
            <a:r>
              <a:t>                    "link": "/trends/explore?q=meteo&amp;date=2026-10-14+2026-10-20&amp;geo=IT"</a:t>
            </a:r>
          </a:p>
          <a:p>
            <a:r>
              <a:t>                  },</a:t>
            </a:r>
          </a:p>
          <a:p>
            <a:r>
              <a:t>                  {</a:t>
            </a:r>
          </a:p>
          <a:p>
            <a:r>
              <a:t>                    "query": "avene",</a:t>
            </a:r>
          </a:p>
          <a:p>
            <a:r>
              <a:t>                    "value": 5,</a:t>
            </a:r>
          </a:p>
          <a:p>
            <a:r>
              <a:t>                    "formattedValue": "5",</a:t>
            </a:r>
          </a:p>
          <a:p>
            <a:r>
              <a:t>                    "hasData": true,</a:t>
            </a:r>
          </a:p>
          <a:p>
            <a:r>
              <a:t>                    "link": "/trends/explore?q=avene&amp;date=2026-10-14+2026-10-20&amp;geo=IT"</a:t>
            </a:r>
          </a:p>
          <a:p>
            <a:r>
              <a:t>                  },</a:t>
            </a:r>
          </a:p>
          <a:p>
            <a:r>
              <a:t>                  {</a:t>
            </a:r>
          </a:p>
          <a:p>
            <a:r>
              <a:t>                    "query": "maybelline",</a:t>
            </a:r>
          </a:p>
          <a:p>
            <a:r>
              <a:t>                    "value": 5,</a:t>
            </a:r>
          </a:p>
          <a:p>
            <a:r>
              <a:t>                    "formattedValue": "5",</a:t>
            </a:r>
          </a:p>
          <a:p>
            <a:r>
              <a:t>                    "hasData": true,</a:t>
            </a:r>
          </a:p>
          <a:p>
            <a:r>
              <a:t>                    "link": "/trends/explore?q=maybelline&amp;date=2026-10-14+2026-10-20&amp;geo=IT"</a:t>
            </a:r>
          </a:p>
          <a:p>
            <a:r>
              <a:t>                  }</a:t>
            </a:r>
          </a:p>
          <a:p>
            <a:r>
              <a:t>                ]</a:t>
            </a:r>
          </a:p>
          <a:p>
            <a:r>
              <a:t>              },</a:t>
            </a:r>
          </a:p>
          <a:p>
            <a:r>
              <a:t>              {</a:t>
            </a:r>
          </a:p>
          <a:p>
            <a:r>
              <a:t>                "rankedKeyword": [</a:t>
            </a:r>
          </a:p>
          <a:p>
            <a:r>
              <a:t>                  {</a:t>
            </a:r>
          </a:p>
          <a:p>
            <a:r>
              <a:t>                    "query": "clenia",</a:t>
            </a:r>
          </a:p>
          <a:p>
            <a:r>
              <a:t>                    "value": 5050,</a:t>
            </a:r>
          </a:p>
          <a:p>
            <a:r>
              <a:t>                    "formattedValue": "Impennata",</a:t>
            </a:r>
          </a:p>
          <a:p>
            <a:r>
              <a:t>                    "link": "/trends/explore?q=clenia&amp;date=2026-10-14+2026-10-20&amp;geo=IT"</a:t>
            </a:r>
          </a:p>
          <a:p>
            <a:r>
              <a:t>                  },</a:t>
            </a:r>
          </a:p>
          <a:p>
            <a:r>
              <a:t>                  {</a:t>
            </a:r>
          </a:p>
          <a:p>
            <a:r>
              <a:t>                    "query": "sally rooney",</a:t>
            </a:r>
          </a:p>
          <a:p>
            <a:r>
              <a:t>                    "value": 1950,</a:t>
            </a:r>
          </a:p>
          <a:p>
            <a:r>
              <a:t>                    "formattedValue": "+1.950%",</a:t>
            </a:r>
          </a:p>
          <a:p>
            <a:r>
              <a:t>                    "link": "/trends/explore?q=sally+rooney&amp;date=2026-10-14+2026-10-20&amp;geo=IT"</a:t>
            </a:r>
          </a:p>
          <a:p>
            <a:r>
              <a:t>                  },</a:t>
            </a:r>
          </a:p>
          <a:p>
            <a:r>
              <a:t>                  {</a:t>
            </a:r>
          </a:p>
          <a:p>
            <a:r>
              <a:t>                    "query": "leonardo maria del vecchio",</a:t>
            </a:r>
          </a:p>
          <a:p>
            <a:r>
              <a:t>                    "value": 750,</a:t>
            </a:r>
          </a:p>
          <a:p>
            <a:r>
              <a:t>                    "formattedValue": "+750%",</a:t>
            </a:r>
          </a:p>
          <a:p>
            <a:r>
              <a:t>                    "link": "/trends/explore?q=leonardo+maria+del+vecchio&amp;date=2026-10-14+2026-10-20&amp;geo=IT"</a:t>
            </a:r>
          </a:p>
          <a:p>
            <a:r>
              <a:t>                  },</a:t>
            </a:r>
          </a:p>
          <a:p>
            <a:r>
              <a:t>                  {</a:t>
            </a:r>
          </a:p>
          <a:p>
            <a:r>
              <a:t>                    "query": "ascella",</a:t>
            </a:r>
          </a:p>
          <a:p>
            <a:r>
              <a:t>                    "value": 180,</a:t>
            </a:r>
          </a:p>
          <a:p>
            <a:r>
              <a:t>                    "formattedValue": "+180%",</a:t>
            </a:r>
          </a:p>
          <a:p>
            <a:r>
              <a:t>                    "link": "/trends/explore?q=ascella&amp;date=2026-10-14+2026-10-20&amp;geo=IT"</a:t>
            </a:r>
          </a:p>
          <a:p>
            <a:r>
              <a:t>                  },</a:t>
            </a:r>
          </a:p>
          <a:p>
            <a:r>
              <a:t>                  {</a:t>
            </a:r>
          </a:p>
          <a:p>
            <a:r>
              <a:t>                    "query": "crema idratante viso",</a:t>
            </a:r>
          </a:p>
          <a:p>
            <a:r>
              <a:t>                    "value": 160,</a:t>
            </a:r>
          </a:p>
          <a:p>
            <a:r>
              <a:t>                    "formattedValue": "+160%",</a:t>
            </a:r>
          </a:p>
          <a:p>
            <a:r>
              <a:t>                    "link": "/trends/explore?q=crema+idratante+viso&amp;date=2026-10-14+2026-10-20&amp;geo=IT"</a:t>
            </a:r>
          </a:p>
          <a:p>
            <a:r>
              <a:t>                  },</a:t>
            </a:r>
          </a:p>
          <a:p>
            <a:r>
              <a:t>                  {</a:t>
            </a:r>
          </a:p>
          <a:p>
            <a:r>
              <a:t>                    "query": "crema idratante",</a:t>
            </a:r>
          </a:p>
          <a:p>
            <a:r>
              <a:t>                    "value": 110,</a:t>
            </a:r>
          </a:p>
          <a:p>
            <a:r>
              <a:t>                    "formattedValue": "+110%",</a:t>
            </a:r>
          </a:p>
          <a:p>
            <a:r>
              <a:t>                    "link": "/trends/explore?q=crema+idratante&amp;date=2026-10-14+2026-10-20&amp;geo=IT"</a:t>
            </a:r>
          </a:p>
          <a:p>
            <a:r>
              <a:t>                  }</a:t>
            </a:r>
          </a:p>
          <a:p>
            <a:r>
              <a:t>                ]</a:t>
            </a:r>
          </a:p>
          <a:p>
            <a:r>
              <a:t>              }</a:t>
            </a:r>
          </a:p>
          <a:p>
            <a:r>
              <a:t>            ]</a:t>
            </a:r>
          </a:p>
          <a:p>
            <a:r>
              <a:t>          }</a:t>
            </a:r>
          </a:p>
          <a:p>
            <a:r>
              <a:t>        }</a:t>
            </a:r>
          </a:p>
          <a:p>
            <a:r>
              <a:t>      }</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"ingredients": [</a:t>
            </a:r>
          </a:p>
          <a:p>
            <a:r>
              <a:t>    {</a:t>
            </a:r>
          </a:p>
          <a:p>
            <a:r>
              <a:t>      "id": "peptides",</a:t>
            </a:r>
          </a:p>
          <a:p>
            <a:r>
              <a:t>      "label": {</a:t>
            </a:r>
          </a:p>
          <a:p>
            <a:r>
              <a:t>        "fr": "Peptides",</a:t>
            </a:r>
          </a:p>
          <a:p>
            <a:r>
              <a:t>        "it": "Peptidi"</a:t>
            </a:r>
          </a:p>
          <a:p>
            <a:r>
              <a:t>      },</a:t>
            </a:r>
          </a:p>
          <a:p>
            <a:r>
              <a:t>      "short": {</a:t>
            </a:r>
          </a:p>
          <a:p>
            <a:r>
              <a:t>        "fr": "Peptides",</a:t>
            </a:r>
          </a:p>
          <a:p>
            <a:r>
              <a:t>        "it": "Peptidi"</a:t>
            </a:r>
          </a:p>
          <a:p>
            <a:r>
              <a:t>      },</a:t>
            </a:r>
          </a:p>
          <a:p>
            <a:r>
              <a:t>      "inci": [</a:t>
            </a:r>
          </a:p>
          <a:p>
            <a:r>
              <a:t>        "DIPEPTIDE DIAMINOBUTYROYL BENZYLAMIDE DIACETATE",</a:t>
            </a:r>
          </a:p>
          <a:p>
            <a:r>
              <a:t>        "ACETYL HEXAPEPTIDE-8",</a:t>
            </a:r>
          </a:p>
          <a:p>
            <a:r>
              <a:t>        "TRIPEPTIDE-1"</a:t>
            </a:r>
          </a:p>
          <a:p>
            <a:r>
              <a:t>      ],</a:t>
            </a:r>
          </a:p>
          <a:p>
            <a:r>
              <a:t>      "priority": 100,</a:t>
            </a:r>
          </a:p>
          <a:p>
            <a:r>
              <a:t>      "role": {</a:t>
            </a:r>
          </a:p>
          <a:p>
            <a:r>
              <a:t>        "fr": "Lissage et fermeté",</a:t>
            </a:r>
          </a:p>
          <a:p>
            <a:r>
              <a:t>        "it": "Levigatezza e compattezza"</a:t>
            </a:r>
          </a:p>
          <a:p>
            <a:r>
              <a:t>      },</a:t>
            </a:r>
          </a:p>
          <a:p>
            <a:r>
              <a:t>      "official_actives": [</a:t>
            </a:r>
          </a:p>
          <a:p>
            <a:r>
              <a:t>        "SYN-AKE™",</a:t>
            </a:r>
          </a:p>
          <a:p>
            <a:r>
              <a:t>        "ARGIRELINE",</a:t>
            </a:r>
          </a:p>
          <a:p>
            <a:r>
              <a:t>        "KOLLAREN™"</a:t>
            </a:r>
          </a:p>
          <a:p>
            <a:r>
              <a:t>      ],</a:t>
            </a:r>
          </a:p>
          <a:p>
            <a:r>
              <a:t>      "source_ids": [</a:t>
            </a:r>
          </a:p>
          <a:p>
            <a:r>
              <a:t>        "arpy-eye"</a:t>
            </a:r>
          </a:p>
          <a:p>
            <a:r>
              <a:t>      ],</a:t>
            </a:r>
          </a:p>
          <a:p>
            <a:r>
              <a:t>      "source_url": "https://ioma-paris.com/products/creme-genereuse-contour-des-yeux",</a:t>
            </a:r>
          </a:p>
          <a:p>
            <a:r>
              <a:t>      "verified_at": "2026-10-21T23:36:25.189922+00:00"</a:t>
            </a:r>
          </a:p>
          <a:p>
            <a:r>
              <a:t>    },</a:t>
            </a:r>
          </a:p>
          <a:p>
            <a:r>
              <a:t>    {</a:t>
            </a:r>
          </a:p>
          <a:p>
            <a:r>
              <a:t>      "id": "vitamin-e",</a:t>
            </a:r>
          </a:p>
          <a:p>
            <a:r>
              <a:t>      "label": {</a:t>
            </a:r>
          </a:p>
          <a:p>
            <a:r>
              <a:t>        "fr": "Vitamine E",</a:t>
            </a:r>
          </a:p>
          <a:p>
            <a:r>
              <a:t>        "it": "Vitamina E"</a:t>
            </a:r>
          </a:p>
          <a:p>
            <a:r>
              <a:t>      },</a:t>
            </a:r>
          </a:p>
          <a:p>
            <a:r>
              <a:t>      "short": {</a:t>
            </a:r>
          </a:p>
          <a:p>
            <a:r>
              <a:t>        "fr": "Vitamine E",</a:t>
            </a:r>
          </a:p>
          <a:p>
            <a:r>
              <a:t>        "it": "Vitamina E"</a:t>
            </a:r>
          </a:p>
          <a:p>
            <a:r>
              <a:t>      },</a:t>
            </a:r>
          </a:p>
          <a:p>
            <a:r>
              <a:t>      "inci": [</a:t>
            </a:r>
          </a:p>
          <a:p>
            <a:r>
              <a:t>        "TOCOPHERYL ACETATE",</a:t>
            </a:r>
          </a:p>
          <a:p>
            <a:r>
              <a:t>        "TOCOPHEROL"</a:t>
            </a:r>
          </a:p>
          <a:p>
            <a:r>
              <a:t>      ],</a:t>
            </a:r>
          </a:p>
          <a:p>
            <a:r>
              <a:t>      "priority": 90,</a:t>
            </a:r>
          </a:p>
          <a:p>
            <a:r>
              <a:t>      "role": {</a:t>
            </a:r>
          </a:p>
          <a:p>
            <a:r>
              <a:t>        "fr": "Hydratation",</a:t>
            </a:r>
          </a:p>
          <a:p>
            <a:r>
              <a:t>        "it": "Idratazione"</a:t>
            </a:r>
          </a:p>
          <a:p>
            <a:r>
              <a:t>      },</a:t>
            </a:r>
          </a:p>
          <a:p>
            <a:r>
              <a:t>      "source_ids": [</a:t>
            </a:r>
          </a:p>
          <a:p>
            <a:r>
              <a:t>        "arpy-eye"</a:t>
            </a:r>
          </a:p>
          <a:p>
            <a:r>
              <a:t>      ],</a:t>
            </a:r>
          </a:p>
          <a:p>
            <a:r>
              <a:t>      "source_url": "https://ioma-paris.com/products/creme-genereuse-contour-des-yeux",</a:t>
            </a:r>
          </a:p>
          <a:p>
            <a:r>
              <a:t>      "verified_at": "2026-10-21T23:36:25.189922+00:00"</a:t>
            </a:r>
          </a:p>
          <a:p>
            <a:r>
              <a:t>    }</a:t>
            </a:r>
          </a:p>
          <a:p>
            <a:r>
              <a:t>  ],</a:t>
            </a:r>
          </a:p>
          <a:p>
            <a:r>
              <a:t>  "caption": "Des lignes, des courbes, un peu de poésie. Une inspiration graphique autour des peptides présents dans la formule de Crème Généreuse Contour des Yeux.\n\nAnimation graphique d’inspiration. Aucun résultat de soin représenté.\n\n#IOMAParis #RituelDeSoin #Skincare",</a:t>
            </a:r>
          </a:p>
          <a:p>
            <a:r>
              <a:t>  "strategy": {</a:t>
            </a:r>
          </a:p>
          <a:p>
            <a:r>
              <a:t>    "positioning": "Crème Généreuse lisse les rides et aide à raffermir le contour des yeux. Peptides et vitamine E : présents dans son INCI et cités dans le récent contenu arpy.",</a:t>
            </a:r>
          </a:p>
          <a:p>
            <a:r>
              <a:t>    "audience": "Hypothèse de cible : personnes recherchant un soin ciblé pour les rides du contour des yeux.",</a:t>
            </a:r>
          </a:p>
          <a:p>
            <a:r>
              <a:t>    "activation": "Alterner claim, inspiration animée et avis client. Email avec lien du post publié.",</a:t>
            </a:r>
          </a:p>
          <a:p>
            <a:r>
              <a:t>    "measurement": "Comparer enregistrements et visites produit par format. Ne pas déduire une efficacité du soin."</a:t>
            </a:r>
          </a:p>
          <a:p>
            <a:r>
              <a:t>  },</a:t>
            </a:r>
          </a:p>
          <a:p>
            <a:r>
              <a:t>  "source": "https://ioma-paris.com/products/creme-genereuse-contour-des-yeux"</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"data": {</a:t>
            </a:r>
          </a:p>
          <a:p>
            <a:r>
              <a:t>    "retrieved_at": "2026-10-21T23:26:46.230414+00:00",</a:t>
            </a:r>
          </a:p>
          <a:p>
            <a:r>
              <a:t>    "geo": "FR",</a:t>
            </a:r>
          </a:p>
          <a:p>
            <a:r>
              <a:t>    "language": "fr",</a:t>
            </a:r>
          </a:p>
          <a:p>
            <a:r>
              <a:t>    "period_start": "2026-10-14",</a:t>
            </a:r>
          </a:p>
          <a:p>
            <a:r>
              <a:t>    "period_end": "2026-10-20",</a:t>
            </a:r>
          </a:p>
          <a:p>
            <a:r>
              <a:t>    "category_id": 143,</a:t>
            </a:r>
          </a:p>
          <a:p>
            <a:r>
              <a:t>    "category_name": "Face &amp; Body Care",</a:t>
            </a:r>
          </a:p>
          <a:p>
            <a:r>
              <a:t>    "search_property": "web",</a:t>
            </a:r>
          </a:p>
          <a:p>
            <a:r>
              <a:t>    "timezone": "UTC",</a:t>
            </a:r>
          </a:p>
          <a:p>
            <a:r>
              <a:t>    "source_url": "https://trends.google.com/trends/explore?cat=143&amp;date=2026-10-14+2026-10-20&amp;geo=FR&amp;hl=fr",</a:t>
            </a:r>
          </a:p>
          <a:p>
            <a:r>
              <a:t>    "top": [</a:t>
            </a:r>
          </a:p>
          <a:p>
            <a:r>
              <a:t>      {</a:t>
            </a:r>
          </a:p>
          <a:p>
            <a:r>
              <a:t>        "query": "yves rocher",</a:t>
            </a:r>
          </a:p>
          <a:p>
            <a:r>
              <a:t>        "value": 17,</a:t>
            </a:r>
          </a:p>
          <a:p>
            <a:r>
              <a:t>        "source_rank": 7,</a:t>
            </a:r>
          </a:p>
          <a:p>
            <a:r>
              <a:t>        "breakout": false</a:t>
            </a:r>
          </a:p>
          <a:p>
            <a:r>
              <a:t>      },</a:t>
            </a:r>
          </a:p>
          <a:p>
            <a:r>
              <a:t>      {</a:t>
            </a:r>
          </a:p>
          <a:p>
            <a:r>
              <a:t>        "query": "crème",</a:t>
            </a:r>
          </a:p>
          <a:p>
            <a:r>
              <a:t>        "value": 15,</a:t>
            </a:r>
          </a:p>
          <a:p>
            <a:r>
              <a:t>        "source_rank": 9,</a:t>
            </a:r>
          </a:p>
          <a:p>
            <a:r>
              <a:t>        "breakout": false</a:t>
            </a:r>
          </a:p>
          <a:p>
            <a:r>
              <a:t>      },</a:t>
            </a:r>
          </a:p>
          <a:p>
            <a:r>
              <a:t>      {</a:t>
            </a:r>
          </a:p>
          <a:p>
            <a:r>
              <a:t>        "query": "vichy",</a:t>
            </a:r>
          </a:p>
          <a:p>
            <a:r>
              <a:t>        "value": 12,</a:t>
            </a:r>
          </a:p>
          <a:p>
            <a:r>
              <a:t>        "source_rank": 11,</a:t>
            </a:r>
          </a:p>
          <a:p>
            <a:r>
              <a:t>        "breakout": false</a:t>
            </a:r>
          </a:p>
          <a:p>
            <a:r>
              <a:t>      },</a:t>
            </a:r>
          </a:p>
          <a:p>
            <a:r>
              <a:t>      {</a:t>
            </a:r>
          </a:p>
          <a:p>
            <a:r>
              <a:t>        "query": "guerlain",</a:t>
            </a:r>
          </a:p>
          <a:p>
            <a:r>
              <a:t>        "value": 10,</a:t>
            </a:r>
          </a:p>
          <a:p>
            <a:r>
              <a:t>        "source_rank": 12,</a:t>
            </a:r>
          </a:p>
          <a:p>
            <a:r>
              <a:t>        "breakout": false</a:t>
            </a:r>
          </a:p>
          <a:p>
            <a:r>
              <a:t>      },</a:t>
            </a:r>
          </a:p>
          <a:p>
            <a:r>
              <a:t>      {</a:t>
            </a:r>
          </a:p>
          <a:p>
            <a:r>
              <a:t>        "query": "chanel",</a:t>
            </a:r>
          </a:p>
          <a:p>
            <a:r>
              <a:t>        "value": 9,</a:t>
            </a:r>
          </a:p>
          <a:p>
            <a:r>
              <a:t>        "source_rank": 15,</a:t>
            </a:r>
          </a:p>
          <a:p>
            <a:r>
              <a:t>        "breakout": false</a:t>
            </a:r>
          </a:p>
          <a:p>
            <a:r>
              <a:t>      }</a:t>
            </a:r>
          </a:p>
          <a:p>
            <a:r>
              <a:t>    ],</a:t>
            </a:r>
          </a:p>
          <a:p>
            <a:r>
              <a:t>    "rising": [</a:t>
            </a:r>
          </a:p>
          <a:p>
            <a:r>
              <a:t>      {</a:t>
            </a:r>
          </a:p>
          <a:p>
            <a:r>
              <a:t>        "query": "musc ravageur",</a:t>
            </a:r>
          </a:p>
          <a:p>
            <a:r>
              <a:t>        "value": 350,</a:t>
            </a:r>
          </a:p>
          <a:p>
            <a:r>
              <a:t>        "source_rank": 2,</a:t>
            </a:r>
          </a:p>
          <a:p>
            <a:r>
              <a:t>        "breakout": false</a:t>
            </a:r>
          </a:p>
          <a:p>
            <a:r>
              <a:t>      },</a:t>
            </a:r>
          </a:p>
          <a:p>
            <a:r>
              <a:t>      {</a:t>
            </a:r>
          </a:p>
          <a:p>
            <a:r>
              <a:t>        "query": "vernis rouge",</a:t>
            </a:r>
          </a:p>
          <a:p>
            <a:r>
              <a:t>        "value": 90,</a:t>
            </a:r>
          </a:p>
          <a:p>
            <a:r>
              <a:t>        "source_rank": 4,</a:t>
            </a:r>
          </a:p>
          <a:p>
            <a:r>
              <a:t>        "breakout": false</a:t>
            </a:r>
          </a:p>
          <a:p>
            <a:r>
              <a:t>      },</a:t>
            </a:r>
          </a:p>
          <a:p>
            <a:r>
              <a:t>      {</a:t>
            </a:r>
          </a:p>
          <a:p>
            <a:r>
              <a:t>        "query": "action l'oreal",</a:t>
            </a:r>
          </a:p>
          <a:p>
            <a:r>
              <a:t>        "value": 80,</a:t>
            </a:r>
          </a:p>
          <a:p>
            <a:r>
              <a:t>        "source_rank": 5,</a:t>
            </a:r>
          </a:p>
          <a:p>
            <a:r>
              <a:t>        "breakout": false</a:t>
            </a:r>
          </a:p>
          <a:p>
            <a:r>
              <a:t>      }</a:t>
            </a:r>
          </a:p>
          <a:p>
            <a:r>
              <a:t>    ],</a:t>
            </a:r>
          </a:p>
          <a:p>
            <a:r>
              <a:t>    "interpretation": "Sélection de marques beauté et soins. Les hausses ne prouvent pas un intérêt accru pour le contour des yeux IOMA.",</a:t>
            </a:r>
          </a:p>
          <a:p>
            <a:r>
              <a:t>    "comparison_start": "2026-10-07",</a:t>
            </a:r>
          </a:p>
          <a:p>
            <a:r>
              <a:t>    "comparison_end": "2026-10-13",</a:t>
            </a:r>
          </a:p>
          <a:p>
            <a:r>
              <a:t>    "method_url": "https://support.google.com/trends/answer/4355000",</a:t>
            </a:r>
          </a:p>
          <a:p>
            <a:r>
              <a:t>    "response_sha256": "abe2e1fa0b6abbdfe43e53a10cff48c44bcbce833fc6d80b255398199af8fce9",</a:t>
            </a:r>
          </a:p>
          <a:p>
            <a:r>
              <a:t>    "selection_note": "Editorial relevance filter; original order, spelling and scores retained. Not exhaustive beauty search volumes."</a:t>
            </a:r>
          </a:p>
          <a:p>
            <a:r>
              <a:t>  },</a:t>
            </a:r>
          </a:p>
          <a:p>
            <a:r>
              <a:t>  "evidence": {</a:t>
            </a:r>
          </a:p>
          <a:p>
            <a:r>
              <a:t>    "retrieved_at": "2026-10-21T23:26:46.230414+00:00",</a:t>
            </a:r>
          </a:p>
          <a:p>
            <a:r>
              <a:t>    "geo": "FR",</a:t>
            </a:r>
          </a:p>
          <a:p>
            <a:r>
              <a:t>    "language": "fr",</a:t>
            </a:r>
          </a:p>
          <a:p>
            <a:r>
              <a:t>    "period_start": "2026-10-14",</a:t>
            </a:r>
          </a:p>
          <a:p>
            <a:r>
              <a:t>    "period_end": "2026-10-20",</a:t>
            </a:r>
          </a:p>
          <a:p>
            <a:r>
              <a:t>    "category_id": 143,</a:t>
            </a:r>
          </a:p>
          <a:p>
            <a:r>
              <a:t>    "category_name": "Face &amp; Body Care",</a:t>
            </a:r>
          </a:p>
          <a:p>
            <a:r>
              <a:t>    "search_property": "web",</a:t>
            </a:r>
          </a:p>
          <a:p>
            <a:r>
              <a:t>    "timezone": "UTC",</a:t>
            </a:r>
          </a:p>
          <a:p>
            <a:r>
              <a:t>    "seed_keyword": "",</a:t>
            </a:r>
          </a:p>
          <a:p>
            <a:r>
              <a:t>    "source_url": "https://trends.google.com/trends/explore?cat=143&amp;date=2026-10-14+2026-10-20&amp;geo=FR&amp;hl=fr",</a:t>
            </a:r>
          </a:p>
          <a:p>
            <a:r>
              <a:t>    "widget_request": {</a:t>
            </a:r>
          </a:p>
          <a:p>
            <a:r>
              <a:t>      "restriction": {</a:t>
            </a:r>
          </a:p>
          <a:p>
            <a:r>
              <a:t>        "geo": {</a:t>
            </a:r>
          </a:p>
          <a:p>
            <a:r>
              <a:t>          "country": "FR"</a:t>
            </a:r>
          </a:p>
          <a:p>
            <a:r>
              <a:t>        },</a:t>
            </a:r>
          </a:p>
          <a:p>
            <a:r>
              <a:t>        "time": "2026-10-14 2026-10-20",</a:t>
            </a:r>
          </a:p>
          <a:p>
            <a:r>
              <a:t>        "originalTimeRangeForExploreUrl": "2026-10-14 2026-10-20"</a:t>
            </a:r>
          </a:p>
          <a:p>
            <a:r>
              <a:t>      },</a:t>
            </a:r>
          </a:p>
          <a:p>
            <a:r>
              <a:t>      "keywordType": "QUERY",</a:t>
            </a:r>
          </a:p>
          <a:p>
            <a:r>
              <a:t>      "metric": [</a:t>
            </a:r>
          </a:p>
          <a:p>
            <a:r>
              <a:t>        "TOP",</a:t>
            </a:r>
          </a:p>
          <a:p>
            <a:r>
              <a:t>        "RISING"</a:t>
            </a:r>
          </a:p>
          <a:p>
            <a:r>
              <a:t>      ],</a:t>
            </a:r>
          </a:p>
          <a:p>
            <a:r>
              <a:t>      "trendinessSettings": {</a:t>
            </a:r>
          </a:p>
          <a:p>
            <a:r>
              <a:t>        "compareTime": "2026-10-07 2026-10-13"</a:t>
            </a:r>
          </a:p>
          <a:p>
            <a:r>
              <a:t>      },</a:t>
            </a:r>
          </a:p>
          <a:p>
            <a:r>
              <a:t>      "requestOptions": {</a:t>
            </a:r>
          </a:p>
          <a:p>
            <a:r>
              <a:t>        "property": "",</a:t>
            </a:r>
          </a:p>
          <a:p>
            <a:r>
              <a:t>        "backend": "IZG",</a:t>
            </a:r>
          </a:p>
          <a:p>
            <a:r>
              <a:t>        "category": 143</a:t>
            </a:r>
          </a:p>
          <a:p>
            <a:r>
              <a:t>      },</a:t>
            </a:r>
          </a:p>
          <a:p>
            <a:r>
              <a:t>      "language": "fr",</a:t>
            </a:r>
          </a:p>
          <a:p>
            <a:r>
              <a:t>      "userCountryCode": "US",</a:t>
            </a:r>
          </a:p>
          <a:p>
            <a:r>
              <a:t>      "userConfig": {</a:t>
            </a:r>
          </a:p>
          <a:p>
            <a:r>
              <a:t>        "userType": "USER_TYPE_SCRAPER"</a:t>
            </a:r>
          </a:p>
          <a:p>
            <a:r>
              <a:t>      }</a:t>
            </a:r>
          </a:p>
          <a:p>
            <a:r>
              <a:t>    },</a:t>
            </a:r>
          </a:p>
          <a:p>
            <a:r>
              <a:t>    "response": {</a:t>
            </a:r>
          </a:p>
          <a:p>
            <a:r>
              <a:t>      "default": {</a:t>
            </a:r>
          </a:p>
          <a:p>
            <a:r>
              <a:t>        "rankedList": [</a:t>
            </a:r>
          </a:p>
          <a:p>
            <a:r>
              <a:t>          {</a:t>
            </a:r>
          </a:p>
          <a:p>
            <a:r>
              <a:t>            "rankedKeyword": [</a:t>
            </a:r>
          </a:p>
          <a:p>
            <a:r>
              <a:t>              {</a:t>
            </a:r>
          </a:p>
          <a:p>
            <a:r>
              <a:t>                "query": "parfum",</a:t>
            </a:r>
          </a:p>
          <a:p>
            <a:r>
              <a:t>                "value": 100,</a:t>
            </a:r>
          </a:p>
          <a:p>
            <a:r>
              <a:t>                "formattedValue": "100",</a:t>
            </a:r>
          </a:p>
          <a:p>
            <a:r>
              <a:t>                "hasData": true,</a:t>
            </a:r>
          </a:p>
          <a:p>
            <a:r>
              <a:t>                "link": "/trends/explore?q=parfum&amp;date=2026-10-14+2026-10-20&amp;geo=FR"</a:t>
            </a:r>
          </a:p>
          <a:p>
            <a:r>
              <a:t>              },</a:t>
            </a:r>
          </a:p>
          <a:p>
            <a:r>
              <a:t>              {</a:t>
            </a:r>
          </a:p>
          <a:p>
            <a:r>
              <a:t>                "query": "sephora",</a:t>
            </a:r>
          </a:p>
          <a:p>
            <a:r>
              <a:t>                "value": 43,</a:t>
            </a:r>
          </a:p>
          <a:p>
            <a:r>
              <a:t>                "formattedValue": "43",</a:t>
            </a:r>
          </a:p>
          <a:p>
            <a:r>
              <a:t>                "hasData": true,</a:t>
            </a:r>
          </a:p>
          <a:p>
            <a:r>
              <a:t>                "link": "/trends/explore?q=sephora&amp;date=2026-10-14+2026-10-20&amp;geo=FR"</a:t>
            </a:r>
          </a:p>
          <a:p>
            <a:r>
              <a:t>              },</a:t>
            </a:r>
          </a:p>
          <a:p>
            <a:r>
              <a:t>              {</a:t>
            </a:r>
          </a:p>
          <a:p>
            <a:r>
              <a:t>                "query": "nocibe",</a:t>
            </a:r>
          </a:p>
          <a:p>
            <a:r>
              <a:t>                "value": 23,</a:t>
            </a:r>
          </a:p>
          <a:p>
            <a:r>
              <a:t>                "formattedValue": "23",</a:t>
            </a:r>
          </a:p>
          <a:p>
            <a:r>
              <a:t>                "hasData": true,</a:t>
            </a:r>
          </a:p>
          <a:p>
            <a:r>
              <a:t>                "link": "/trends/explore?q=nocibe&amp;date=2026-10-14+2026-10-20&amp;geo=FR"</a:t>
            </a:r>
          </a:p>
          <a:p>
            <a:r>
              <a:t>              },</a:t>
            </a:r>
          </a:p>
          <a:p>
            <a:r>
              <a:t>              {</a:t>
            </a:r>
          </a:p>
          <a:p>
            <a:r>
              <a:t>                "query": "ongle",</a:t>
            </a:r>
          </a:p>
          <a:p>
            <a:r>
              <a:t>                "value": 23,</a:t>
            </a:r>
          </a:p>
          <a:p>
            <a:r>
              <a:t>                "formattedValue": "23",</a:t>
            </a:r>
          </a:p>
          <a:p>
            <a:r>
              <a:t>                "hasData": true,</a:t>
            </a:r>
          </a:p>
          <a:p>
            <a:r>
              <a:t>                "link": "/trends/explore?q=ongle&amp;date=2026-10-14+2026-10-20&amp;geo=FR"</a:t>
            </a:r>
          </a:p>
          <a:p>
            <a:r>
              <a:t>              },</a:t>
            </a:r>
          </a:p>
          <a:p>
            <a:r>
              <a:t>              {</a:t>
            </a:r>
          </a:p>
          <a:p>
            <a:r>
              <a:t>                "query": "maquillage",</a:t>
            </a:r>
          </a:p>
          <a:p>
            <a:r>
              <a:t>                "value": 19,</a:t>
            </a:r>
          </a:p>
          <a:p>
            <a:r>
              <a:t>                "formattedValue": "19",</a:t>
            </a:r>
          </a:p>
          <a:p>
            <a:r>
              <a:t>                "hasData": true,</a:t>
            </a:r>
          </a:p>
          <a:p>
            <a:r>
              <a:t>                "link": "/trends/explore?q=maquillage&amp;date=2026-10-14+2026-10-20&amp;geo=FR"</a:t>
            </a:r>
          </a:p>
          <a:p>
            <a:r>
              <a:t>              },</a:t>
            </a:r>
          </a:p>
          <a:p>
            <a:r>
              <a:t>              {</a:t>
            </a:r>
          </a:p>
          <a:p>
            <a:r>
              <a:t>                "query": "parking",</a:t>
            </a:r>
          </a:p>
          <a:p>
            <a:r>
              <a:t>                "value": 19,</a:t>
            </a:r>
          </a:p>
          <a:p>
            <a:r>
              <a:t>                "formattedValue": "19",</a:t>
            </a:r>
          </a:p>
          <a:p>
            <a:r>
              <a:t>                "hasData": true,</a:t>
            </a:r>
          </a:p>
          <a:p>
            <a:r>
              <a:t>                "link": "/trends/explore?q=parking&amp;date=2026-10-14+2026-10-20&amp;geo=FR"</a:t>
            </a:r>
          </a:p>
          <a:p>
            <a:r>
              <a:t>              },</a:t>
            </a:r>
          </a:p>
          <a:p>
            <a:r>
              <a:t>              {</a:t>
            </a:r>
          </a:p>
          <a:p>
            <a:r>
              <a:t>                "query": "yves rocher",</a:t>
            </a:r>
          </a:p>
          <a:p>
            <a:r>
              <a:t>                "value": 17,</a:t>
            </a:r>
          </a:p>
          <a:p>
            <a:r>
              <a:t>                "formattedValue": "17",</a:t>
            </a:r>
          </a:p>
          <a:p>
            <a:r>
              <a:t>                "hasData": true,</a:t>
            </a:r>
          </a:p>
          <a:p>
            <a:r>
              <a:t>                "link": "/trends/explore?q=yves+rocher&amp;date=2026-10-14+2026-10-20&amp;geo=FR"</a:t>
            </a:r>
          </a:p>
          <a:p>
            <a:r>
              <a:t>              },</a:t>
            </a:r>
          </a:p>
          <a:p>
            <a:r>
              <a:t>              {</a:t>
            </a:r>
          </a:p>
          <a:p>
            <a:r>
              <a:t>                "query": "dior",</a:t>
            </a:r>
          </a:p>
          <a:p>
            <a:r>
              <a:t>                "value": 15,</a:t>
            </a:r>
          </a:p>
          <a:p>
            <a:r>
              <a:t>                "formattedValue": "15",</a:t>
            </a:r>
          </a:p>
          <a:p>
            <a:r>
              <a:t>                "hasData": true,</a:t>
            </a:r>
          </a:p>
          <a:p>
            <a:r>
              <a:t>                "link": "/trends/explore?q=dior&amp;date=2026-10-14+2026-10-20&amp;geo=FR"</a:t>
            </a:r>
          </a:p>
          <a:p>
            <a:r>
              <a:t>              },</a:t>
            </a:r>
          </a:p>
          <a:p>
            <a:r>
              <a:t>              {</a:t>
            </a:r>
          </a:p>
          <a:p>
            <a:r>
              <a:t>                "query": "crème",</a:t>
            </a:r>
          </a:p>
          <a:p>
            <a:r>
              <a:t>                "value": 15,</a:t>
            </a:r>
          </a:p>
          <a:p>
            <a:r>
              <a:t>                "formattedValue": "15",</a:t>
            </a:r>
          </a:p>
          <a:p>
            <a:r>
              <a:t>                "hasData": true,</a:t>
            </a:r>
          </a:p>
          <a:p>
            <a:r>
              <a:t>                "link": "/trends/explore?q=cr%C3%A8me&amp;date=2026-10-14+2026-10-20&amp;geo=FR"</a:t>
            </a:r>
          </a:p>
          <a:p>
            <a:r>
              <a:t>              },</a:t>
            </a:r>
          </a:p>
          <a:p>
            <a:r>
              <a:t>              {</a:t>
            </a:r>
          </a:p>
          <a:p>
            <a:r>
              <a:t>                "query": "parfum homme",</a:t>
            </a:r>
          </a:p>
          <a:p>
            <a:r>
              <a:t>                "value": 12,</a:t>
            </a:r>
          </a:p>
          <a:p>
            <a:r>
              <a:t>                "formattedValue": "12",</a:t>
            </a:r>
          </a:p>
          <a:p>
            <a:r>
              <a:t>                "hasData": true,</a:t>
            </a:r>
          </a:p>
          <a:p>
            <a:r>
              <a:t>                "link": "/trends/explore?q=parfum+homme&amp;date=2026-10-14+2026-10-20&amp;geo=FR"</a:t>
            </a:r>
          </a:p>
          <a:p>
            <a:r>
              <a:t>              },</a:t>
            </a:r>
          </a:p>
          <a:p>
            <a:r>
              <a:t>              {</a:t>
            </a:r>
          </a:p>
          <a:p>
            <a:r>
              <a:t>                "query": "vichy",</a:t>
            </a:r>
          </a:p>
          <a:p>
            <a:r>
              <a:t>                "value": 12,</a:t>
            </a:r>
          </a:p>
          <a:p>
            <a:r>
              <a:t>                "formattedValue": "12",</a:t>
            </a:r>
          </a:p>
          <a:p>
            <a:r>
              <a:t>                "hasData": true,</a:t>
            </a:r>
          </a:p>
          <a:p>
            <a:r>
              <a:t>                "link": "/trends/explore?q=vichy&amp;date=2026-10-14+2026-10-20&amp;geo=FR"</a:t>
            </a:r>
          </a:p>
          <a:p>
            <a:r>
              <a:t>              },</a:t>
            </a:r>
          </a:p>
          <a:p>
            <a:r>
              <a:t>              {</a:t>
            </a:r>
          </a:p>
          <a:p>
            <a:r>
              <a:t>                "query": "guerlain",</a:t>
            </a:r>
          </a:p>
          <a:p>
            <a:r>
              <a:t>                "value": 10,</a:t>
            </a:r>
          </a:p>
          <a:p>
            <a:r>
              <a:t>                "formattedValue": "10",</a:t>
            </a:r>
          </a:p>
          <a:p>
            <a:r>
              <a:t>                "hasData": true,</a:t>
            </a:r>
          </a:p>
          <a:p>
            <a:r>
              <a:t>                "link": "/trends/explore?q=guerlain&amp;date=2026-10-14+2026-10-20&amp;geo=FR"</a:t>
            </a:r>
          </a:p>
          <a:p>
            <a:r>
              <a:t>              },</a:t>
            </a:r>
          </a:p>
          <a:p>
            <a:r>
              <a:t>              {</a:t>
            </a:r>
          </a:p>
          <a:p>
            <a:r>
              <a:t>                "query": "parfum femme",</a:t>
            </a:r>
          </a:p>
          <a:p>
            <a:r>
              <a:t>                "value": 10,</a:t>
            </a:r>
          </a:p>
          <a:p>
            <a:r>
              <a:t>                "formattedValue": "10",</a:t>
            </a:r>
          </a:p>
          <a:p>
            <a:r>
              <a:t>                "hasData": true,</a:t>
            </a:r>
          </a:p>
          <a:p>
            <a:r>
              <a:t>                "link": "/trends/explore?q=parfum+femme&amp;date=2026-10-14+2026-10-20&amp;geo=FR"</a:t>
            </a:r>
          </a:p>
          <a:p>
            <a:r>
              <a:t>              },</a:t>
            </a:r>
          </a:p>
          <a:p>
            <a:r>
              <a:t>              {</a:t>
            </a:r>
          </a:p>
          <a:p>
            <a:r>
              <a:t>                "query": "mascara",</a:t>
            </a:r>
          </a:p>
          <a:p>
            <a:r>
              <a:t>                "value": 10,</a:t>
            </a:r>
          </a:p>
          <a:p>
            <a:r>
              <a:t>                "formattedValue": "10",</a:t>
            </a:r>
          </a:p>
          <a:p>
            <a:r>
              <a:t>                "hasData": true,</a:t>
            </a:r>
          </a:p>
          <a:p>
            <a:r>
              <a:t>                "link": "/trends/explore?q=mascara&amp;date=2026-10-14+2026-10-20&amp;geo=FR"</a:t>
            </a:r>
          </a:p>
          <a:p>
            <a:r>
              <a:t>              },</a:t>
            </a:r>
          </a:p>
          <a:p>
            <a:r>
              <a:t>              {</a:t>
            </a:r>
          </a:p>
          <a:p>
            <a:r>
              <a:t>                "query": "chanel",</a:t>
            </a:r>
          </a:p>
          <a:p>
            <a:r>
              <a:t>                "value": 9,</a:t>
            </a:r>
          </a:p>
          <a:p>
            <a:r>
              <a:t>                "formattedValue": "9",</a:t>
            </a:r>
          </a:p>
          <a:p>
            <a:r>
              <a:t>                "hasData": true,</a:t>
            </a:r>
          </a:p>
          <a:p>
            <a:r>
              <a:t>                "link": "/trends/explore?q=chanel&amp;date=2026-10-14+2026-10-20&amp;geo=FR"</a:t>
            </a:r>
          </a:p>
          <a:p>
            <a:r>
              <a:t>              },</a:t>
            </a:r>
          </a:p>
          <a:p>
            <a:r>
              <a:t>              {</a:t>
            </a:r>
          </a:p>
          <a:p>
            <a:r>
              <a:t>                "query": "fond de teint",</a:t>
            </a:r>
          </a:p>
          <a:p>
            <a:r>
              <a:t>                "value": 8,</a:t>
            </a:r>
          </a:p>
          <a:p>
            <a:r>
              <a:t>                "formattedValue": "8",</a:t>
            </a:r>
          </a:p>
          <a:p>
            <a:r>
              <a:t>                "hasData": true,</a:t>
            </a:r>
          </a:p>
          <a:p>
            <a:r>
              <a:t>                "link": "/trends/explore?q=fond+de+teint&amp;date=2026-10-14+2026-10-20&amp;geo=FR"</a:t>
            </a:r>
          </a:p>
          <a:p>
            <a:r>
              <a:t>              },</a:t>
            </a:r>
          </a:p>
          <a:p>
            <a:r>
              <a:t>              {</a:t>
            </a:r>
          </a:p>
          <a:p>
            <a:r>
              <a:t>                "query": "nocibé",</a:t>
            </a:r>
          </a:p>
          <a:p>
            <a:r>
              <a:t>                "value": 8,</a:t>
            </a:r>
          </a:p>
          <a:p>
            <a:r>
              <a:t>                "formattedValue": "8",</a:t>
            </a:r>
          </a:p>
          <a:p>
            <a:r>
              <a:t>                "hasData": true,</a:t>
            </a:r>
          </a:p>
          <a:p>
            <a:r>
              <a:t>                "link": "/trends/explore?q=nocib%C3%A9&amp;date=2026-10-14+2026-10-20&amp;geo=FR"</a:t>
            </a:r>
          </a:p>
          <a:p>
            <a:r>
              <a:t>              },</a:t>
            </a:r>
          </a:p>
          <a:p>
            <a:r>
              <a:t>              {</a:t>
            </a:r>
          </a:p>
          <a:p>
            <a:r>
              <a:t>                "query": "nyx",</a:t>
            </a:r>
          </a:p>
          <a:p>
            <a:r>
              <a:t>                "value": 7,</a:t>
            </a:r>
          </a:p>
          <a:p>
            <a:r>
              <a:t>                "formattedValue": "7",</a:t>
            </a:r>
          </a:p>
          <a:p>
            <a:r>
              <a:t>                "hasData": true,</a:t>
            </a:r>
          </a:p>
          <a:p>
            <a:r>
              <a:t>                "link": "/trends/explore?q=nyx&amp;date=2026-10-14+2026-10-20&amp;geo=FR"</a:t>
            </a:r>
          </a:p>
          <a:p>
            <a:r>
              <a:t>              },</a:t>
            </a:r>
          </a:p>
          <a:p>
            <a:r>
              <a:t>              {</a:t>
            </a:r>
          </a:p>
          <a:p>
            <a:r>
              <a:t>                "query": "amazon",</a:t>
            </a:r>
          </a:p>
          <a:p>
            <a:r>
              <a:t>                "value": 7,</a:t>
            </a:r>
          </a:p>
          <a:p>
            <a:r>
              <a:t>                "formattedValue": "7",</a:t>
            </a:r>
          </a:p>
          <a:p>
            <a:r>
              <a:t>                "hasData": true,</a:t>
            </a:r>
          </a:p>
          <a:p>
            <a:r>
              <a:t>                "link": "/trends/explore?q=amazon&amp;date=2026-10-14+2026-10-20&amp;geo=FR"</a:t>
            </a:r>
          </a:p>
          <a:p>
            <a:r>
              <a:t>              },</a:t>
            </a:r>
          </a:p>
          <a:p>
            <a:r>
              <a:t>              {</a:t>
            </a:r>
          </a:p>
          <a:p>
            <a:r>
              <a:t>                "query": "dermatologue",</a:t>
            </a:r>
          </a:p>
          <a:p>
            <a:r>
              <a:t>                "value": 7,</a:t>
            </a:r>
          </a:p>
          <a:p>
            <a:r>
              <a:t>                "formattedValue": "7",</a:t>
            </a:r>
          </a:p>
          <a:p>
            <a:r>
              <a:t>                "hasData": true,</a:t>
            </a:r>
          </a:p>
          <a:p>
            <a:r>
              <a:t>                "link": "/trends/explore?q=dermatologue&amp;date=2026-10-14+2026-10-20&amp;geo=FR"</a:t>
            </a:r>
          </a:p>
          <a:p>
            <a:r>
              <a:t>              },</a:t>
            </a:r>
          </a:p>
          <a:p>
            <a:r>
              <a:t>              {</a:t>
            </a:r>
          </a:p>
          <a:p>
            <a:r>
              <a:t>                "query": "lip",</a:t>
            </a:r>
          </a:p>
          <a:p>
            <a:r>
              <a:t>                "value": 6,</a:t>
            </a:r>
          </a:p>
          <a:p>
            <a:r>
              <a:t>                "formattedValue": "6",</a:t>
            </a:r>
          </a:p>
          <a:p>
            <a:r>
              <a:t>                "hasData": true,</a:t>
            </a:r>
          </a:p>
          <a:p>
            <a:r>
              <a:t>                "link": "/trends/explore?q=lip&amp;date=2026-10-14+2026-10-20&amp;geo=FR"</a:t>
            </a:r>
          </a:p>
          <a:p>
            <a:r>
              <a:t>              },</a:t>
            </a:r>
          </a:p>
          <a:p>
            <a:r>
              <a:t>              {</a:t>
            </a:r>
          </a:p>
          <a:p>
            <a:r>
              <a:t>                "query": "caudalie",</a:t>
            </a:r>
          </a:p>
          <a:p>
            <a:r>
              <a:t>                "value": 6,</a:t>
            </a:r>
          </a:p>
          <a:p>
            <a:r>
              <a:t>                "formattedValue": "6",</a:t>
            </a:r>
          </a:p>
          <a:p>
            <a:r>
              <a:t>                "hasData": true,</a:t>
            </a:r>
          </a:p>
          <a:p>
            <a:r>
              <a:t>                "link": "/trends/explore?q=caudalie&amp;date=2026-10-14+2026-10-20&amp;geo=FR"</a:t>
            </a:r>
          </a:p>
          <a:p>
            <a:r>
              <a:t>              },</a:t>
            </a:r>
          </a:p>
          <a:p>
            <a:r>
              <a:t>              {</a:t>
            </a:r>
          </a:p>
          <a:p>
            <a:r>
              <a:t>                "query": "marionnaud",</a:t>
            </a:r>
          </a:p>
          <a:p>
            <a:r>
              <a:t>                "value": 6,</a:t>
            </a:r>
          </a:p>
          <a:p>
            <a:r>
              <a:t>                "formattedValue": "6",</a:t>
            </a:r>
          </a:p>
          <a:p>
            <a:r>
              <a:t>                "hasData": true,</a:t>
            </a:r>
          </a:p>
          <a:p>
            <a:r>
              <a:t>                "link": "/trends/explore?q=marionnaud&amp;date=2026-10-14+2026-10-20&amp;geo=FR"</a:t>
            </a:r>
          </a:p>
          <a:p>
            <a:r>
              <a:t>              },</a:t>
            </a:r>
          </a:p>
          <a:p>
            <a:r>
              <a:t>              {</a:t>
            </a:r>
          </a:p>
          <a:p>
            <a:r>
              <a:t>                "query": "parfumerie",</a:t>
            </a:r>
          </a:p>
          <a:p>
            <a:r>
              <a:t>                "value": 6,</a:t>
            </a:r>
          </a:p>
          <a:p>
            <a:r>
              <a:t>                "formattedValue": "6",</a:t>
            </a:r>
          </a:p>
          <a:p>
            <a:r>
              <a:t>                "hasData": true,</a:t>
            </a:r>
          </a:p>
          <a:p>
            <a:r>
              <a:t>                "link": "/trends/explore?q=parfumerie&amp;date=2026-10-14+2026-10-20&amp;geo=FR"</a:t>
            </a:r>
          </a:p>
          <a:p>
            <a:r>
              <a:t>              },</a:t>
            </a:r>
          </a:p>
          <a:p>
            <a:r>
              <a:t>              {</a:t>
            </a:r>
          </a:p>
          <a:p>
            <a:r>
              <a:t>                "query": "lancome",</a:t>
            </a:r>
          </a:p>
          <a:p>
            <a:r>
              <a:t>                "value": 6,</a:t>
            </a:r>
          </a:p>
          <a:p>
            <a:r>
              <a:t>                "formattedValue": "6",</a:t>
            </a:r>
          </a:p>
          <a:p>
            <a:r>
              <a:t>                "hasData": true,</a:t>
            </a:r>
          </a:p>
          <a:p>
            <a:r>
              <a:t>                "link": "/trends/explore?q=lancome&amp;date=2026-10-14+2026-10-20&amp;geo=FR"</a:t>
            </a:r>
          </a:p>
          <a:p>
            <a:r>
              <a:t>              }</a:t>
            </a:r>
          </a:p>
          <a:p>
            <a:r>
              <a:t>            ]</a:t>
            </a:r>
          </a:p>
          <a:p>
            <a:r>
              <a:t>          },</a:t>
            </a:r>
          </a:p>
          <a:p>
            <a:r>
              <a:t>          {</a:t>
            </a:r>
          </a:p>
          <a:p>
            <a:r>
              <a:t>            "rankedKeyword": [</a:t>
            </a:r>
          </a:p>
          <a:p>
            <a:r>
              <a:t>              {</a:t>
            </a:r>
          </a:p>
          <a:p>
            <a:r>
              <a:t>                "query": "patou",</a:t>
            </a:r>
          </a:p>
          <a:p>
            <a:r>
              <a:t>                "value": 350,</a:t>
            </a:r>
          </a:p>
          <a:p>
            <a:r>
              <a:t>                "formattedValue": "+350 %",</a:t>
            </a:r>
          </a:p>
          <a:p>
            <a:r>
              <a:t>                "link": "/trends/explore?q=patou&amp;date=2026-10-14+2026-10-20&amp;geo=FR"</a:t>
            </a:r>
          </a:p>
          <a:p>
            <a:r>
              <a:t>              },</a:t>
            </a:r>
          </a:p>
          <a:p>
            <a:r>
              <a:t>              {</a:t>
            </a:r>
          </a:p>
          <a:p>
            <a:r>
              <a:t>                "query": "musc ravageur",</a:t>
            </a:r>
          </a:p>
          <a:p>
            <a:r>
              <a:t>                "value": 350,</a:t>
            </a:r>
          </a:p>
          <a:p>
            <a:r>
              <a:t>                "formattedValue": "+350 %",</a:t>
            </a:r>
          </a:p>
          <a:p>
            <a:r>
              <a:t>                "link": "/trends/explore?q=musc+ravageur&amp;date=2026-10-14+2026-10-20&amp;geo=FR"</a:t>
            </a:r>
          </a:p>
          <a:p>
            <a:r>
              <a:t>              },</a:t>
            </a:r>
          </a:p>
          <a:p>
            <a:r>
              <a:t>              {</a:t>
            </a:r>
          </a:p>
          <a:p>
            <a:r>
              <a:t>                "query": "clara vello",</a:t>
            </a:r>
          </a:p>
          <a:p>
            <a:r>
              <a:t>                "value": 250,</a:t>
            </a:r>
          </a:p>
          <a:p>
            <a:r>
              <a:t>                "formattedValue": "+250 %",</a:t>
            </a:r>
          </a:p>
          <a:p>
            <a:r>
              <a:t>                "link": "/trends/explore?q=clara+vello&amp;date=2026-10-14+2026-10-20&amp;geo=FR"</a:t>
            </a:r>
          </a:p>
          <a:p>
            <a:r>
              <a:t>              },</a:t>
            </a:r>
          </a:p>
          <a:p>
            <a:r>
              <a:t>              {</a:t>
            </a:r>
          </a:p>
          <a:p>
            <a:r>
              <a:t>                "query": "vernis rouge",</a:t>
            </a:r>
          </a:p>
          <a:p>
            <a:r>
              <a:t>                "value": 90,</a:t>
            </a:r>
          </a:p>
          <a:p>
            <a:r>
              <a:t>                "formattedValue": "+90 %",</a:t>
            </a:r>
          </a:p>
          <a:p>
            <a:r>
              <a:t>                "link": "/trends/explore?q=vernis+rouge&amp;date=2026-10-14+2026-10-20&amp;geo=FR"</a:t>
            </a:r>
          </a:p>
          <a:p>
            <a:r>
              <a:t>              },</a:t>
            </a:r>
          </a:p>
          <a:p>
            <a:r>
              <a:t>              {</a:t>
            </a:r>
          </a:p>
          <a:p>
            <a:r>
              <a:t>                "query": "action l'oreal",</a:t>
            </a:r>
          </a:p>
          <a:p>
            <a:r>
              <a:t>                "value": 80,</a:t>
            </a:r>
          </a:p>
          <a:p>
            <a:r>
              <a:t>                "formattedValue": "+80 %",</a:t>
            </a:r>
          </a:p>
          <a:p>
            <a:r>
              <a:t>                "link": "/trends/explore?q=action+l'oreal&amp;date=2026-10-14+2026-10-20&amp;geo=FR"</a:t>
            </a:r>
          </a:p>
          <a:p>
            <a:r>
              <a:t>              },</a:t>
            </a:r>
          </a:p>
          <a:p>
            <a:r>
              <a:t>              {</a:t>
            </a:r>
          </a:p>
          <a:p>
            <a:r>
              <a:t>                "query": "gloss victoria secret",</a:t>
            </a:r>
          </a:p>
          <a:p>
            <a:r>
              <a:t>                "value": 70,</a:t>
            </a:r>
          </a:p>
          <a:p>
            <a:r>
              <a:t>                "formattedValue": "+70 %",</a:t>
            </a:r>
          </a:p>
          <a:p>
            <a:r>
              <a:t>                "link": "/trends/explore?q=gloss+victoria+secret&amp;date=2026-10-14+2026-10-20&amp;geo=FR"</a:t>
            </a:r>
          </a:p>
          <a:p>
            <a:r>
              <a:t>              },</a:t>
            </a:r>
          </a:p>
          <a:p>
            <a:r>
              <a:t>              {</a:t>
            </a:r>
          </a:p>
          <a:p>
            <a:r>
              <a:t>                "query": "poudre huda beauty",</a:t>
            </a:r>
          </a:p>
          <a:p>
            <a:r>
              <a:t>                "value": 40,</a:t>
            </a:r>
          </a:p>
          <a:p>
            <a:r>
              <a:t>                "formattedValue": "+40 %",</a:t>
            </a:r>
          </a:p>
          <a:p>
            <a:r>
              <a:t>                "link": "/trends/explore?q=poudre+huda+beauty&amp;date=2026-10-14+2026-10-20&amp;geo=FR"</a:t>
            </a:r>
          </a:p>
          <a:p>
            <a:r>
              <a:t>              }</a:t>
            </a:r>
          </a:p>
          <a:p>
            <a:r>
              <a:t>            ]</a:t>
            </a:r>
          </a:p>
          <a:p>
            <a:r>
              <a:t>          }</a:t>
            </a:r>
          </a:p>
          <a:p>
            <a:r>
              <a:t>        ]</a:t>
            </a:r>
          </a:p>
          <a:p>
            <a:r>
              <a:t>      }</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"arpy-eye",</a:t>
            </a:r>
          </a:p>
          <a:p>
            <a:r>
              <a:t>    "title": "peptide eye cream: what’s in it, and how and when to use it",</a:t>
            </a:r>
          </a:p>
          <a:p>
            <a:r>
              <a:t>    "url": "https://arpyskin.com/blogs/guides/peptide-eye-cream",</a:t>
            </a:r>
          </a:p>
          <a:p>
            <a:r>
              <a:t>    "publisher": "arpy",</a:t>
            </a:r>
          </a:p>
          <a:p>
            <a:r>
              <a:t>    "published_at": "2026-10-15T00:00:00+00:00",</a:t>
            </a:r>
          </a:p>
          <a:p>
            <a:r>
              <a:t>    "kind": "brand_promotion",</a:t>
            </a:r>
          </a:p>
          <a:p>
            <a:r>
              <a:t>    "brand": "arpy",</a:t>
            </a:r>
          </a:p>
          <a:p>
            <a:r>
              <a:t>    "topics": [</a:t>
            </a:r>
          </a:p>
          <a:p>
            <a:r>
              <a:t>      "peptides",</a:t>
            </a:r>
          </a:p>
          <a:p>
            <a:r>
              <a:t>      "vitamin-e",</a:t>
            </a:r>
          </a:p>
          <a:p>
            <a:r>
              <a:t>      "glycerin"</a:t>
            </a:r>
          </a:p>
          <a:p>
            <a:r>
              <a:t>    ],</a:t>
            </a:r>
          </a:p>
          <a:p>
            <a:r>
              <a:t>    "evidence_terms": [</a:t>
            </a:r>
          </a:p>
          <a:p>
            <a:r>
              <a:t>      "October 15, 2026",</a:t>
            </a:r>
          </a:p>
          <a:p>
            <a:r>
              <a:t>      "peptides",</a:t>
            </a:r>
          </a:p>
          <a:p>
            <a:r>
              <a:t>      "tocopherol: vitamin E",</a:t>
            </a:r>
          </a:p>
          <a:p>
            <a:r>
              <a:t>      "glycerin is a humectant"</a:t>
            </a:r>
          </a:p>
          <a:p>
            <a:r>
              <a:t>    ],</a:t>
            </a:r>
          </a:p>
          <a:p>
            <a:r>
              <a:t>    "summary": {</a:t>
            </a:r>
          </a:p>
          <a:p>
            <a:r>
              <a:t>      "fr": "arpy : contenu de marque du 15 octobre sur les peptides du contour des yeux. Ce n’est pas une annonce payante vérifiée.",</a:t>
            </a:r>
          </a:p>
          <a:p>
            <a:r>
              <a:t>      "it": "arpy: contenuto del marchio del 15 ottobre sui peptidi nel contorno occhi. Non è una campagna paid verificata."</a:t>
            </a:r>
          </a:p>
          <a:p>
            <a:r>
              <a:t>    },</a:t>
            </a:r>
          </a:p>
          <a:p>
            <a:r>
              <a:t>    "display_title": {</a:t>
            </a:r>
          </a:p>
          <a:p>
            <a:r>
              <a:t>      "fr": "Peptides &amp; contour des yeux : guide de marque",</a:t>
            </a:r>
          </a:p>
          <a:p>
            <a:r>
              <a:t>      "it": "Peptidi e contorno occhi: guida del marchio"</a:t>
            </a:r>
          </a:p>
          <a:p>
            <a:r>
              <a:t>    },</a:t>
            </a:r>
          </a:p>
          <a:p>
            <a:r>
              <a:t>    "in_week": true,</a:t>
            </a:r>
          </a:p>
          <a:p>
            <a:r>
              <a:t>    "checked_at": "2026-10-21T23:36:25.189922+00:00",</a:t>
            </a:r>
          </a:p>
          <a:p>
            <a:r>
              <a:t>    "content_sha256": "5635edc23b241274ea06f3cb61641693d863ef0d1b94408444ad281883d12d7b"</a:t>
            </a:r>
          </a:p>
          <a:p>
            <a:r>
              <a:t>  },</a:t>
            </a:r>
          </a:p>
          <a:p>
            <a:r>
              <a:t>  {</a:t>
            </a:r>
          </a:p>
          <a:p>
            <a:r>
              <a:t>    "id": "cerave",</a:t>
            </a:r>
          </a:p>
          <a:p>
            <a:r>
              <a:t>    "title": "CeraVe Hong Kong campaign",</a:t>
            </a:r>
          </a:p>
          <a:p>
            <a:r>
              <a:t>    "url": "https://www.marketing-interactive.com/cerave-hk-ditches-the-hard-sell-to-win-over-genz",</a:t>
            </a:r>
          </a:p>
          <a:p>
            <a:r>
              <a:t>    "publisher": "Marketing-Interactive",</a:t>
            </a:r>
          </a:p>
          <a:p>
            <a:r>
              <a:t>    "published_at": "2026-09-24T00:00:00+00:00",</a:t>
            </a:r>
          </a:p>
          <a:p>
            <a:r>
              <a:t>    "kind": "advertising_campaign",</a:t>
            </a:r>
          </a:p>
          <a:p>
            <a:r>
              <a:t>    "brand": "CeraVe",</a:t>
            </a:r>
          </a:p>
          <a:p>
            <a:r>
              <a:t>    "event_start": "2026-09-01",</a:t>
            </a:r>
          </a:p>
          <a:p>
            <a:r>
              <a:t>    "event_end": "2026-11-30",</a:t>
            </a:r>
          </a:p>
          <a:p>
            <a:r>
              <a:t>    "topics": [</a:t>
            </a:r>
          </a:p>
          <a:p>
            <a:r>
              <a:t>      "social_creative"</a:t>
            </a:r>
          </a:p>
          <a:p>
            <a:r>
              <a:t>    ],</a:t>
            </a:r>
          </a:p>
          <a:p>
            <a:r>
              <a:t>    "evidence_terms": [</a:t>
            </a:r>
          </a:p>
          <a:p>
            <a:r>
              <a:t>      "September to November 2026",</a:t>
            </a:r>
          </a:p>
          <a:p>
            <a:r>
              <a:t>      "six-second Reels"</a:t>
            </a:r>
          </a:p>
          <a:p>
            <a:r>
              <a:t>    ],</a:t>
            </a:r>
          </a:p>
          <a:p>
            <a:r>
              <a:t>    "summary": {</a:t>
            </a:r>
          </a:p>
          <a:p>
            <a:r>
              <a:t>      "fr": "CeraVe, Hong Kong : campagne prévue sept.–nov. 2026, dont Reels de 6 s. Article du 24 septembre.",</a:t>
            </a:r>
          </a:p>
          <a:p>
            <a:r>
              <a:t>      "it": "CeraVe, Hong Kong: campagna prevista sett.–nov. 2026, con Reel da 6 s. Articolo del 24 settembre."</a:t>
            </a:r>
          </a:p>
          <a:p>
            <a:r>
              <a:t>    },</a:t>
            </a:r>
          </a:p>
          <a:p>
            <a:r>
              <a:t>    "display_title": {</a:t>
            </a:r>
          </a:p>
          <a:p>
            <a:r>
              <a:t>      "fr": "CeraVe Hong Kong : la campagne « anti-publicité »",</a:t>
            </a:r>
          </a:p>
          <a:p>
            <a:r>
              <a:t>      "it": "CeraVe Hong Kong: la campagna «anti-pubblicità»"</a:t>
            </a:r>
          </a:p>
          <a:p>
            <a:r>
              <a:t>    },</a:t>
            </a:r>
          </a:p>
          <a:p>
            <a:r>
              <a:t>    "in_week": false,</a:t>
            </a:r>
          </a:p>
          <a:p>
            <a:r>
              <a:t>    "checked_at": "2026-10-21T23:36:25.189922+00:00",</a:t>
            </a:r>
          </a:p>
          <a:p>
            <a:r>
              <a:t>    "content_sha256": "f36f609e57c2a10bb6e40e7893d923e80dabf309ece01798c2e3562c7ca8f0ef"</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arpyskin.com/blogs/guides/peptide-eye-cream" TargetMode="External"/><Relationship Id="rId4" Type="http://schemas.openxmlformats.org/officeDocument/2006/relationships/hyperlink" Target="https://www.marketing-interactive.com/cerave-hk-ditches-the-hard-sell-to-win-over-genz"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ioma-paris.com/products/creme-genereuse-contour-des-yeux" TargetMode="Externa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trends.google.com/trends/explore?cat=143&amp;date=2026-10-14+2026-10-20&amp;geo=FR&amp;hl=fr" TargetMode="External"/><Relationship Id="rId4" Type="http://schemas.openxmlformats.org/officeDocument/2006/relationships/hyperlink" Target="https://support.google.com/trends/answer/4355000" TargetMode="Externa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marketing-interactive.com/cerave-hk-ditches-the-hard-sell-to-win-over-genz" TargetMode="External"/><Relationship Id="rId4" Type="http://schemas.openxmlformats.org/officeDocument/2006/relationships/hyperlink" Target="https://arpyskin.com/blogs/guides/peptide-eye-cream" TargetMode="External"/><Relationship Id="rId5"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TextBox 1"/>
          <p:cNvSpPr txBox="1"/>
          <p:nvPr/>
        </p:nvSpPr>
        <p:spPr>
          <a:xfrm>
            <a:off x="548640" y="384048"/>
            <a:ext cx="3657600" cy="274320"/>
          </a:xfrm>
          <a:prstGeom prst="rect">
            <a:avLst/>
          </a:prstGeom>
          <a:noFill/>
        </p:spPr>
        <p:txBody>
          <a:bodyPr wrap="square" tIns="0" bIns="0" lIns="0" rIns="0">
            <a:noAutofit/>
          </a:bodyPr>
          <a:lstStyle/>
          <a:p>
            <a:pPr>
              <a:lnSpc>
                <a:spcPct val="108000"/>
              </a:lnSpc>
              <a:spcBef>
                <a:spcPts val="0"/>
              </a:spcBef>
              <a:spcAft>
                <a:spcPts val="0"/>
              </a:spcAft>
              <a:defRPr sz="1100">
                <a:solidFill>
                  <a:srgbClr val="262320"/>
                </a:solidFill>
                <a:latin typeface="DejaVu Sans"/>
              </a:defRPr>
            </a:pPr>
            <a:r>
              <a:t>BEAUTY RADAR</a:t>
            </a:r>
          </a:p>
        </p:txBody>
      </p:sp>
      <p:pic>
        <p:nvPicPr>
          <p:cNvPr id="3" name="Picture 2" descr="image.png"/>
          <p:cNvPicPr>
            <a:picLocks noChangeAspect="1"/>
          </p:cNvPicPr>
          <p:nvPr/>
        </p:nvPicPr>
        <p:blipFill>
          <a:blip r:embed="rId2"/>
          <a:stretch>
            <a:fillRect/>
          </a:stretch>
        </p:blipFill>
        <p:spPr>
          <a:xfrm>
            <a:off x="5593110" y="219456"/>
            <a:ext cx="1005840" cy="420624"/>
          </a:xfrm>
          <a:prstGeom prst="rect">
            <a:avLst/>
          </a:prstGeom>
        </p:spPr>
      </p:pic>
      <p:sp>
        <p:nvSpPr>
          <p:cNvPr id="4" name="TextBox 3"/>
          <p:cNvSpPr txBox="1"/>
          <p:nvPr/>
        </p:nvSpPr>
        <p:spPr>
          <a:xfrm>
            <a:off x="8458200" y="384048"/>
            <a:ext cx="3154680" cy="274320"/>
          </a:xfrm>
          <a:prstGeom prst="rect">
            <a:avLst/>
          </a:prstGeom>
          <a:noFill/>
        </p:spPr>
        <p:txBody>
          <a:bodyPr wrap="square" tIns="0" bIns="0" lIns="0" rIns="0">
            <a:noAutofit/>
          </a:bodyPr>
          <a:lstStyle/>
          <a:p>
            <a:pPr>
              <a:lnSpc>
                <a:spcPct val="108000"/>
              </a:lnSpc>
              <a:spcBef>
                <a:spcPts val="0"/>
              </a:spcBef>
              <a:spcAft>
                <a:spcPts val="0"/>
              </a:spcAft>
              <a:defRPr sz="1100">
                <a:solidFill>
                  <a:srgbClr val="645E57"/>
                </a:solidFill>
                <a:latin typeface="DejaVu Sans"/>
              </a:defRPr>
            </a:pPr>
            <a:r>
              <a:t>14.10.2026 — 21.10.2026</a:t>
            </a:r>
          </a:p>
        </p:txBody>
      </p:sp>
      <p:sp>
        <p:nvSpPr>
          <p:cNvPr id="5" name="Rectangle 4"/>
          <p:cNvSpPr/>
          <p:nvPr/>
        </p:nvSpPr>
        <p:spPr>
          <a:xfrm>
            <a:off x="548640" y="841248"/>
            <a:ext cx="11064240" cy="10972"/>
          </a:xfrm>
          <a:prstGeom prst="rect">
            <a:avLst/>
          </a:prstGeom>
          <a:solidFill>
            <a:srgbClr val="C3BA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48640" y="6528816"/>
            <a:ext cx="8229600" cy="201168"/>
          </a:xfrm>
          <a:prstGeom prst="rect">
            <a:avLst/>
          </a:prstGeom>
          <a:noFill/>
        </p:spPr>
        <p:txBody>
          <a:bodyPr wrap="square" tIns="0" bIns="0" lIns="0" rIns="0">
            <a:noAutofit/>
          </a:bodyPr>
          <a:lstStyle/>
          <a:p>
            <a:pPr>
              <a:lnSpc>
                <a:spcPct val="108000"/>
              </a:lnSpc>
              <a:spcBef>
                <a:spcPts val="0"/>
              </a:spcBef>
              <a:spcAft>
                <a:spcPts val="0"/>
              </a:spcAft>
              <a:defRPr sz="900">
                <a:solidFill>
                  <a:srgbClr val="645E57"/>
                </a:solidFill>
                <a:latin typeface="DejaVu Sans"/>
              </a:defRPr>
            </a:pPr>
            <a:r>
              <a:t>IOMA PARIS  /  FR</a:t>
            </a:r>
          </a:p>
        </p:txBody>
      </p:sp>
      <p:sp>
        <p:nvSpPr>
          <p:cNvPr id="7" name="TextBox 6"/>
          <p:cNvSpPr txBox="1"/>
          <p:nvPr/>
        </p:nvSpPr>
        <p:spPr>
          <a:xfrm>
            <a:off x="11082528" y="6510528"/>
            <a:ext cx="457200" cy="219456"/>
          </a:xfrm>
          <a:prstGeom prst="rect">
            <a:avLst/>
          </a:prstGeom>
          <a:noFill/>
        </p:spPr>
        <p:txBody>
          <a:bodyPr wrap="square" tIns="0" bIns="0" lIns="0" rIns="0">
            <a:noAutofit/>
          </a:bodyPr>
          <a:lstStyle/>
          <a:p>
            <a:pPr>
              <a:lnSpc>
                <a:spcPct val="108000"/>
              </a:lnSpc>
              <a:spcBef>
                <a:spcPts val="0"/>
              </a:spcBef>
              <a:spcAft>
                <a:spcPts val="0"/>
              </a:spcAft>
              <a:defRPr sz="1000">
                <a:solidFill>
                  <a:srgbClr val="645E57"/>
                </a:solidFill>
                <a:latin typeface="DejaVu Sans"/>
              </a:defRPr>
            </a:pPr>
            <a:r>
              <a:t>01</a:t>
            </a:r>
          </a:p>
        </p:txBody>
      </p:sp>
      <p:sp>
        <p:nvSpPr>
          <p:cNvPr id="8" name="TextBox 7"/>
          <p:cNvSpPr txBox="1"/>
          <p:nvPr/>
        </p:nvSpPr>
        <p:spPr>
          <a:xfrm>
            <a:off x="548640" y="1051560"/>
            <a:ext cx="11064240" cy="594360"/>
          </a:xfrm>
          <a:prstGeom prst="rect">
            <a:avLst/>
          </a:prstGeom>
          <a:noFill/>
        </p:spPr>
        <p:txBody>
          <a:bodyPr wrap="square" tIns="0" bIns="0" lIns="0" rIns="0">
            <a:noAutofit/>
          </a:bodyPr>
          <a:lstStyle/>
          <a:p>
            <a:pPr>
              <a:lnSpc>
                <a:spcPct val="108000"/>
              </a:lnSpc>
              <a:spcBef>
                <a:spcPts val="0"/>
              </a:spcBef>
              <a:spcAft>
                <a:spcPts val="0"/>
              </a:spcAft>
              <a:defRPr sz="3400">
                <a:solidFill>
                  <a:srgbClr val="262320"/>
                </a:solidFill>
                <a:latin typeface="Cormorant Garamond"/>
              </a:defRPr>
            </a:pPr>
            <a:r>
              <a:t>La semaine skincare</a:t>
            </a:r>
          </a:p>
        </p:txBody>
      </p:sp>
      <p:sp>
        <p:nvSpPr>
          <p:cNvPr id="9" name="TextBox 8"/>
          <p:cNvSpPr txBox="1"/>
          <p:nvPr/>
        </p:nvSpPr>
        <p:spPr>
          <a:xfrm>
            <a:off x="548640" y="1709928"/>
            <a:ext cx="10972800" cy="365760"/>
          </a:xfrm>
          <a:prstGeom prst="rect">
            <a:avLst/>
          </a:prstGeom>
          <a:noFill/>
        </p:spPr>
        <p:txBody>
          <a:bodyPr wrap="square" tIns="0" bIns="0" lIns="0" rIns="0">
            <a:noAutofit/>
          </a:bodyPr>
          <a:lstStyle/>
          <a:p>
            <a:pPr>
              <a:lnSpc>
                <a:spcPct val="108000"/>
              </a:lnSpc>
              <a:spcBef>
                <a:spcPts val="0"/>
              </a:spcBef>
              <a:spcAft>
                <a:spcPts val="0"/>
              </a:spcAft>
              <a:defRPr sz="1500">
                <a:solidFill>
                  <a:srgbClr val="645E57"/>
                </a:solidFill>
                <a:latin typeface="DejaVu Sans"/>
              </a:defRPr>
            </a:pPr>
            <a:r>
              <a:t>Signaux éditoriaux, actifs et campagnes observées</a:t>
            </a:r>
          </a:p>
        </p:txBody>
      </p:sp>
      <p:sp>
        <p:nvSpPr>
          <p:cNvPr id="10" name="TextBox 9"/>
          <p:cNvSpPr txBox="1"/>
          <p:nvPr/>
        </p:nvSpPr>
        <p:spPr>
          <a:xfrm>
            <a:off x="548640" y="2395728"/>
            <a:ext cx="3502152" cy="347472"/>
          </a:xfrm>
          <a:prstGeom prst="rect">
            <a:avLst/>
          </a:prstGeom>
          <a:noFill/>
        </p:spPr>
        <p:txBody>
          <a:bodyPr wrap="square" tIns="0" bIns="0" lIns="0" rIns="0">
            <a:noAutofit/>
          </a:bodyPr>
          <a:lstStyle/>
          <a:p>
            <a:pPr>
              <a:lnSpc>
                <a:spcPct val="108000"/>
              </a:lnSpc>
              <a:spcBef>
                <a:spcPts val="0"/>
              </a:spcBef>
              <a:spcAft>
                <a:spcPts val="0"/>
              </a:spcAft>
              <a:defRPr sz="1200">
                <a:solidFill>
                  <a:srgbClr val="262320"/>
                </a:solidFill>
                <a:latin typeface="DejaVu Sans"/>
              </a:defRPr>
            </a:pPr>
            <a:r>
              <a:t>01  SKINCARE</a:t>
            </a:r>
          </a:p>
        </p:txBody>
      </p:sp>
      <p:sp>
        <p:nvSpPr>
          <p:cNvPr id="11" name="Rectangle 10"/>
          <p:cNvSpPr/>
          <p:nvPr/>
        </p:nvSpPr>
        <p:spPr>
          <a:xfrm>
            <a:off x="548640" y="2862072"/>
            <a:ext cx="3502152" cy="10972"/>
          </a:xfrm>
          <a:prstGeom prst="rect">
            <a:avLst/>
          </a:prstGeom>
          <a:solidFill>
            <a:srgbClr val="C3BA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325112" y="2395728"/>
            <a:ext cx="3502152" cy="347472"/>
          </a:xfrm>
          <a:prstGeom prst="rect">
            <a:avLst/>
          </a:prstGeom>
          <a:noFill/>
        </p:spPr>
        <p:txBody>
          <a:bodyPr wrap="square" tIns="0" bIns="0" lIns="0" rIns="0">
            <a:noAutofit/>
          </a:bodyPr>
          <a:lstStyle/>
          <a:p>
            <a:pPr>
              <a:lnSpc>
                <a:spcPct val="108000"/>
              </a:lnSpc>
              <a:spcBef>
                <a:spcPts val="0"/>
              </a:spcBef>
              <a:spcAft>
                <a:spcPts val="0"/>
              </a:spcAft>
              <a:defRPr sz="1200">
                <a:solidFill>
                  <a:srgbClr val="262320"/>
                </a:solidFill>
                <a:latin typeface="DejaVu Sans"/>
              </a:defRPr>
            </a:pPr>
            <a:r>
              <a:t>02  INGRÉDIENTS</a:t>
            </a:r>
          </a:p>
        </p:txBody>
      </p:sp>
      <p:sp>
        <p:nvSpPr>
          <p:cNvPr id="13" name="Rectangle 12"/>
          <p:cNvSpPr/>
          <p:nvPr/>
        </p:nvSpPr>
        <p:spPr>
          <a:xfrm>
            <a:off x="4325112" y="2862072"/>
            <a:ext cx="3502152" cy="10972"/>
          </a:xfrm>
          <a:prstGeom prst="rect">
            <a:avLst/>
          </a:prstGeom>
          <a:solidFill>
            <a:srgbClr val="C3BA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101583" y="2395728"/>
            <a:ext cx="3502152" cy="347472"/>
          </a:xfrm>
          <a:prstGeom prst="rect">
            <a:avLst/>
          </a:prstGeom>
          <a:noFill/>
        </p:spPr>
        <p:txBody>
          <a:bodyPr wrap="square" tIns="0" bIns="0" lIns="0" rIns="0">
            <a:noAutofit/>
          </a:bodyPr>
          <a:lstStyle/>
          <a:p>
            <a:pPr>
              <a:lnSpc>
                <a:spcPct val="108000"/>
              </a:lnSpc>
              <a:spcBef>
                <a:spcPts val="0"/>
              </a:spcBef>
              <a:spcAft>
                <a:spcPts val="0"/>
              </a:spcAft>
              <a:defRPr sz="1200">
                <a:solidFill>
                  <a:srgbClr val="262320"/>
                </a:solidFill>
                <a:latin typeface="DejaVu Sans"/>
              </a:defRPr>
            </a:pPr>
            <a:r>
              <a:t>03  PUBLICITÉ &amp; PROMOTIONS</a:t>
            </a:r>
          </a:p>
        </p:txBody>
      </p:sp>
      <p:sp>
        <p:nvSpPr>
          <p:cNvPr id="15" name="Rectangle 14"/>
          <p:cNvSpPr/>
          <p:nvPr/>
        </p:nvSpPr>
        <p:spPr>
          <a:xfrm>
            <a:off x="8101583" y="2862072"/>
            <a:ext cx="3502152" cy="10972"/>
          </a:xfrm>
          <a:prstGeom prst="rect">
            <a:avLst/>
          </a:prstGeom>
          <a:solidFill>
            <a:srgbClr val="C3BA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48640" y="3072384"/>
            <a:ext cx="3502152" cy="685800"/>
          </a:xfrm>
          <a:prstGeom prst="rect">
            <a:avLst/>
          </a:prstGeom>
          <a:noFill/>
        </p:spPr>
        <p:txBody>
          <a:bodyPr wrap="square" tIns="0" bIns="0" lIns="0" rIns="0">
            <a:noAutofit/>
          </a:bodyPr>
          <a:lstStyle/>
          <a:p>
            <a:pPr>
              <a:lnSpc>
                <a:spcPct val="108000"/>
              </a:lnSpc>
              <a:spcBef>
                <a:spcPts val="0"/>
              </a:spcBef>
              <a:spcAft>
                <a:spcPts val="0"/>
              </a:spcAft>
              <a:defRPr sz="2600">
                <a:solidFill>
                  <a:srgbClr val="262320"/>
                </a:solidFill>
                <a:latin typeface="Cormorant Garamond"/>
              </a:defRPr>
            </a:pPr>
            <a:r>
              <a:t>Le soin ciblé</a:t>
            </a:r>
          </a:p>
        </p:txBody>
      </p:sp>
      <p:sp>
        <p:nvSpPr>
          <p:cNvPr id="17" name="TextBox 16"/>
          <p:cNvSpPr txBox="1"/>
          <p:nvPr/>
        </p:nvSpPr>
        <p:spPr>
          <a:xfrm>
            <a:off x="548640" y="3877056"/>
            <a:ext cx="3502152" cy="1078992"/>
          </a:xfrm>
          <a:prstGeom prst="rect">
            <a:avLst/>
          </a:prstGeom>
          <a:noFill/>
        </p:spPr>
        <p:txBody>
          <a:bodyPr wrap="square" tIns="0" bIns="0" lIns="0" rIns="0">
            <a:noAutofit/>
          </a:bodyPr>
          <a:lstStyle/>
          <a:p>
            <a:pPr>
              <a:lnSpc>
                <a:spcPct val="108000"/>
              </a:lnSpc>
              <a:spcBef>
                <a:spcPts val="0"/>
              </a:spcBef>
              <a:spcAft>
                <a:spcPts val="0"/>
              </a:spcAft>
              <a:defRPr sz="1700">
                <a:solidFill>
                  <a:srgbClr val="262320"/>
                </a:solidFill>
                <a:latin typeface="DejaVu Sans"/>
              </a:defRPr>
            </a:pPr>
            <a:r>
              <a:t>Angle proposé : associer le confort de la routine à un soin ciblé pour les rides du regard.</a:t>
            </a:r>
          </a:p>
        </p:txBody>
      </p:sp>
      <p:sp>
        <p:nvSpPr>
          <p:cNvPr id="18" name="TextBox 17"/>
          <p:cNvSpPr txBox="1"/>
          <p:nvPr/>
        </p:nvSpPr>
        <p:spPr>
          <a:xfrm>
            <a:off x="4325112" y="3072384"/>
            <a:ext cx="3502152" cy="1005840"/>
          </a:xfrm>
          <a:prstGeom prst="rect">
            <a:avLst/>
          </a:prstGeom>
          <a:noFill/>
        </p:spPr>
        <p:txBody>
          <a:bodyPr wrap="square" tIns="0" bIns="0" lIns="0" rIns="0">
            <a:noAutofit/>
          </a:bodyPr>
          <a:lstStyle/>
          <a:p>
            <a:pPr>
              <a:lnSpc>
                <a:spcPct val="108000"/>
              </a:lnSpc>
              <a:spcBef>
                <a:spcPts val="0"/>
              </a:spcBef>
              <a:spcAft>
                <a:spcPts val="0"/>
              </a:spcAft>
              <a:defRPr sz="2500">
                <a:solidFill>
                  <a:srgbClr val="262320"/>
                </a:solidFill>
                <a:latin typeface="Cormorant Garamond"/>
              </a:defRPr>
            </a:pPr>
            <a:r>
              <a:t>Peptides + Vitamine E</a:t>
            </a:r>
          </a:p>
        </p:txBody>
      </p:sp>
      <p:sp>
        <p:nvSpPr>
          <p:cNvPr id="19" name="TextBox 18"/>
          <p:cNvSpPr txBox="1"/>
          <p:nvPr/>
        </p:nvSpPr>
        <p:spPr>
          <a:xfrm>
            <a:off x="4325112" y="4279392"/>
            <a:ext cx="3502152" cy="1261872"/>
          </a:xfrm>
          <a:prstGeom prst="rect">
            <a:avLst/>
          </a:prstGeom>
          <a:noFill/>
        </p:spPr>
        <p:txBody>
          <a:bodyPr wrap="square" tIns="0" bIns="0" lIns="0" rIns="0">
            <a:noAutofit/>
          </a:bodyPr>
          <a:lstStyle/>
          <a:p>
            <a:pPr>
              <a:lnSpc>
                <a:spcPct val="108000"/>
              </a:lnSpc>
              <a:spcBef>
                <a:spcPts val="0"/>
              </a:spcBef>
              <a:spcAft>
                <a:spcPts val="0"/>
              </a:spcAft>
              <a:defRPr sz="1600">
                <a:solidFill>
                  <a:srgbClr val="262320"/>
                </a:solidFill>
                <a:latin typeface="DejaVu Sans"/>
              </a:defRPr>
            </a:pPr>
            <a:r>
              <a:t>Deux familles présentes dans la formule IOMA et citées dans les sources récentes. Sélection éditoriale, pas un classement par concentration.</a:t>
            </a:r>
          </a:p>
        </p:txBody>
      </p:sp>
      <p:sp>
        <p:nvSpPr>
          <p:cNvPr id="20" name="TextBox 19"/>
          <p:cNvSpPr txBox="1"/>
          <p:nvPr/>
        </p:nvSpPr>
        <p:spPr>
          <a:xfrm>
            <a:off x="8101583" y="3090672"/>
            <a:ext cx="3502152" cy="1069848"/>
          </a:xfrm>
          <a:prstGeom prst="rect">
            <a:avLst/>
          </a:prstGeom>
          <a:noFill/>
        </p:spPr>
        <p:txBody>
          <a:bodyPr wrap="square" tIns="0" bIns="0" lIns="0" rIns="0">
            <a:noAutofit/>
          </a:bodyPr>
          <a:lstStyle/>
          <a:p>
            <a:pPr>
              <a:lnSpc>
                <a:spcPct val="108000"/>
              </a:lnSpc>
              <a:spcBef>
                <a:spcPts val="0"/>
              </a:spcBef>
              <a:spcAft>
                <a:spcPts val="0"/>
              </a:spcAft>
              <a:defRPr sz="1400">
                <a:solidFill>
                  <a:srgbClr val="262320"/>
                </a:solidFill>
                <a:latin typeface="DejaVu Sans"/>
              </a:defRPr>
            </a:pPr>
            <a:r>
              <a:t>arpy : contenu de marque du 15 octobre sur les peptides du contour des yeux. Ce n’est pas une annonce payante vérifiée.</a:t>
            </a:r>
          </a:p>
        </p:txBody>
      </p:sp>
      <p:sp>
        <p:nvSpPr>
          <p:cNvPr id="21" name="TextBox 20"/>
          <p:cNvSpPr txBox="1"/>
          <p:nvPr/>
        </p:nvSpPr>
        <p:spPr>
          <a:xfrm>
            <a:off x="8101583" y="4233672"/>
            <a:ext cx="3502152" cy="1069848"/>
          </a:xfrm>
          <a:prstGeom prst="rect">
            <a:avLst/>
          </a:prstGeom>
          <a:noFill/>
        </p:spPr>
        <p:txBody>
          <a:bodyPr wrap="square" tIns="0" bIns="0" lIns="0" rIns="0">
            <a:noAutofit/>
          </a:bodyPr>
          <a:lstStyle/>
          <a:p>
            <a:pPr>
              <a:lnSpc>
                <a:spcPct val="108000"/>
              </a:lnSpc>
              <a:spcBef>
                <a:spcPts val="0"/>
              </a:spcBef>
              <a:spcAft>
                <a:spcPts val="0"/>
              </a:spcAft>
              <a:defRPr sz="1400">
                <a:solidFill>
                  <a:srgbClr val="262320"/>
                </a:solidFill>
                <a:latin typeface="DejaVu Sans"/>
              </a:defRPr>
            </a:pPr>
            <a:r>
              <a:t>CeraVe, Hong Kong : campagne prévue sept.–nov. 2026, dont Reels de 6 s. Article du 24 septembre.</a:t>
            </a:r>
          </a:p>
        </p:txBody>
      </p:sp>
      <p:sp>
        <p:nvSpPr>
          <p:cNvPr id="22" name="TextBox 21"/>
          <p:cNvSpPr txBox="1"/>
          <p:nvPr/>
        </p:nvSpPr>
        <p:spPr>
          <a:xfrm>
            <a:off x="8101583" y="5559552"/>
            <a:ext cx="3502152" cy="548640"/>
          </a:xfrm>
          <a:prstGeom prst="rect">
            <a:avLst/>
          </a:prstGeom>
          <a:noFill/>
        </p:spPr>
        <p:txBody>
          <a:bodyPr wrap="square" tIns="0" bIns="0" lIns="0" rIns="0">
            <a:noAutofit/>
          </a:bodyPr>
          <a:lstStyle/>
          <a:p>
            <a:pPr>
              <a:lnSpc>
                <a:spcPct val="108000"/>
              </a:lnSpc>
              <a:spcBef>
                <a:spcPts val="0"/>
              </a:spcBef>
              <a:spcAft>
                <a:spcPts val="0"/>
              </a:spcAft>
              <a:defRPr sz="1100">
                <a:solidFill>
                  <a:srgbClr val="645E57"/>
                </a:solidFill>
                <a:latin typeface="DejaVu Sans"/>
              </a:defRPr>
            </a:pPr>
            <a:r>
              <a:t>Lecture internationale ; diffusion payante et budgets non audités.</a:t>
            </a:r>
          </a:p>
        </p:txBody>
      </p:sp>
      <p:sp>
        <p:nvSpPr>
          <p:cNvPr id="23" name="TextBox 22">
            <a:hlinkClick r:id="rId3"/>
          </p:cNvPr>
          <p:cNvSpPr txBox="1"/>
          <p:nvPr/>
        </p:nvSpPr>
        <p:spPr>
          <a:xfrm>
            <a:off x="548640" y="6208776"/>
            <a:ext cx="3502152" cy="210312"/>
          </a:xfrm>
          <a:prstGeom prst="rect">
            <a:avLst/>
          </a:prstGeom>
          <a:noFill/>
        </p:spPr>
        <p:txBody>
          <a:bodyPr wrap="square" tIns="0" bIns="0" lIns="0" rIns="0">
            <a:noAutofit/>
          </a:bodyPr>
          <a:lstStyle/>
          <a:p>
            <a:pPr>
              <a:lnSpc>
                <a:spcPct val="108000"/>
              </a:lnSpc>
              <a:spcBef>
                <a:spcPts val="0"/>
              </a:spcBef>
              <a:spcAft>
                <a:spcPts val="0"/>
              </a:spcAft>
              <a:defRPr sz="900">
                <a:solidFill>
                  <a:srgbClr val="645E57"/>
                </a:solidFill>
                <a:latin typeface="DejaVu Sans"/>
              </a:defRPr>
            </a:pPr>
            <a:r>
              <a:t>[1] arpy · 15/10</a:t>
            </a:r>
          </a:p>
        </p:txBody>
      </p:sp>
      <p:sp>
        <p:nvSpPr>
          <p:cNvPr id="24" name="TextBox 23">
            <a:hlinkClick r:id="rId4"/>
          </p:cNvPr>
          <p:cNvSpPr txBox="1"/>
          <p:nvPr/>
        </p:nvSpPr>
        <p:spPr>
          <a:xfrm>
            <a:off x="4325112" y="6208776"/>
            <a:ext cx="3502152" cy="210312"/>
          </a:xfrm>
          <a:prstGeom prst="rect">
            <a:avLst/>
          </a:prstGeom>
          <a:noFill/>
        </p:spPr>
        <p:txBody>
          <a:bodyPr wrap="square" tIns="0" bIns="0" lIns="0" rIns="0">
            <a:noAutofit/>
          </a:bodyPr>
          <a:lstStyle/>
          <a:p>
            <a:pPr>
              <a:lnSpc>
                <a:spcPct val="108000"/>
              </a:lnSpc>
              <a:spcBef>
                <a:spcPts val="0"/>
              </a:spcBef>
              <a:spcAft>
                <a:spcPts val="0"/>
              </a:spcAft>
              <a:defRPr sz="900">
                <a:solidFill>
                  <a:srgbClr val="645E57"/>
                </a:solidFill>
                <a:latin typeface="DejaVu Sans"/>
              </a:defRPr>
            </a:pPr>
            <a:r>
              <a:t>[2] Marketing-Interactive · 24/09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TextBox 1"/>
          <p:cNvSpPr txBox="1"/>
          <p:nvPr/>
        </p:nvSpPr>
        <p:spPr>
          <a:xfrm>
            <a:off x="548640" y="384048"/>
            <a:ext cx="3657600" cy="274320"/>
          </a:xfrm>
          <a:prstGeom prst="rect">
            <a:avLst/>
          </a:prstGeom>
          <a:noFill/>
        </p:spPr>
        <p:txBody>
          <a:bodyPr wrap="square" tIns="0" bIns="0" lIns="0" rIns="0">
            <a:noAutofit/>
          </a:bodyPr>
          <a:lstStyle/>
          <a:p>
            <a:pPr>
              <a:lnSpc>
                <a:spcPct val="108000"/>
              </a:lnSpc>
              <a:spcBef>
                <a:spcPts val="0"/>
              </a:spcBef>
              <a:spcAft>
                <a:spcPts val="0"/>
              </a:spcAft>
              <a:defRPr sz="1100">
                <a:solidFill>
                  <a:srgbClr val="262320"/>
                </a:solidFill>
                <a:latin typeface="DejaVu Sans"/>
              </a:defRPr>
            </a:pPr>
            <a:r>
              <a:t>BEAUTY RADAR</a:t>
            </a:r>
          </a:p>
        </p:txBody>
      </p:sp>
      <p:pic>
        <p:nvPicPr>
          <p:cNvPr id="3" name="Picture 2" descr="image.png"/>
          <p:cNvPicPr>
            <a:picLocks noChangeAspect="1"/>
          </p:cNvPicPr>
          <p:nvPr/>
        </p:nvPicPr>
        <p:blipFill>
          <a:blip r:embed="rId2"/>
          <a:stretch>
            <a:fillRect/>
          </a:stretch>
        </p:blipFill>
        <p:spPr>
          <a:xfrm>
            <a:off x="5593110" y="219456"/>
            <a:ext cx="1005840" cy="420624"/>
          </a:xfrm>
          <a:prstGeom prst="rect">
            <a:avLst/>
          </a:prstGeom>
        </p:spPr>
      </p:pic>
      <p:sp>
        <p:nvSpPr>
          <p:cNvPr id="4" name="TextBox 3"/>
          <p:cNvSpPr txBox="1"/>
          <p:nvPr/>
        </p:nvSpPr>
        <p:spPr>
          <a:xfrm>
            <a:off x="8458200" y="384048"/>
            <a:ext cx="3154680" cy="274320"/>
          </a:xfrm>
          <a:prstGeom prst="rect">
            <a:avLst/>
          </a:prstGeom>
          <a:noFill/>
        </p:spPr>
        <p:txBody>
          <a:bodyPr wrap="square" tIns="0" bIns="0" lIns="0" rIns="0">
            <a:noAutofit/>
          </a:bodyPr>
          <a:lstStyle/>
          <a:p>
            <a:pPr>
              <a:lnSpc>
                <a:spcPct val="108000"/>
              </a:lnSpc>
              <a:spcBef>
                <a:spcPts val="0"/>
              </a:spcBef>
              <a:spcAft>
                <a:spcPts val="0"/>
              </a:spcAft>
              <a:defRPr sz="1100">
                <a:solidFill>
                  <a:srgbClr val="645E57"/>
                </a:solidFill>
                <a:latin typeface="DejaVu Sans"/>
              </a:defRPr>
            </a:pPr>
            <a:r>
              <a:t>14.10.2026 — 21.10.2026</a:t>
            </a:r>
          </a:p>
        </p:txBody>
      </p:sp>
      <p:sp>
        <p:nvSpPr>
          <p:cNvPr id="5" name="Rectangle 4"/>
          <p:cNvSpPr/>
          <p:nvPr/>
        </p:nvSpPr>
        <p:spPr>
          <a:xfrm>
            <a:off x="548640" y="841248"/>
            <a:ext cx="11064240" cy="10972"/>
          </a:xfrm>
          <a:prstGeom prst="rect">
            <a:avLst/>
          </a:prstGeom>
          <a:solidFill>
            <a:srgbClr val="C3BA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48640" y="6528816"/>
            <a:ext cx="8229600" cy="201168"/>
          </a:xfrm>
          <a:prstGeom prst="rect">
            <a:avLst/>
          </a:prstGeom>
          <a:noFill/>
        </p:spPr>
        <p:txBody>
          <a:bodyPr wrap="square" tIns="0" bIns="0" lIns="0" rIns="0">
            <a:noAutofit/>
          </a:bodyPr>
          <a:lstStyle/>
          <a:p>
            <a:pPr>
              <a:lnSpc>
                <a:spcPct val="108000"/>
              </a:lnSpc>
              <a:spcBef>
                <a:spcPts val="0"/>
              </a:spcBef>
              <a:spcAft>
                <a:spcPts val="0"/>
              </a:spcAft>
              <a:defRPr sz="900">
                <a:solidFill>
                  <a:srgbClr val="645E57"/>
                </a:solidFill>
                <a:latin typeface="DejaVu Sans"/>
              </a:defRPr>
            </a:pPr>
            <a:r>
              <a:t>IOMA PARIS  /  FR</a:t>
            </a:r>
          </a:p>
        </p:txBody>
      </p:sp>
      <p:sp>
        <p:nvSpPr>
          <p:cNvPr id="7" name="TextBox 6"/>
          <p:cNvSpPr txBox="1"/>
          <p:nvPr/>
        </p:nvSpPr>
        <p:spPr>
          <a:xfrm>
            <a:off x="11082528" y="6510528"/>
            <a:ext cx="457200" cy="219456"/>
          </a:xfrm>
          <a:prstGeom prst="rect">
            <a:avLst/>
          </a:prstGeom>
          <a:noFill/>
        </p:spPr>
        <p:txBody>
          <a:bodyPr wrap="square" tIns="0" bIns="0" lIns="0" rIns="0">
            <a:noAutofit/>
          </a:bodyPr>
          <a:lstStyle/>
          <a:p>
            <a:pPr>
              <a:lnSpc>
                <a:spcPct val="108000"/>
              </a:lnSpc>
              <a:spcBef>
                <a:spcPts val="0"/>
              </a:spcBef>
              <a:spcAft>
                <a:spcPts val="0"/>
              </a:spcAft>
              <a:defRPr sz="1000">
                <a:solidFill>
                  <a:srgbClr val="645E57"/>
                </a:solidFill>
                <a:latin typeface="DejaVu Sans"/>
              </a:defRPr>
            </a:pPr>
            <a:r>
              <a:t>02</a:t>
            </a:r>
          </a:p>
        </p:txBody>
      </p:sp>
      <p:sp>
        <p:nvSpPr>
          <p:cNvPr id="8" name="TextBox 7"/>
          <p:cNvSpPr txBox="1"/>
          <p:nvPr/>
        </p:nvSpPr>
        <p:spPr>
          <a:xfrm>
            <a:off x="548640" y="1033271"/>
            <a:ext cx="11064240" cy="566928"/>
          </a:xfrm>
          <a:prstGeom prst="rect">
            <a:avLst/>
          </a:prstGeom>
          <a:noFill/>
        </p:spPr>
        <p:txBody>
          <a:bodyPr wrap="square" tIns="0" bIns="0" lIns="0" rIns="0">
            <a:noAutofit/>
          </a:bodyPr>
          <a:lstStyle/>
          <a:p>
            <a:pPr>
              <a:lnSpc>
                <a:spcPct val="108000"/>
              </a:lnSpc>
              <a:spcBef>
                <a:spcPts val="0"/>
              </a:spcBef>
              <a:spcAft>
                <a:spcPts val="0"/>
              </a:spcAft>
              <a:defRPr sz="3200">
                <a:solidFill>
                  <a:srgbClr val="262320"/>
                </a:solidFill>
                <a:latin typeface="Cormorant Garamond"/>
              </a:defRPr>
            </a:pPr>
            <a:r>
              <a:t>Crème Généreuse Contour des Yeux</a:t>
            </a:r>
          </a:p>
        </p:txBody>
      </p:sp>
      <p:sp>
        <p:nvSpPr>
          <p:cNvPr id="9" name="TextBox 8"/>
          <p:cNvSpPr txBox="1"/>
          <p:nvPr/>
        </p:nvSpPr>
        <p:spPr>
          <a:xfrm>
            <a:off x="548640" y="1709928"/>
            <a:ext cx="10972800" cy="365760"/>
          </a:xfrm>
          <a:prstGeom prst="rect">
            <a:avLst/>
          </a:prstGeom>
          <a:noFill/>
        </p:spPr>
        <p:txBody>
          <a:bodyPr wrap="square" tIns="0" bIns="0" lIns="0" rIns="0">
            <a:noAutofit/>
          </a:bodyPr>
          <a:lstStyle/>
          <a:p>
            <a:pPr>
              <a:lnSpc>
                <a:spcPct val="108000"/>
              </a:lnSpc>
              <a:spcBef>
                <a:spcPts val="0"/>
              </a:spcBef>
              <a:spcAft>
                <a:spcPts val="0"/>
              </a:spcAft>
              <a:defRPr sz="1500">
                <a:solidFill>
                  <a:srgbClr val="645E57"/>
                </a:solidFill>
                <a:latin typeface="DejaVu Sans"/>
              </a:defRPr>
            </a:pPr>
            <a:r>
              <a:t>Des tendances aux réseaux sociaux</a:t>
            </a:r>
          </a:p>
        </p:txBody>
      </p:sp>
      <p:pic>
        <p:nvPicPr>
          <p:cNvPr id="10" name="Picture 9" descr="feed.png"/>
          <p:cNvPicPr>
            <a:picLocks noChangeAspect="1"/>
          </p:cNvPicPr>
          <p:nvPr/>
        </p:nvPicPr>
        <p:blipFill>
          <a:blip r:embed="rId3"/>
          <a:stretch>
            <a:fillRect/>
          </a:stretch>
        </p:blipFill>
        <p:spPr>
          <a:xfrm>
            <a:off x="548640" y="2313432"/>
            <a:ext cx="2926079" cy="3657600"/>
          </a:xfrm>
          <a:prstGeom prst="rect">
            <a:avLst/>
          </a:prstGeom>
        </p:spPr>
      </p:pic>
      <p:sp>
        <p:nvSpPr>
          <p:cNvPr id="11" name="TextBox 10"/>
          <p:cNvSpPr txBox="1"/>
          <p:nvPr/>
        </p:nvSpPr>
        <p:spPr>
          <a:xfrm>
            <a:off x="3858768" y="2368296"/>
            <a:ext cx="7223760" cy="301752"/>
          </a:xfrm>
          <a:prstGeom prst="rect">
            <a:avLst/>
          </a:prstGeom>
          <a:noFill/>
        </p:spPr>
        <p:txBody>
          <a:bodyPr wrap="square" tIns="0" bIns="0" lIns="0" rIns="0">
            <a:noAutofit/>
          </a:bodyPr>
          <a:lstStyle/>
          <a:p>
            <a:pPr>
              <a:lnSpc>
                <a:spcPct val="108000"/>
              </a:lnSpc>
              <a:spcBef>
                <a:spcPts val="0"/>
              </a:spcBef>
              <a:spcAft>
                <a:spcPts val="0"/>
              </a:spcAft>
              <a:defRPr sz="1200">
                <a:solidFill>
                  <a:srgbClr val="262320"/>
                </a:solidFill>
                <a:latin typeface="DejaVu Sans"/>
              </a:defRPr>
            </a:pPr>
            <a:r>
              <a:t>LE PRODUIT &amp; LE LIEN</a:t>
            </a:r>
          </a:p>
        </p:txBody>
      </p:sp>
      <p:sp>
        <p:nvSpPr>
          <p:cNvPr id="12" name="TextBox 11"/>
          <p:cNvSpPr txBox="1"/>
          <p:nvPr/>
        </p:nvSpPr>
        <p:spPr>
          <a:xfrm>
            <a:off x="3858768" y="2807208"/>
            <a:ext cx="7333488" cy="896112"/>
          </a:xfrm>
          <a:prstGeom prst="rect">
            <a:avLst/>
          </a:prstGeom>
          <a:noFill/>
        </p:spPr>
        <p:txBody>
          <a:bodyPr wrap="square" tIns="0" bIns="0" lIns="0" rIns="0">
            <a:noAutofit/>
          </a:bodyPr>
          <a:lstStyle/>
          <a:p>
            <a:pPr>
              <a:lnSpc>
                <a:spcPct val="108000"/>
              </a:lnSpc>
              <a:spcBef>
                <a:spcPts val="0"/>
              </a:spcBef>
              <a:spcAft>
                <a:spcPts val="0"/>
              </a:spcAft>
              <a:defRPr sz="1700">
                <a:solidFill>
                  <a:srgbClr val="262320"/>
                </a:solidFill>
                <a:latin typeface="DejaVu Sans"/>
              </a:defRPr>
            </a:pPr>
            <a:r>
              <a:t>Crème Généreuse lisse les rides et aide à raffermir le contour des yeux. Peptides et vitamine E : présents dans son INCI et cités dans le récent contenu arpy.</a:t>
            </a:r>
          </a:p>
        </p:txBody>
      </p:sp>
      <p:sp>
        <p:nvSpPr>
          <p:cNvPr id="13" name="TextBox 12"/>
          <p:cNvSpPr txBox="1"/>
          <p:nvPr/>
        </p:nvSpPr>
        <p:spPr>
          <a:xfrm>
            <a:off x="3858768" y="3767328"/>
            <a:ext cx="7333488" cy="548640"/>
          </a:xfrm>
          <a:prstGeom prst="rect">
            <a:avLst/>
          </a:prstGeom>
          <a:noFill/>
        </p:spPr>
        <p:txBody>
          <a:bodyPr wrap="square" tIns="0" bIns="0" lIns="0" rIns="0">
            <a:noAutofit/>
          </a:bodyPr>
          <a:lstStyle/>
          <a:p>
            <a:pPr>
              <a:lnSpc>
                <a:spcPct val="108000"/>
              </a:lnSpc>
              <a:spcBef>
                <a:spcPts val="0"/>
              </a:spcBef>
              <a:spcAft>
                <a:spcPts val="0"/>
              </a:spcAft>
              <a:defRPr sz="1400">
                <a:solidFill>
                  <a:srgbClr val="645E57"/>
                </a:solidFill>
                <a:latin typeface="DejaVu Sans"/>
              </a:defRPr>
            </a:pPr>
            <a:r>
              <a:t>Hypothèse de cible : personnes recherchant un soin ciblé pour les rides du contour des yeux.</a:t>
            </a:r>
          </a:p>
        </p:txBody>
      </p:sp>
      <p:sp>
        <p:nvSpPr>
          <p:cNvPr id="14" name="Rectangle 13"/>
          <p:cNvSpPr/>
          <p:nvPr/>
        </p:nvSpPr>
        <p:spPr>
          <a:xfrm>
            <a:off x="3858768" y="4425696"/>
            <a:ext cx="7726679" cy="10972"/>
          </a:xfrm>
          <a:prstGeom prst="rect">
            <a:avLst/>
          </a:prstGeom>
          <a:solidFill>
            <a:srgbClr val="C3BA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3858768" y="4590288"/>
            <a:ext cx="7333488" cy="274320"/>
          </a:xfrm>
          <a:prstGeom prst="rect">
            <a:avLst/>
          </a:prstGeom>
          <a:noFill/>
        </p:spPr>
        <p:txBody>
          <a:bodyPr wrap="square" tIns="0" bIns="0" lIns="0" rIns="0">
            <a:noAutofit/>
          </a:bodyPr>
          <a:lstStyle/>
          <a:p>
            <a:pPr>
              <a:lnSpc>
                <a:spcPct val="108000"/>
              </a:lnSpc>
              <a:spcBef>
                <a:spcPts val="0"/>
              </a:spcBef>
              <a:spcAft>
                <a:spcPts val="0"/>
              </a:spcAft>
              <a:defRPr sz="1200">
                <a:solidFill>
                  <a:srgbClr val="262320"/>
                </a:solidFill>
                <a:latin typeface="DejaVu Sans"/>
              </a:defRPr>
            </a:pPr>
            <a:r>
              <a:t>ACTIVATION À TESTER</a:t>
            </a:r>
          </a:p>
        </p:txBody>
      </p:sp>
      <p:sp>
        <p:nvSpPr>
          <p:cNvPr id="16" name="TextBox 15"/>
          <p:cNvSpPr txBox="1"/>
          <p:nvPr/>
        </p:nvSpPr>
        <p:spPr>
          <a:xfrm>
            <a:off x="3858768" y="4983480"/>
            <a:ext cx="7333488" cy="704088"/>
          </a:xfrm>
          <a:prstGeom prst="rect">
            <a:avLst/>
          </a:prstGeom>
          <a:noFill/>
        </p:spPr>
        <p:txBody>
          <a:bodyPr wrap="square" tIns="0" bIns="0" lIns="0" rIns="0">
            <a:noAutofit/>
          </a:bodyPr>
          <a:lstStyle/>
          <a:p>
            <a:pPr>
              <a:lnSpc>
                <a:spcPct val="108000"/>
              </a:lnSpc>
              <a:spcBef>
                <a:spcPts val="0"/>
              </a:spcBef>
              <a:spcAft>
                <a:spcPts val="0"/>
              </a:spcAft>
              <a:defRPr sz="1400">
                <a:solidFill>
                  <a:srgbClr val="262320"/>
                </a:solidFill>
                <a:latin typeface="DejaVu Sans"/>
              </a:defRPr>
            </a:pPr>
            <a:r>
              <a:t>Alterner claim, inspiration animée et avis client. Email avec lien du post publié.</a:t>
            </a:r>
          </a:p>
        </p:txBody>
      </p:sp>
      <p:sp>
        <p:nvSpPr>
          <p:cNvPr id="17" name="TextBox 16"/>
          <p:cNvSpPr txBox="1"/>
          <p:nvPr/>
        </p:nvSpPr>
        <p:spPr>
          <a:xfrm>
            <a:off x="3858768" y="5779008"/>
            <a:ext cx="7333488" cy="576072"/>
          </a:xfrm>
          <a:prstGeom prst="rect">
            <a:avLst/>
          </a:prstGeom>
          <a:noFill/>
        </p:spPr>
        <p:txBody>
          <a:bodyPr wrap="square" tIns="0" bIns="0" lIns="0" rIns="0">
            <a:noAutofit/>
          </a:bodyPr>
          <a:lstStyle/>
          <a:p>
            <a:pPr>
              <a:lnSpc>
                <a:spcPct val="108000"/>
              </a:lnSpc>
              <a:spcBef>
                <a:spcPts val="0"/>
              </a:spcBef>
              <a:spcAft>
                <a:spcPts val="0"/>
              </a:spcAft>
              <a:defRPr sz="1200">
                <a:solidFill>
                  <a:srgbClr val="645E57"/>
                </a:solidFill>
                <a:latin typeface="DejaVu Sans"/>
              </a:defRPr>
            </a:pPr>
            <a:r>
              <a:t>Comparer enregistrements et visites produit par format. Ne pas déduire une efficacité du soin.</a:t>
            </a:r>
          </a:p>
        </p:txBody>
      </p:sp>
      <p:sp>
        <p:nvSpPr>
          <p:cNvPr id="18" name="TextBox 17">
            <a:hlinkClick r:id="rId4"/>
          </p:cNvPr>
          <p:cNvSpPr txBox="1"/>
          <p:nvPr/>
        </p:nvSpPr>
        <p:spPr>
          <a:xfrm>
            <a:off x="548640" y="6181344"/>
            <a:ext cx="2926080" cy="219456"/>
          </a:xfrm>
          <a:prstGeom prst="rect">
            <a:avLst/>
          </a:prstGeom>
          <a:noFill/>
        </p:spPr>
        <p:txBody>
          <a:bodyPr wrap="square" tIns="0" bIns="0" lIns="0" rIns="0">
            <a:noAutofit/>
          </a:bodyPr>
          <a:lstStyle/>
          <a:p>
            <a:pPr>
              <a:lnSpc>
                <a:spcPct val="108000"/>
              </a:lnSpc>
              <a:spcBef>
                <a:spcPts val="0"/>
              </a:spcBef>
              <a:spcAft>
                <a:spcPts val="0"/>
              </a:spcAft>
              <a:defRPr sz="1000">
                <a:solidFill>
                  <a:srgbClr val="645E57"/>
                </a:solidFill>
                <a:latin typeface="DejaVu Sans"/>
              </a:defRPr>
            </a:pPr>
            <a:r>
              <a:t>Formule &amp; INCI IOMA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TextBox 1"/>
          <p:cNvSpPr txBox="1"/>
          <p:nvPr/>
        </p:nvSpPr>
        <p:spPr>
          <a:xfrm>
            <a:off x="548640" y="384048"/>
            <a:ext cx="3657600" cy="274320"/>
          </a:xfrm>
          <a:prstGeom prst="rect">
            <a:avLst/>
          </a:prstGeom>
          <a:noFill/>
        </p:spPr>
        <p:txBody>
          <a:bodyPr wrap="square" tIns="0" bIns="0" lIns="0" rIns="0">
            <a:noAutofit/>
          </a:bodyPr>
          <a:lstStyle/>
          <a:p>
            <a:pPr>
              <a:lnSpc>
                <a:spcPct val="108000"/>
              </a:lnSpc>
              <a:spcBef>
                <a:spcPts val="0"/>
              </a:spcBef>
              <a:spcAft>
                <a:spcPts val="0"/>
              </a:spcAft>
              <a:defRPr sz="1100">
                <a:solidFill>
                  <a:srgbClr val="262320"/>
                </a:solidFill>
                <a:latin typeface="DejaVu Sans"/>
              </a:defRPr>
            </a:pPr>
            <a:r>
              <a:t>BEAUTY RADAR</a:t>
            </a:r>
          </a:p>
        </p:txBody>
      </p:sp>
      <p:pic>
        <p:nvPicPr>
          <p:cNvPr id="3" name="Picture 2" descr="image.png"/>
          <p:cNvPicPr>
            <a:picLocks noChangeAspect="1"/>
          </p:cNvPicPr>
          <p:nvPr/>
        </p:nvPicPr>
        <p:blipFill>
          <a:blip r:embed="rId2"/>
          <a:stretch>
            <a:fillRect/>
          </a:stretch>
        </p:blipFill>
        <p:spPr>
          <a:xfrm>
            <a:off x="5593110" y="219456"/>
            <a:ext cx="1005840" cy="420624"/>
          </a:xfrm>
          <a:prstGeom prst="rect">
            <a:avLst/>
          </a:prstGeom>
        </p:spPr>
      </p:pic>
      <p:sp>
        <p:nvSpPr>
          <p:cNvPr id="4" name="TextBox 3"/>
          <p:cNvSpPr txBox="1"/>
          <p:nvPr/>
        </p:nvSpPr>
        <p:spPr>
          <a:xfrm>
            <a:off x="8458200" y="384048"/>
            <a:ext cx="3154680" cy="274320"/>
          </a:xfrm>
          <a:prstGeom prst="rect">
            <a:avLst/>
          </a:prstGeom>
          <a:noFill/>
        </p:spPr>
        <p:txBody>
          <a:bodyPr wrap="square" tIns="0" bIns="0" lIns="0" rIns="0">
            <a:noAutofit/>
          </a:bodyPr>
          <a:lstStyle/>
          <a:p>
            <a:pPr>
              <a:lnSpc>
                <a:spcPct val="108000"/>
              </a:lnSpc>
              <a:spcBef>
                <a:spcPts val="0"/>
              </a:spcBef>
              <a:spcAft>
                <a:spcPts val="0"/>
              </a:spcAft>
              <a:defRPr sz="1100">
                <a:solidFill>
                  <a:srgbClr val="645E57"/>
                </a:solidFill>
                <a:latin typeface="DejaVu Sans"/>
              </a:defRPr>
            </a:pPr>
            <a:r>
              <a:t>14.10.2026 — 20.10.2026</a:t>
            </a:r>
          </a:p>
        </p:txBody>
      </p:sp>
      <p:sp>
        <p:nvSpPr>
          <p:cNvPr id="5" name="Rectangle 4"/>
          <p:cNvSpPr/>
          <p:nvPr/>
        </p:nvSpPr>
        <p:spPr>
          <a:xfrm>
            <a:off x="548640" y="841248"/>
            <a:ext cx="11064240" cy="10972"/>
          </a:xfrm>
          <a:prstGeom prst="rect">
            <a:avLst/>
          </a:prstGeom>
          <a:solidFill>
            <a:srgbClr val="C3BA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48640" y="6528816"/>
            <a:ext cx="8229600" cy="201168"/>
          </a:xfrm>
          <a:prstGeom prst="rect">
            <a:avLst/>
          </a:prstGeom>
          <a:noFill/>
        </p:spPr>
        <p:txBody>
          <a:bodyPr wrap="square" tIns="0" bIns="0" lIns="0" rIns="0">
            <a:noAutofit/>
          </a:bodyPr>
          <a:lstStyle/>
          <a:p>
            <a:pPr>
              <a:lnSpc>
                <a:spcPct val="108000"/>
              </a:lnSpc>
              <a:spcBef>
                <a:spcPts val="0"/>
              </a:spcBef>
              <a:spcAft>
                <a:spcPts val="0"/>
              </a:spcAft>
              <a:defRPr sz="900">
                <a:solidFill>
                  <a:srgbClr val="645E57"/>
                </a:solidFill>
                <a:latin typeface="DejaVu Sans"/>
              </a:defRPr>
            </a:pPr>
            <a:r>
              <a:t>IOMA PARIS  /  FR</a:t>
            </a:r>
          </a:p>
        </p:txBody>
      </p:sp>
      <p:sp>
        <p:nvSpPr>
          <p:cNvPr id="7" name="TextBox 6"/>
          <p:cNvSpPr txBox="1"/>
          <p:nvPr/>
        </p:nvSpPr>
        <p:spPr>
          <a:xfrm>
            <a:off x="11082528" y="6510528"/>
            <a:ext cx="457200" cy="219456"/>
          </a:xfrm>
          <a:prstGeom prst="rect">
            <a:avLst/>
          </a:prstGeom>
          <a:noFill/>
        </p:spPr>
        <p:txBody>
          <a:bodyPr wrap="square" tIns="0" bIns="0" lIns="0" rIns="0">
            <a:noAutofit/>
          </a:bodyPr>
          <a:lstStyle/>
          <a:p>
            <a:pPr>
              <a:lnSpc>
                <a:spcPct val="108000"/>
              </a:lnSpc>
              <a:spcBef>
                <a:spcPts val="0"/>
              </a:spcBef>
              <a:spcAft>
                <a:spcPts val="0"/>
              </a:spcAft>
              <a:defRPr sz="1000">
                <a:solidFill>
                  <a:srgbClr val="645E57"/>
                </a:solidFill>
                <a:latin typeface="DejaVu Sans"/>
              </a:defRPr>
            </a:pPr>
            <a:r>
              <a:t>03</a:t>
            </a:r>
          </a:p>
        </p:txBody>
      </p:sp>
      <p:sp>
        <p:nvSpPr>
          <p:cNvPr id="8" name="TextBox 7"/>
          <p:cNvSpPr txBox="1"/>
          <p:nvPr/>
        </p:nvSpPr>
        <p:spPr>
          <a:xfrm>
            <a:off x="548640" y="1051560"/>
            <a:ext cx="11064240" cy="594360"/>
          </a:xfrm>
          <a:prstGeom prst="rect">
            <a:avLst/>
          </a:prstGeom>
          <a:noFill/>
        </p:spPr>
        <p:txBody>
          <a:bodyPr wrap="square" tIns="0" bIns="0" lIns="0" rIns="0">
            <a:noAutofit/>
          </a:bodyPr>
          <a:lstStyle/>
          <a:p>
            <a:pPr>
              <a:lnSpc>
                <a:spcPct val="108000"/>
              </a:lnSpc>
              <a:spcBef>
                <a:spcPts val="0"/>
              </a:spcBef>
              <a:spcAft>
                <a:spcPts val="0"/>
              </a:spcAft>
              <a:defRPr sz="3200">
                <a:solidFill>
                  <a:srgbClr val="262320"/>
                </a:solidFill>
                <a:latin typeface="Cormorant Garamond"/>
              </a:defRPr>
            </a:pPr>
            <a:r>
              <a:t>Les recherches beauté sur Google</a:t>
            </a:r>
          </a:p>
        </p:txBody>
      </p:sp>
      <p:sp>
        <p:nvSpPr>
          <p:cNvPr id="9" name="TextBox 8"/>
          <p:cNvSpPr txBox="1"/>
          <p:nvPr/>
        </p:nvSpPr>
        <p:spPr>
          <a:xfrm>
            <a:off x="548640" y="1709928"/>
            <a:ext cx="10972800" cy="365760"/>
          </a:xfrm>
          <a:prstGeom prst="rect">
            <a:avLst/>
          </a:prstGeom>
          <a:noFill/>
        </p:spPr>
        <p:txBody>
          <a:bodyPr wrap="square" tIns="0" bIns="0" lIns="0" rIns="0">
            <a:noAutofit/>
          </a:bodyPr>
          <a:lstStyle/>
          <a:p>
            <a:pPr>
              <a:lnSpc>
                <a:spcPct val="108000"/>
              </a:lnSpc>
              <a:spcBef>
                <a:spcPts val="0"/>
              </a:spcBef>
              <a:spcAft>
                <a:spcPts val="0"/>
              </a:spcAft>
              <a:defRPr sz="1500">
                <a:solidFill>
                  <a:srgbClr val="645E57"/>
                </a:solidFill>
                <a:latin typeface="DejaVu Sans"/>
              </a:defRPr>
            </a:pPr>
            <a:r>
              <a:t>France · Soins du visage et du corps · Recherche Web</a:t>
            </a:r>
          </a:p>
        </p:txBody>
      </p:sp>
      <p:sp>
        <p:nvSpPr>
          <p:cNvPr id="10" name="TextBox 9"/>
          <p:cNvSpPr txBox="1"/>
          <p:nvPr/>
        </p:nvSpPr>
        <p:spPr>
          <a:xfrm>
            <a:off x="548640" y="2331720"/>
            <a:ext cx="5669280" cy="301752"/>
          </a:xfrm>
          <a:prstGeom prst="rect">
            <a:avLst/>
          </a:prstGeom>
          <a:noFill/>
        </p:spPr>
        <p:txBody>
          <a:bodyPr wrap="square" tIns="0" bIns="0" lIns="0" rIns="0">
            <a:noAutofit/>
          </a:bodyPr>
          <a:lstStyle/>
          <a:p>
            <a:pPr>
              <a:lnSpc>
                <a:spcPct val="108000"/>
              </a:lnSpc>
              <a:spcBef>
                <a:spcPts val="0"/>
              </a:spcBef>
              <a:spcAft>
                <a:spcPts val="0"/>
              </a:spcAft>
              <a:defRPr sz="1200">
                <a:solidFill>
                  <a:srgbClr val="262320"/>
                </a:solidFill>
                <a:latin typeface="DejaVu Sans"/>
              </a:defRPr>
            </a:pPr>
            <a:r>
              <a:t>REQUÊTES PRINCIPALES · INDICE 0–100</a:t>
            </a:r>
          </a:p>
        </p:txBody>
      </p:sp>
      <p:sp>
        <p:nvSpPr>
          <p:cNvPr id="11" name="TextBox 10"/>
          <p:cNvSpPr txBox="1"/>
          <p:nvPr/>
        </p:nvSpPr>
        <p:spPr>
          <a:xfrm>
            <a:off x="6583680" y="2331720"/>
            <a:ext cx="5029200" cy="301752"/>
          </a:xfrm>
          <a:prstGeom prst="rect">
            <a:avLst/>
          </a:prstGeom>
          <a:noFill/>
        </p:spPr>
        <p:txBody>
          <a:bodyPr wrap="square" tIns="0" bIns="0" lIns="0" rIns="0">
            <a:noAutofit/>
          </a:bodyPr>
          <a:lstStyle/>
          <a:p>
            <a:pPr>
              <a:lnSpc>
                <a:spcPct val="108000"/>
              </a:lnSpc>
              <a:spcBef>
                <a:spcPts val="0"/>
              </a:spcBef>
              <a:spcAft>
                <a:spcPts val="0"/>
              </a:spcAft>
              <a:defRPr sz="1200">
                <a:solidFill>
                  <a:srgbClr val="262320"/>
                </a:solidFill>
                <a:latin typeface="DejaVu Sans"/>
              </a:defRPr>
            </a:pPr>
            <a:r>
              <a:t>EN CROISSANCE · SÉLECTION BEAUTÉ</a:t>
            </a:r>
          </a:p>
        </p:txBody>
      </p:sp>
      <p:sp>
        <p:nvSpPr>
          <p:cNvPr id="12" name="Rectangle 11"/>
          <p:cNvSpPr/>
          <p:nvPr/>
        </p:nvSpPr>
        <p:spPr>
          <a:xfrm>
            <a:off x="548640" y="2734056"/>
            <a:ext cx="5212080" cy="10972"/>
          </a:xfrm>
          <a:prstGeom prst="rect">
            <a:avLst/>
          </a:prstGeom>
          <a:solidFill>
            <a:srgbClr val="C3BA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6583680" y="2734056"/>
            <a:ext cx="5029200" cy="10972"/>
          </a:xfrm>
          <a:prstGeom prst="rect">
            <a:avLst/>
          </a:prstGeom>
          <a:solidFill>
            <a:srgbClr val="C3BA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48640" y="2898648"/>
            <a:ext cx="4297680" cy="356616"/>
          </a:xfrm>
          <a:prstGeom prst="rect">
            <a:avLst/>
          </a:prstGeom>
          <a:noFill/>
        </p:spPr>
        <p:txBody>
          <a:bodyPr wrap="square" tIns="0" bIns="0" lIns="0" rIns="0">
            <a:noAutofit/>
          </a:bodyPr>
          <a:lstStyle/>
          <a:p>
            <a:pPr>
              <a:lnSpc>
                <a:spcPct val="108000"/>
              </a:lnSpc>
              <a:spcBef>
                <a:spcPts val="0"/>
              </a:spcBef>
              <a:spcAft>
                <a:spcPts val="0"/>
              </a:spcAft>
              <a:defRPr sz="1900">
                <a:solidFill>
                  <a:srgbClr val="262320"/>
                </a:solidFill>
                <a:latin typeface="DejaVu Sans"/>
              </a:defRPr>
            </a:pPr>
            <a:r>
              <a:t>yves rocher</a:t>
            </a:r>
          </a:p>
        </p:txBody>
      </p:sp>
      <p:sp>
        <p:nvSpPr>
          <p:cNvPr id="15" name="TextBox 14"/>
          <p:cNvSpPr txBox="1"/>
          <p:nvPr/>
        </p:nvSpPr>
        <p:spPr>
          <a:xfrm>
            <a:off x="4983480" y="2898648"/>
            <a:ext cx="777240" cy="338328"/>
          </a:xfrm>
          <a:prstGeom prst="rect">
            <a:avLst/>
          </a:prstGeom>
          <a:noFill/>
        </p:spPr>
        <p:txBody>
          <a:bodyPr wrap="square" tIns="0" bIns="0" lIns="0" rIns="0">
            <a:noAutofit/>
          </a:bodyPr>
          <a:lstStyle/>
          <a:p>
            <a:pPr>
              <a:lnSpc>
                <a:spcPct val="108000"/>
              </a:lnSpc>
              <a:spcBef>
                <a:spcPts val="0"/>
              </a:spcBef>
              <a:spcAft>
                <a:spcPts val="0"/>
              </a:spcAft>
              <a:defRPr sz="1700">
                <a:solidFill>
                  <a:srgbClr val="262320"/>
                </a:solidFill>
                <a:latin typeface="DejaVu Sans"/>
              </a:defRPr>
            </a:pPr>
            <a:r>
              <a:t>17</a:t>
            </a:r>
          </a:p>
        </p:txBody>
      </p:sp>
      <p:sp>
        <p:nvSpPr>
          <p:cNvPr id="16" name="TextBox 15"/>
          <p:cNvSpPr txBox="1"/>
          <p:nvPr/>
        </p:nvSpPr>
        <p:spPr>
          <a:xfrm>
            <a:off x="548640" y="3364991"/>
            <a:ext cx="4297680" cy="356616"/>
          </a:xfrm>
          <a:prstGeom prst="rect">
            <a:avLst/>
          </a:prstGeom>
          <a:noFill/>
        </p:spPr>
        <p:txBody>
          <a:bodyPr wrap="square" tIns="0" bIns="0" lIns="0" rIns="0">
            <a:noAutofit/>
          </a:bodyPr>
          <a:lstStyle/>
          <a:p>
            <a:pPr>
              <a:lnSpc>
                <a:spcPct val="108000"/>
              </a:lnSpc>
              <a:spcBef>
                <a:spcPts val="0"/>
              </a:spcBef>
              <a:spcAft>
                <a:spcPts val="0"/>
              </a:spcAft>
              <a:defRPr sz="1900">
                <a:solidFill>
                  <a:srgbClr val="262320"/>
                </a:solidFill>
                <a:latin typeface="DejaVu Sans"/>
              </a:defRPr>
            </a:pPr>
            <a:r>
              <a:t>crème</a:t>
            </a:r>
          </a:p>
        </p:txBody>
      </p:sp>
      <p:sp>
        <p:nvSpPr>
          <p:cNvPr id="17" name="TextBox 16"/>
          <p:cNvSpPr txBox="1"/>
          <p:nvPr/>
        </p:nvSpPr>
        <p:spPr>
          <a:xfrm>
            <a:off x="4983480" y="3364991"/>
            <a:ext cx="777240" cy="338328"/>
          </a:xfrm>
          <a:prstGeom prst="rect">
            <a:avLst/>
          </a:prstGeom>
          <a:noFill/>
        </p:spPr>
        <p:txBody>
          <a:bodyPr wrap="square" tIns="0" bIns="0" lIns="0" rIns="0">
            <a:noAutofit/>
          </a:bodyPr>
          <a:lstStyle/>
          <a:p>
            <a:pPr>
              <a:lnSpc>
                <a:spcPct val="108000"/>
              </a:lnSpc>
              <a:spcBef>
                <a:spcPts val="0"/>
              </a:spcBef>
              <a:spcAft>
                <a:spcPts val="0"/>
              </a:spcAft>
              <a:defRPr sz="1700">
                <a:solidFill>
                  <a:srgbClr val="262320"/>
                </a:solidFill>
                <a:latin typeface="DejaVu Sans"/>
              </a:defRPr>
            </a:pPr>
            <a:r>
              <a:t>15</a:t>
            </a:r>
          </a:p>
        </p:txBody>
      </p:sp>
      <p:sp>
        <p:nvSpPr>
          <p:cNvPr id="18" name="TextBox 17"/>
          <p:cNvSpPr txBox="1"/>
          <p:nvPr/>
        </p:nvSpPr>
        <p:spPr>
          <a:xfrm>
            <a:off x="548640" y="3831335"/>
            <a:ext cx="4297680" cy="356616"/>
          </a:xfrm>
          <a:prstGeom prst="rect">
            <a:avLst/>
          </a:prstGeom>
          <a:noFill/>
        </p:spPr>
        <p:txBody>
          <a:bodyPr wrap="square" tIns="0" bIns="0" lIns="0" rIns="0">
            <a:noAutofit/>
          </a:bodyPr>
          <a:lstStyle/>
          <a:p>
            <a:pPr>
              <a:lnSpc>
                <a:spcPct val="108000"/>
              </a:lnSpc>
              <a:spcBef>
                <a:spcPts val="0"/>
              </a:spcBef>
              <a:spcAft>
                <a:spcPts val="0"/>
              </a:spcAft>
              <a:defRPr sz="1900">
                <a:solidFill>
                  <a:srgbClr val="262320"/>
                </a:solidFill>
                <a:latin typeface="DejaVu Sans"/>
              </a:defRPr>
            </a:pPr>
            <a:r>
              <a:t>vichy</a:t>
            </a:r>
          </a:p>
        </p:txBody>
      </p:sp>
      <p:sp>
        <p:nvSpPr>
          <p:cNvPr id="19" name="TextBox 18"/>
          <p:cNvSpPr txBox="1"/>
          <p:nvPr/>
        </p:nvSpPr>
        <p:spPr>
          <a:xfrm>
            <a:off x="4983480" y="3831335"/>
            <a:ext cx="777240" cy="338328"/>
          </a:xfrm>
          <a:prstGeom prst="rect">
            <a:avLst/>
          </a:prstGeom>
          <a:noFill/>
        </p:spPr>
        <p:txBody>
          <a:bodyPr wrap="square" tIns="0" bIns="0" lIns="0" rIns="0">
            <a:noAutofit/>
          </a:bodyPr>
          <a:lstStyle/>
          <a:p>
            <a:pPr>
              <a:lnSpc>
                <a:spcPct val="108000"/>
              </a:lnSpc>
              <a:spcBef>
                <a:spcPts val="0"/>
              </a:spcBef>
              <a:spcAft>
                <a:spcPts val="0"/>
              </a:spcAft>
              <a:defRPr sz="1700">
                <a:solidFill>
                  <a:srgbClr val="262320"/>
                </a:solidFill>
                <a:latin typeface="DejaVu Sans"/>
              </a:defRPr>
            </a:pPr>
            <a:r>
              <a:t>12</a:t>
            </a:r>
          </a:p>
        </p:txBody>
      </p:sp>
      <p:sp>
        <p:nvSpPr>
          <p:cNvPr id="20" name="TextBox 19"/>
          <p:cNvSpPr txBox="1"/>
          <p:nvPr/>
        </p:nvSpPr>
        <p:spPr>
          <a:xfrm>
            <a:off x="548640" y="4297680"/>
            <a:ext cx="4297680" cy="356616"/>
          </a:xfrm>
          <a:prstGeom prst="rect">
            <a:avLst/>
          </a:prstGeom>
          <a:noFill/>
        </p:spPr>
        <p:txBody>
          <a:bodyPr wrap="square" tIns="0" bIns="0" lIns="0" rIns="0">
            <a:noAutofit/>
          </a:bodyPr>
          <a:lstStyle/>
          <a:p>
            <a:pPr>
              <a:lnSpc>
                <a:spcPct val="108000"/>
              </a:lnSpc>
              <a:spcBef>
                <a:spcPts val="0"/>
              </a:spcBef>
              <a:spcAft>
                <a:spcPts val="0"/>
              </a:spcAft>
              <a:defRPr sz="1900">
                <a:solidFill>
                  <a:srgbClr val="262320"/>
                </a:solidFill>
                <a:latin typeface="DejaVu Sans"/>
              </a:defRPr>
            </a:pPr>
            <a:r>
              <a:t>guerlain</a:t>
            </a:r>
          </a:p>
        </p:txBody>
      </p:sp>
      <p:sp>
        <p:nvSpPr>
          <p:cNvPr id="21" name="TextBox 20"/>
          <p:cNvSpPr txBox="1"/>
          <p:nvPr/>
        </p:nvSpPr>
        <p:spPr>
          <a:xfrm>
            <a:off x="4983480" y="4297680"/>
            <a:ext cx="777240" cy="338328"/>
          </a:xfrm>
          <a:prstGeom prst="rect">
            <a:avLst/>
          </a:prstGeom>
          <a:noFill/>
        </p:spPr>
        <p:txBody>
          <a:bodyPr wrap="square" tIns="0" bIns="0" lIns="0" rIns="0">
            <a:noAutofit/>
          </a:bodyPr>
          <a:lstStyle/>
          <a:p>
            <a:pPr>
              <a:lnSpc>
                <a:spcPct val="108000"/>
              </a:lnSpc>
              <a:spcBef>
                <a:spcPts val="0"/>
              </a:spcBef>
              <a:spcAft>
                <a:spcPts val="0"/>
              </a:spcAft>
              <a:defRPr sz="1700">
                <a:solidFill>
                  <a:srgbClr val="262320"/>
                </a:solidFill>
                <a:latin typeface="DejaVu Sans"/>
              </a:defRPr>
            </a:pPr>
            <a:r>
              <a:t>10</a:t>
            </a:r>
          </a:p>
        </p:txBody>
      </p:sp>
      <p:sp>
        <p:nvSpPr>
          <p:cNvPr id="22" name="TextBox 21"/>
          <p:cNvSpPr txBox="1"/>
          <p:nvPr/>
        </p:nvSpPr>
        <p:spPr>
          <a:xfrm>
            <a:off x="548640" y="4764024"/>
            <a:ext cx="4297680" cy="356616"/>
          </a:xfrm>
          <a:prstGeom prst="rect">
            <a:avLst/>
          </a:prstGeom>
          <a:noFill/>
        </p:spPr>
        <p:txBody>
          <a:bodyPr wrap="square" tIns="0" bIns="0" lIns="0" rIns="0">
            <a:noAutofit/>
          </a:bodyPr>
          <a:lstStyle/>
          <a:p>
            <a:pPr>
              <a:lnSpc>
                <a:spcPct val="108000"/>
              </a:lnSpc>
              <a:spcBef>
                <a:spcPts val="0"/>
              </a:spcBef>
              <a:spcAft>
                <a:spcPts val="0"/>
              </a:spcAft>
              <a:defRPr sz="1900">
                <a:solidFill>
                  <a:srgbClr val="262320"/>
                </a:solidFill>
                <a:latin typeface="DejaVu Sans"/>
              </a:defRPr>
            </a:pPr>
            <a:r>
              <a:t>chanel</a:t>
            </a:r>
          </a:p>
        </p:txBody>
      </p:sp>
      <p:sp>
        <p:nvSpPr>
          <p:cNvPr id="23" name="TextBox 22"/>
          <p:cNvSpPr txBox="1"/>
          <p:nvPr/>
        </p:nvSpPr>
        <p:spPr>
          <a:xfrm>
            <a:off x="4983480" y="4764024"/>
            <a:ext cx="777240" cy="338328"/>
          </a:xfrm>
          <a:prstGeom prst="rect">
            <a:avLst/>
          </a:prstGeom>
          <a:noFill/>
        </p:spPr>
        <p:txBody>
          <a:bodyPr wrap="square" tIns="0" bIns="0" lIns="0" rIns="0">
            <a:noAutofit/>
          </a:bodyPr>
          <a:lstStyle/>
          <a:p>
            <a:pPr>
              <a:lnSpc>
                <a:spcPct val="108000"/>
              </a:lnSpc>
              <a:spcBef>
                <a:spcPts val="0"/>
              </a:spcBef>
              <a:spcAft>
                <a:spcPts val="0"/>
              </a:spcAft>
              <a:defRPr sz="1700">
                <a:solidFill>
                  <a:srgbClr val="262320"/>
                </a:solidFill>
                <a:latin typeface="DejaVu Sans"/>
              </a:defRPr>
            </a:pPr>
            <a:r>
              <a:t>9</a:t>
            </a:r>
          </a:p>
        </p:txBody>
      </p:sp>
      <p:sp>
        <p:nvSpPr>
          <p:cNvPr id="24" name="TextBox 23"/>
          <p:cNvSpPr txBox="1"/>
          <p:nvPr/>
        </p:nvSpPr>
        <p:spPr>
          <a:xfrm>
            <a:off x="6583680" y="2898648"/>
            <a:ext cx="3474720" cy="621792"/>
          </a:xfrm>
          <a:prstGeom prst="rect">
            <a:avLst/>
          </a:prstGeom>
          <a:noFill/>
        </p:spPr>
        <p:txBody>
          <a:bodyPr wrap="square" tIns="0" bIns="0" lIns="0" rIns="0">
            <a:noAutofit/>
          </a:bodyPr>
          <a:lstStyle/>
          <a:p>
            <a:pPr>
              <a:lnSpc>
                <a:spcPct val="108000"/>
              </a:lnSpc>
              <a:spcBef>
                <a:spcPts val="0"/>
              </a:spcBef>
              <a:spcAft>
                <a:spcPts val="0"/>
              </a:spcAft>
              <a:defRPr sz="1500">
                <a:solidFill>
                  <a:srgbClr val="262320"/>
                </a:solidFill>
                <a:latin typeface="DejaVu Sans"/>
              </a:defRPr>
            </a:pPr>
            <a:r>
              <a:t>musc ravageur</a:t>
            </a:r>
          </a:p>
        </p:txBody>
      </p:sp>
      <p:sp>
        <p:nvSpPr>
          <p:cNvPr id="25" name="TextBox 24"/>
          <p:cNvSpPr txBox="1"/>
          <p:nvPr/>
        </p:nvSpPr>
        <p:spPr>
          <a:xfrm>
            <a:off x="10195560" y="2898648"/>
            <a:ext cx="1417320" cy="411480"/>
          </a:xfrm>
          <a:prstGeom prst="rect">
            <a:avLst/>
          </a:prstGeom>
          <a:noFill/>
        </p:spPr>
        <p:txBody>
          <a:bodyPr wrap="square" tIns="0" bIns="0" lIns="0" rIns="0">
            <a:noAutofit/>
          </a:bodyPr>
          <a:lstStyle/>
          <a:p>
            <a:pPr>
              <a:lnSpc>
                <a:spcPct val="108000"/>
              </a:lnSpc>
              <a:spcBef>
                <a:spcPts val="0"/>
              </a:spcBef>
              <a:spcAft>
                <a:spcPts val="0"/>
              </a:spcAft>
              <a:defRPr sz="1400">
                <a:solidFill>
                  <a:srgbClr val="262320"/>
                </a:solidFill>
                <a:latin typeface="DejaVu Sans"/>
              </a:defRPr>
            </a:pPr>
            <a:r>
              <a:t>+350 %</a:t>
            </a:r>
          </a:p>
        </p:txBody>
      </p:sp>
      <p:sp>
        <p:nvSpPr>
          <p:cNvPr id="26" name="TextBox 25"/>
          <p:cNvSpPr txBox="1"/>
          <p:nvPr/>
        </p:nvSpPr>
        <p:spPr>
          <a:xfrm>
            <a:off x="6583680" y="3630168"/>
            <a:ext cx="3474720" cy="621792"/>
          </a:xfrm>
          <a:prstGeom prst="rect">
            <a:avLst/>
          </a:prstGeom>
          <a:noFill/>
        </p:spPr>
        <p:txBody>
          <a:bodyPr wrap="square" tIns="0" bIns="0" lIns="0" rIns="0">
            <a:noAutofit/>
          </a:bodyPr>
          <a:lstStyle/>
          <a:p>
            <a:pPr>
              <a:lnSpc>
                <a:spcPct val="108000"/>
              </a:lnSpc>
              <a:spcBef>
                <a:spcPts val="0"/>
              </a:spcBef>
              <a:spcAft>
                <a:spcPts val="0"/>
              </a:spcAft>
              <a:defRPr sz="1500">
                <a:solidFill>
                  <a:srgbClr val="262320"/>
                </a:solidFill>
                <a:latin typeface="DejaVu Sans"/>
              </a:defRPr>
            </a:pPr>
            <a:r>
              <a:t>vernis rouge</a:t>
            </a:r>
          </a:p>
        </p:txBody>
      </p:sp>
      <p:sp>
        <p:nvSpPr>
          <p:cNvPr id="27" name="TextBox 26"/>
          <p:cNvSpPr txBox="1"/>
          <p:nvPr/>
        </p:nvSpPr>
        <p:spPr>
          <a:xfrm>
            <a:off x="10195560" y="3630168"/>
            <a:ext cx="1417320" cy="411480"/>
          </a:xfrm>
          <a:prstGeom prst="rect">
            <a:avLst/>
          </a:prstGeom>
          <a:noFill/>
        </p:spPr>
        <p:txBody>
          <a:bodyPr wrap="square" tIns="0" bIns="0" lIns="0" rIns="0">
            <a:noAutofit/>
          </a:bodyPr>
          <a:lstStyle/>
          <a:p>
            <a:pPr>
              <a:lnSpc>
                <a:spcPct val="108000"/>
              </a:lnSpc>
              <a:spcBef>
                <a:spcPts val="0"/>
              </a:spcBef>
              <a:spcAft>
                <a:spcPts val="0"/>
              </a:spcAft>
              <a:defRPr sz="1400">
                <a:solidFill>
                  <a:srgbClr val="262320"/>
                </a:solidFill>
                <a:latin typeface="DejaVu Sans"/>
              </a:defRPr>
            </a:pPr>
            <a:r>
              <a:t>+90 %</a:t>
            </a:r>
          </a:p>
        </p:txBody>
      </p:sp>
      <p:sp>
        <p:nvSpPr>
          <p:cNvPr id="28" name="TextBox 27"/>
          <p:cNvSpPr txBox="1"/>
          <p:nvPr/>
        </p:nvSpPr>
        <p:spPr>
          <a:xfrm>
            <a:off x="6583680" y="4361688"/>
            <a:ext cx="3474720" cy="621792"/>
          </a:xfrm>
          <a:prstGeom prst="rect">
            <a:avLst/>
          </a:prstGeom>
          <a:noFill/>
        </p:spPr>
        <p:txBody>
          <a:bodyPr wrap="square" tIns="0" bIns="0" lIns="0" rIns="0">
            <a:noAutofit/>
          </a:bodyPr>
          <a:lstStyle/>
          <a:p>
            <a:pPr>
              <a:lnSpc>
                <a:spcPct val="108000"/>
              </a:lnSpc>
              <a:spcBef>
                <a:spcPts val="0"/>
              </a:spcBef>
              <a:spcAft>
                <a:spcPts val="0"/>
              </a:spcAft>
              <a:defRPr sz="1500">
                <a:solidFill>
                  <a:srgbClr val="262320"/>
                </a:solidFill>
                <a:latin typeface="DejaVu Sans"/>
              </a:defRPr>
            </a:pPr>
            <a:r>
              <a:t>action l'oreal</a:t>
            </a:r>
          </a:p>
        </p:txBody>
      </p:sp>
      <p:sp>
        <p:nvSpPr>
          <p:cNvPr id="29" name="TextBox 28"/>
          <p:cNvSpPr txBox="1"/>
          <p:nvPr/>
        </p:nvSpPr>
        <p:spPr>
          <a:xfrm>
            <a:off x="10195560" y="4361688"/>
            <a:ext cx="1417320" cy="411480"/>
          </a:xfrm>
          <a:prstGeom prst="rect">
            <a:avLst/>
          </a:prstGeom>
          <a:noFill/>
        </p:spPr>
        <p:txBody>
          <a:bodyPr wrap="square" tIns="0" bIns="0" lIns="0" rIns="0">
            <a:noAutofit/>
          </a:bodyPr>
          <a:lstStyle/>
          <a:p>
            <a:pPr>
              <a:lnSpc>
                <a:spcPct val="108000"/>
              </a:lnSpc>
              <a:spcBef>
                <a:spcPts val="0"/>
              </a:spcBef>
              <a:spcAft>
                <a:spcPts val="0"/>
              </a:spcAft>
              <a:defRPr sz="1400">
                <a:solidFill>
                  <a:srgbClr val="262320"/>
                </a:solidFill>
                <a:latin typeface="DejaVu Sans"/>
              </a:defRPr>
            </a:pPr>
            <a:r>
              <a:t>+80 %</a:t>
            </a:r>
          </a:p>
        </p:txBody>
      </p:sp>
      <p:sp>
        <p:nvSpPr>
          <p:cNvPr id="30" name="TextBox 29"/>
          <p:cNvSpPr txBox="1"/>
          <p:nvPr/>
        </p:nvSpPr>
        <p:spPr>
          <a:xfrm>
            <a:off x="548640" y="5376672"/>
            <a:ext cx="11064240" cy="292608"/>
          </a:xfrm>
          <a:prstGeom prst="rect">
            <a:avLst/>
          </a:prstGeom>
          <a:noFill/>
        </p:spPr>
        <p:txBody>
          <a:bodyPr wrap="square" tIns="0" bIns="0" lIns="0" rIns="0">
            <a:noAutofit/>
          </a:bodyPr>
          <a:lstStyle/>
          <a:p>
            <a:pPr>
              <a:lnSpc>
                <a:spcPct val="108000"/>
              </a:lnSpc>
              <a:spcBef>
                <a:spcPts val="0"/>
              </a:spcBef>
              <a:spcAft>
                <a:spcPts val="0"/>
              </a:spcAft>
              <a:defRPr sz="1100">
                <a:solidFill>
                  <a:srgbClr val="645E57"/>
                </a:solidFill>
                <a:latin typeface="DejaVu Sans"/>
              </a:defRPr>
            </a:pPr>
            <a:r>
              <a:t>Indice relatif, pas un volume. Croissance vs 07.10.2026–13.10.2026.</a:t>
            </a:r>
          </a:p>
        </p:txBody>
      </p:sp>
      <p:sp>
        <p:nvSpPr>
          <p:cNvPr id="31" name="TextBox 30"/>
          <p:cNvSpPr txBox="1"/>
          <p:nvPr/>
        </p:nvSpPr>
        <p:spPr>
          <a:xfrm>
            <a:off x="548640" y="5760720"/>
            <a:ext cx="11064240" cy="438912"/>
          </a:xfrm>
          <a:prstGeom prst="rect">
            <a:avLst/>
          </a:prstGeom>
          <a:noFill/>
        </p:spPr>
        <p:txBody>
          <a:bodyPr wrap="square" tIns="0" bIns="0" lIns="0" rIns="0">
            <a:noAutofit/>
          </a:bodyPr>
          <a:lstStyle/>
          <a:p>
            <a:pPr>
              <a:lnSpc>
                <a:spcPct val="108000"/>
              </a:lnSpc>
              <a:spcBef>
                <a:spcPts val="0"/>
              </a:spcBef>
              <a:spcAft>
                <a:spcPts val="0"/>
              </a:spcAft>
              <a:defRPr sz="1300">
                <a:solidFill>
                  <a:srgbClr val="262320"/>
                </a:solidFill>
                <a:latin typeface="DejaVu Sans"/>
              </a:defRPr>
            </a:pPr>
            <a:r>
              <a:t>Sélection de marques beauté et soins. Les hausses ne prouvent pas un intérêt accru pour le contour des yeux IOMA.</a:t>
            </a:r>
          </a:p>
        </p:txBody>
      </p:sp>
      <p:sp>
        <p:nvSpPr>
          <p:cNvPr id="32" name="TextBox 31">
            <a:hlinkClick r:id="rId3"/>
          </p:cNvPr>
          <p:cNvSpPr txBox="1"/>
          <p:nvPr/>
        </p:nvSpPr>
        <p:spPr>
          <a:xfrm>
            <a:off x="548640" y="6254496"/>
            <a:ext cx="4114800" cy="210312"/>
          </a:xfrm>
          <a:prstGeom prst="rect">
            <a:avLst/>
          </a:prstGeom>
          <a:noFill/>
        </p:spPr>
        <p:txBody>
          <a:bodyPr wrap="square" tIns="0" bIns="0" lIns="0" rIns="0">
            <a:noAutofit/>
          </a:bodyPr>
          <a:lstStyle/>
          <a:p>
            <a:pPr>
              <a:lnSpc>
                <a:spcPct val="108000"/>
              </a:lnSpc>
              <a:spcBef>
                <a:spcPts val="0"/>
              </a:spcBef>
              <a:spcAft>
                <a:spcPts val="0"/>
              </a:spcAft>
              <a:defRPr sz="1000">
                <a:solidFill>
                  <a:srgbClr val="645E57"/>
                </a:solidFill>
                <a:latin typeface="DejaVu Sans"/>
              </a:defRPr>
            </a:pPr>
            <a:r>
              <a:t>Google Trends · ouvrir les données</a:t>
            </a:r>
          </a:p>
        </p:txBody>
      </p:sp>
      <p:sp>
        <p:nvSpPr>
          <p:cNvPr id="33" name="TextBox 32">
            <a:hlinkClick r:id="rId4"/>
          </p:cNvPr>
          <p:cNvSpPr txBox="1"/>
          <p:nvPr/>
        </p:nvSpPr>
        <p:spPr>
          <a:xfrm>
            <a:off x="4937760" y="6254496"/>
            <a:ext cx="6675120" cy="210312"/>
          </a:xfrm>
          <a:prstGeom prst="rect">
            <a:avLst/>
          </a:prstGeom>
          <a:noFill/>
        </p:spPr>
        <p:txBody>
          <a:bodyPr wrap="square" tIns="0" bIns="0" lIns="0" rIns="0">
            <a:noAutofit/>
          </a:bodyPr>
          <a:lstStyle/>
          <a:p>
            <a:pPr>
              <a:lnSpc>
                <a:spcPct val="108000"/>
              </a:lnSpc>
              <a:spcBef>
                <a:spcPts val="0"/>
              </a:spcBef>
              <a:spcAft>
                <a:spcPts val="0"/>
              </a:spcAft>
              <a:defRPr sz="1000">
                <a:solidFill>
                  <a:srgbClr val="645E57"/>
                </a:solidFill>
                <a:latin typeface="DejaVu Sans"/>
              </a:defRPr>
            </a:pPr>
            <a:r>
              <a:t>Sélection pertinente ; ordre Google conservé. Méthode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7F2"/>
        </a:solidFill>
        <a:effectLst/>
      </p:bgPr>
    </p:bg>
    <p:spTree>
      <p:nvGrpSpPr>
        <p:cNvPr id="1" name=""/>
        <p:cNvGrpSpPr/>
        <p:nvPr/>
      </p:nvGrpSpPr>
      <p:grpSpPr/>
      <p:sp>
        <p:nvSpPr>
          <p:cNvPr id="2" name="TextBox 1"/>
          <p:cNvSpPr txBox="1"/>
          <p:nvPr/>
        </p:nvSpPr>
        <p:spPr>
          <a:xfrm>
            <a:off x="548640" y="384048"/>
            <a:ext cx="3657600" cy="274320"/>
          </a:xfrm>
          <a:prstGeom prst="rect">
            <a:avLst/>
          </a:prstGeom>
          <a:noFill/>
        </p:spPr>
        <p:txBody>
          <a:bodyPr wrap="square" tIns="0" bIns="0" lIns="0" rIns="0">
            <a:noAutofit/>
          </a:bodyPr>
          <a:lstStyle/>
          <a:p>
            <a:pPr>
              <a:lnSpc>
                <a:spcPct val="108000"/>
              </a:lnSpc>
              <a:spcBef>
                <a:spcPts val="0"/>
              </a:spcBef>
              <a:spcAft>
                <a:spcPts val="0"/>
              </a:spcAft>
              <a:defRPr sz="1100">
                <a:solidFill>
                  <a:srgbClr val="262320"/>
                </a:solidFill>
                <a:latin typeface="DejaVu Sans"/>
              </a:defRPr>
            </a:pPr>
            <a:r>
              <a:t>BEAUTY RADAR</a:t>
            </a:r>
          </a:p>
        </p:txBody>
      </p:sp>
      <p:pic>
        <p:nvPicPr>
          <p:cNvPr id="3" name="Picture 2" descr="image.png"/>
          <p:cNvPicPr>
            <a:picLocks noChangeAspect="1"/>
          </p:cNvPicPr>
          <p:nvPr/>
        </p:nvPicPr>
        <p:blipFill>
          <a:blip r:embed="rId2"/>
          <a:stretch>
            <a:fillRect/>
          </a:stretch>
        </p:blipFill>
        <p:spPr>
          <a:xfrm>
            <a:off x="5593110" y="219456"/>
            <a:ext cx="1005840" cy="420624"/>
          </a:xfrm>
          <a:prstGeom prst="rect">
            <a:avLst/>
          </a:prstGeom>
        </p:spPr>
      </p:pic>
      <p:sp>
        <p:nvSpPr>
          <p:cNvPr id="4" name="TextBox 3"/>
          <p:cNvSpPr txBox="1"/>
          <p:nvPr/>
        </p:nvSpPr>
        <p:spPr>
          <a:xfrm>
            <a:off x="8458200" y="384048"/>
            <a:ext cx="3154680" cy="274320"/>
          </a:xfrm>
          <a:prstGeom prst="rect">
            <a:avLst/>
          </a:prstGeom>
          <a:noFill/>
        </p:spPr>
        <p:txBody>
          <a:bodyPr wrap="square" tIns="0" bIns="0" lIns="0" rIns="0">
            <a:noAutofit/>
          </a:bodyPr>
          <a:lstStyle/>
          <a:p>
            <a:pPr>
              <a:lnSpc>
                <a:spcPct val="108000"/>
              </a:lnSpc>
              <a:spcBef>
                <a:spcPts val="0"/>
              </a:spcBef>
              <a:spcAft>
                <a:spcPts val="0"/>
              </a:spcAft>
              <a:defRPr sz="1100">
                <a:solidFill>
                  <a:srgbClr val="645E57"/>
                </a:solidFill>
                <a:latin typeface="DejaVu Sans"/>
              </a:defRPr>
            </a:pPr>
            <a:r>
              <a:t>14.10.2026 — 21.10.2026</a:t>
            </a:r>
          </a:p>
        </p:txBody>
      </p:sp>
      <p:sp>
        <p:nvSpPr>
          <p:cNvPr id="5" name="Rectangle 4"/>
          <p:cNvSpPr/>
          <p:nvPr/>
        </p:nvSpPr>
        <p:spPr>
          <a:xfrm>
            <a:off x="548640" y="841248"/>
            <a:ext cx="11064240" cy="10972"/>
          </a:xfrm>
          <a:prstGeom prst="rect">
            <a:avLst/>
          </a:prstGeom>
          <a:solidFill>
            <a:srgbClr val="C3BA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48640" y="6528816"/>
            <a:ext cx="8229600" cy="201168"/>
          </a:xfrm>
          <a:prstGeom prst="rect">
            <a:avLst/>
          </a:prstGeom>
          <a:noFill/>
        </p:spPr>
        <p:txBody>
          <a:bodyPr wrap="square" tIns="0" bIns="0" lIns="0" rIns="0">
            <a:noAutofit/>
          </a:bodyPr>
          <a:lstStyle/>
          <a:p>
            <a:pPr>
              <a:lnSpc>
                <a:spcPct val="108000"/>
              </a:lnSpc>
              <a:spcBef>
                <a:spcPts val="0"/>
              </a:spcBef>
              <a:spcAft>
                <a:spcPts val="0"/>
              </a:spcAft>
              <a:defRPr sz="900">
                <a:solidFill>
                  <a:srgbClr val="645E57"/>
                </a:solidFill>
                <a:latin typeface="DejaVu Sans"/>
              </a:defRPr>
            </a:pPr>
            <a:r>
              <a:t>IOMA PARIS  /  FR</a:t>
            </a:r>
          </a:p>
        </p:txBody>
      </p:sp>
      <p:sp>
        <p:nvSpPr>
          <p:cNvPr id="7" name="TextBox 6"/>
          <p:cNvSpPr txBox="1"/>
          <p:nvPr/>
        </p:nvSpPr>
        <p:spPr>
          <a:xfrm>
            <a:off x="11082528" y="6510528"/>
            <a:ext cx="457200" cy="219456"/>
          </a:xfrm>
          <a:prstGeom prst="rect">
            <a:avLst/>
          </a:prstGeom>
          <a:noFill/>
        </p:spPr>
        <p:txBody>
          <a:bodyPr wrap="square" tIns="0" bIns="0" lIns="0" rIns="0">
            <a:noAutofit/>
          </a:bodyPr>
          <a:lstStyle/>
          <a:p>
            <a:pPr>
              <a:lnSpc>
                <a:spcPct val="108000"/>
              </a:lnSpc>
              <a:spcBef>
                <a:spcPts val="0"/>
              </a:spcBef>
              <a:spcAft>
                <a:spcPts val="0"/>
              </a:spcAft>
              <a:defRPr sz="1000">
                <a:solidFill>
                  <a:srgbClr val="645E57"/>
                </a:solidFill>
                <a:latin typeface="DejaVu Sans"/>
              </a:defRPr>
            </a:pPr>
            <a:r>
              <a:t>04</a:t>
            </a:r>
          </a:p>
        </p:txBody>
      </p:sp>
      <p:sp>
        <p:nvSpPr>
          <p:cNvPr id="8" name="TextBox 7"/>
          <p:cNvSpPr txBox="1"/>
          <p:nvPr/>
        </p:nvSpPr>
        <p:spPr>
          <a:xfrm>
            <a:off x="548640" y="1051560"/>
            <a:ext cx="11064240" cy="594360"/>
          </a:xfrm>
          <a:prstGeom prst="rect">
            <a:avLst/>
          </a:prstGeom>
          <a:noFill/>
        </p:spPr>
        <p:txBody>
          <a:bodyPr wrap="square" tIns="0" bIns="0" lIns="0" rIns="0">
            <a:noAutofit/>
          </a:bodyPr>
          <a:lstStyle/>
          <a:p>
            <a:pPr>
              <a:lnSpc>
                <a:spcPct val="108000"/>
              </a:lnSpc>
              <a:spcBef>
                <a:spcPts val="0"/>
              </a:spcBef>
              <a:spcAft>
                <a:spcPts val="0"/>
              </a:spcAft>
              <a:defRPr sz="3400">
                <a:solidFill>
                  <a:srgbClr val="262320"/>
                </a:solidFill>
                <a:latin typeface="Cormorant Garamond"/>
              </a:defRPr>
            </a:pPr>
            <a:r>
              <a:t>Articles &amp; sources</a:t>
            </a:r>
          </a:p>
        </p:txBody>
      </p:sp>
      <p:sp>
        <p:nvSpPr>
          <p:cNvPr id="9" name="TextBox 8"/>
          <p:cNvSpPr txBox="1"/>
          <p:nvPr/>
        </p:nvSpPr>
        <p:spPr>
          <a:xfrm>
            <a:off x="548640" y="1709928"/>
            <a:ext cx="10972800" cy="365760"/>
          </a:xfrm>
          <a:prstGeom prst="rect">
            <a:avLst/>
          </a:prstGeom>
          <a:noFill/>
        </p:spPr>
        <p:txBody>
          <a:bodyPr wrap="square" tIns="0" bIns="0" lIns="0" rIns="0">
            <a:noAutofit/>
          </a:bodyPr>
          <a:lstStyle/>
          <a:p>
            <a:pPr>
              <a:lnSpc>
                <a:spcPct val="108000"/>
              </a:lnSpc>
              <a:spcBef>
                <a:spcPts val="0"/>
              </a:spcBef>
              <a:spcAft>
                <a:spcPts val="0"/>
              </a:spcAft>
              <a:defRPr sz="1500">
                <a:solidFill>
                  <a:srgbClr val="645E57"/>
                </a:solidFill>
                <a:latin typeface="DejaVu Sans"/>
              </a:defRPr>
            </a:pPr>
            <a:r>
              <a:t>Ouvrir les publications citées dans ce radar</a:t>
            </a:r>
          </a:p>
        </p:txBody>
      </p:sp>
      <p:sp>
        <p:nvSpPr>
          <p:cNvPr id="10" name="TextBox 9"/>
          <p:cNvSpPr txBox="1"/>
          <p:nvPr/>
        </p:nvSpPr>
        <p:spPr>
          <a:xfrm>
            <a:off x="548640" y="2423160"/>
            <a:ext cx="11064240" cy="274320"/>
          </a:xfrm>
          <a:prstGeom prst="rect">
            <a:avLst/>
          </a:prstGeom>
          <a:noFill/>
        </p:spPr>
        <p:txBody>
          <a:bodyPr wrap="square" tIns="0" bIns="0" lIns="0" rIns="0">
            <a:noAutofit/>
          </a:bodyPr>
          <a:lstStyle/>
          <a:p>
            <a:pPr>
              <a:lnSpc>
                <a:spcPct val="108000"/>
              </a:lnSpc>
              <a:spcBef>
                <a:spcPts val="0"/>
              </a:spcBef>
              <a:spcAft>
                <a:spcPts val="0"/>
              </a:spcAft>
              <a:defRPr sz="1100">
                <a:solidFill>
                  <a:srgbClr val="645E57"/>
                </a:solidFill>
                <a:latin typeface="DejaVu Sans"/>
              </a:defRPr>
            </a:pPr>
            <a:r>
              <a:t>Marketing-Interactive  ·  24.09.2026  ·  PRESSE MARKETING · CAMPAGNE</a:t>
            </a:r>
          </a:p>
        </p:txBody>
      </p:sp>
      <p:sp>
        <p:nvSpPr>
          <p:cNvPr id="11" name="TextBox 10"/>
          <p:cNvSpPr txBox="1"/>
          <p:nvPr/>
        </p:nvSpPr>
        <p:spPr>
          <a:xfrm>
            <a:off x="548640" y="2734056"/>
            <a:ext cx="8686800" cy="530352"/>
          </a:xfrm>
          <a:prstGeom prst="rect">
            <a:avLst/>
          </a:prstGeom>
          <a:noFill/>
        </p:spPr>
        <p:txBody>
          <a:bodyPr wrap="square" tIns="0" bIns="0" lIns="0" rIns="0">
            <a:noAutofit/>
          </a:bodyPr>
          <a:lstStyle/>
          <a:p>
            <a:pPr>
              <a:lnSpc>
                <a:spcPct val="108000"/>
              </a:lnSpc>
              <a:spcBef>
                <a:spcPts val="0"/>
              </a:spcBef>
              <a:spcAft>
                <a:spcPts val="0"/>
              </a:spcAft>
              <a:defRPr sz="2300">
                <a:solidFill>
                  <a:srgbClr val="262320"/>
                </a:solidFill>
                <a:latin typeface="Cormorant Garamond"/>
              </a:defRPr>
            </a:pPr>
            <a:r>
              <a:t>CeraVe Hong Kong : la campagne « anti-publicité »</a:t>
            </a:r>
          </a:p>
        </p:txBody>
      </p:sp>
      <p:sp>
        <p:nvSpPr>
          <p:cNvPr id="12" name="TextBox 11">
            <a:hlinkClick r:id="rId3"/>
          </p:cNvPr>
          <p:cNvSpPr txBox="1"/>
          <p:nvPr/>
        </p:nvSpPr>
        <p:spPr>
          <a:xfrm>
            <a:off x="9326880" y="2779776"/>
            <a:ext cx="2286000" cy="365760"/>
          </a:xfrm>
          <a:prstGeom prst="rect">
            <a:avLst/>
          </a:prstGeom>
          <a:noFill/>
        </p:spPr>
        <p:txBody>
          <a:bodyPr wrap="square" tIns="0" bIns="0" lIns="0" rIns="0">
            <a:noAutofit/>
          </a:bodyPr>
          <a:lstStyle/>
          <a:p>
            <a:pPr>
              <a:lnSpc>
                <a:spcPct val="108000"/>
              </a:lnSpc>
              <a:spcBef>
                <a:spcPts val="0"/>
              </a:spcBef>
              <a:spcAft>
                <a:spcPts val="0"/>
              </a:spcAft>
              <a:defRPr sz="1200">
                <a:solidFill>
                  <a:srgbClr val="262320"/>
                </a:solidFill>
                <a:latin typeface="DejaVu Sans"/>
              </a:defRPr>
            </a:pPr>
            <a:r>
              <a:rPr u="sng">
                <a:hlinkClick r:id="rId3"/>
              </a:rPr>
              <a:t>Lire l’article</a:t>
            </a:r>
          </a:p>
        </p:txBody>
      </p:sp>
      <p:sp>
        <p:nvSpPr>
          <p:cNvPr id="13" name="Rectangle 12"/>
          <p:cNvSpPr/>
          <p:nvPr/>
        </p:nvSpPr>
        <p:spPr>
          <a:xfrm>
            <a:off x="548640" y="3374136"/>
            <a:ext cx="11064240" cy="10972"/>
          </a:xfrm>
          <a:prstGeom prst="rect">
            <a:avLst/>
          </a:prstGeom>
          <a:solidFill>
            <a:srgbClr val="C3BA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48640" y="3557015"/>
            <a:ext cx="11064240" cy="274320"/>
          </a:xfrm>
          <a:prstGeom prst="rect">
            <a:avLst/>
          </a:prstGeom>
          <a:noFill/>
        </p:spPr>
        <p:txBody>
          <a:bodyPr wrap="square" tIns="0" bIns="0" lIns="0" rIns="0">
            <a:noAutofit/>
          </a:bodyPr>
          <a:lstStyle/>
          <a:p>
            <a:pPr>
              <a:lnSpc>
                <a:spcPct val="108000"/>
              </a:lnSpc>
              <a:spcBef>
                <a:spcPts val="0"/>
              </a:spcBef>
              <a:spcAft>
                <a:spcPts val="0"/>
              </a:spcAft>
              <a:defRPr sz="1100">
                <a:solidFill>
                  <a:srgbClr val="645E57"/>
                </a:solidFill>
                <a:latin typeface="DejaVu Sans"/>
              </a:defRPr>
            </a:pPr>
            <a:r>
              <a:t>arpy  ·  15.10.2026  ·  CONTENU DE MARQUE</a:t>
            </a:r>
          </a:p>
        </p:txBody>
      </p:sp>
      <p:sp>
        <p:nvSpPr>
          <p:cNvPr id="15" name="TextBox 14"/>
          <p:cNvSpPr txBox="1"/>
          <p:nvPr/>
        </p:nvSpPr>
        <p:spPr>
          <a:xfrm>
            <a:off x="548640" y="3867911"/>
            <a:ext cx="8686800" cy="530352"/>
          </a:xfrm>
          <a:prstGeom prst="rect">
            <a:avLst/>
          </a:prstGeom>
          <a:noFill/>
        </p:spPr>
        <p:txBody>
          <a:bodyPr wrap="square" tIns="0" bIns="0" lIns="0" rIns="0">
            <a:noAutofit/>
          </a:bodyPr>
          <a:lstStyle/>
          <a:p>
            <a:pPr>
              <a:lnSpc>
                <a:spcPct val="108000"/>
              </a:lnSpc>
              <a:spcBef>
                <a:spcPts val="0"/>
              </a:spcBef>
              <a:spcAft>
                <a:spcPts val="0"/>
              </a:spcAft>
              <a:defRPr sz="2300">
                <a:solidFill>
                  <a:srgbClr val="262320"/>
                </a:solidFill>
                <a:latin typeface="Cormorant Garamond"/>
              </a:defRPr>
            </a:pPr>
            <a:r>
              <a:t>Peptides &amp; contour des yeux : guide de marque</a:t>
            </a:r>
          </a:p>
        </p:txBody>
      </p:sp>
      <p:sp>
        <p:nvSpPr>
          <p:cNvPr id="16" name="TextBox 15">
            <a:hlinkClick r:id="rId4"/>
          </p:cNvPr>
          <p:cNvSpPr txBox="1"/>
          <p:nvPr/>
        </p:nvSpPr>
        <p:spPr>
          <a:xfrm>
            <a:off x="9326880" y="3913631"/>
            <a:ext cx="2286000" cy="365760"/>
          </a:xfrm>
          <a:prstGeom prst="rect">
            <a:avLst/>
          </a:prstGeom>
          <a:noFill/>
        </p:spPr>
        <p:txBody>
          <a:bodyPr wrap="square" tIns="0" bIns="0" lIns="0" rIns="0">
            <a:noAutofit/>
          </a:bodyPr>
          <a:lstStyle/>
          <a:p>
            <a:pPr>
              <a:lnSpc>
                <a:spcPct val="108000"/>
              </a:lnSpc>
              <a:spcBef>
                <a:spcPts val="0"/>
              </a:spcBef>
              <a:spcAft>
                <a:spcPts val="0"/>
              </a:spcAft>
              <a:defRPr sz="1200">
                <a:solidFill>
                  <a:srgbClr val="262320"/>
                </a:solidFill>
                <a:latin typeface="DejaVu Sans"/>
              </a:defRPr>
            </a:pPr>
            <a:r>
              <a:rPr u="sng">
                <a:hlinkClick r:id="rId4"/>
              </a:rPr>
              <a:t>Lire le contenu</a:t>
            </a:r>
          </a:p>
        </p:txBody>
      </p:sp>
      <p:sp>
        <p:nvSpPr>
          <p:cNvPr id="17" name="Rectangle 16"/>
          <p:cNvSpPr/>
          <p:nvPr/>
        </p:nvSpPr>
        <p:spPr>
          <a:xfrm>
            <a:off x="548640" y="4507992"/>
            <a:ext cx="11064240" cy="10972"/>
          </a:xfrm>
          <a:prstGeom prst="rect">
            <a:avLst/>
          </a:prstGeom>
          <a:solidFill>
            <a:srgbClr val="C3BA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48640" y="6035040"/>
            <a:ext cx="10972800" cy="320040"/>
          </a:xfrm>
          <a:prstGeom prst="rect">
            <a:avLst/>
          </a:prstGeom>
          <a:noFill/>
        </p:spPr>
        <p:txBody>
          <a:bodyPr wrap="square" tIns="0" bIns="0" lIns="0" rIns="0">
            <a:noAutofit/>
          </a:bodyPr>
          <a:lstStyle/>
          <a:p>
            <a:pPr>
              <a:lnSpc>
                <a:spcPct val="108000"/>
              </a:lnSpc>
              <a:spcBef>
                <a:spcPts val="0"/>
              </a:spcBef>
              <a:spcAft>
                <a:spcPts val="0"/>
              </a:spcAft>
              <a:defRPr sz="1100">
                <a:solidFill>
                  <a:srgbClr val="645E57"/>
                </a:solidFill>
                <a:latin typeface="DejaVu Sans"/>
              </a:defRPr>
            </a:pPr>
            <a:r>
              <a:t>Date de publication indiquée ; période des campagnes précisée en page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IOMA Beauty Radar — FR</dc:title>
  <dc:subject/>
  <dc:creator>IOMA Paris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