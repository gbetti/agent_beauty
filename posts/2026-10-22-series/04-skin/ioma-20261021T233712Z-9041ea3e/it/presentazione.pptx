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"reviewed_at": "2026-10-21T23:33:26.399058+00:00",</a:t>
            </a:r>
          </a:p>
          <a:p>
            <a:r>
              <a:t>  "product_key": "creme-sublime-revitalisante",</a:t>
            </a:r>
          </a:p>
          <a:p>
            <a:r>
              <a:t>  "sources": [</a:t>
            </a:r>
          </a:p>
          <a:p>
            <a:r>
              <a:t>    {</a:t>
            </a:r>
          </a:p>
          <a:p>
            <a:r>
              <a:t>      "id": "arpy-eye",</a:t>
            </a:r>
          </a:p>
          <a:p>
            <a:r>
              <a:t>      "title": "peptide eye cream: what’s in it, and how and when to use it",</a:t>
            </a:r>
          </a:p>
          <a:p>
            <a:r>
              <a:t>      "url": "https://arpyskin.com/blogs/guides/peptide-eye-cream",</a:t>
            </a:r>
          </a:p>
          <a:p>
            <a:r>
              <a:t>      "publisher": "arpy",</a:t>
            </a:r>
          </a:p>
          <a:p>
            <a:r>
              <a:t>      "published_at": "2026-10-15T00:00:00+00:00",</a:t>
            </a:r>
          </a:p>
          <a:p>
            <a:r>
              <a:t>      "kind": "brand_promotion",</a:t>
            </a:r>
          </a:p>
          <a:p>
            <a:r>
              <a:t>      "brand": "arpy",</a:t>
            </a:r>
          </a:p>
          <a:p>
            <a:r>
              <a:t>      "topics": [</a:t>
            </a:r>
          </a:p>
          <a:p>
            <a:r>
              <a:t>        "peptides",</a:t>
            </a:r>
          </a:p>
          <a:p>
            <a:r>
              <a:t>        "vitamin-e",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"October 15, 2026",</a:t>
            </a:r>
          </a:p>
          <a:p>
            <a:r>
              <a:t>        "peptides",</a:t>
            </a:r>
          </a:p>
          <a:p>
            <a:r>
              <a:t>        "tocopherol: vitamin E",</a:t>
            </a:r>
          </a:p>
          <a:p>
            <a:r>
              <a:t>        "glycerin is a humectant"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"arpy : contenu de marque du 15 octobre sur les peptides du contour des yeux. Ce n’est pas une annonce payante vérifiée.",</a:t>
            </a:r>
          </a:p>
          <a:p>
            <a:r>
              <a:t>        "it": "arpy: contenuto del marchio del 15 ottobre sui peptidi nel contorno occhi. Non è una campagna paid verificata."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"Peptides &amp; contour des yeux : guide de marque",</a:t>
            </a:r>
          </a:p>
          <a:p>
            <a:r>
              <a:t>        "it": "Peptidi e contorno occhi: guida del marchio"</a:t>
            </a:r>
          </a:p>
          <a:p>
            <a:r>
              <a:t>      },</a:t>
            </a:r>
          </a:p>
          <a:p>
            <a:r>
              <a:t>      "in_week": true,</a:t>
            </a:r>
          </a:p>
          <a:p>
            <a:r>
              <a:t>      "checked_at": "2026-10-21T23:37:12.005822+00:00",</a:t>
            </a:r>
          </a:p>
          <a:p>
            <a:r>
              <a:t>      "content_sha256": "5635edc23b241274ea06f3cb61641693d863ef0d1b94408444ad281883d12d7b"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"cerave",</a:t>
            </a:r>
          </a:p>
          <a:p>
            <a:r>
              <a:t>      "title": "CeraVe Hong Kong campaign",</a:t>
            </a:r>
          </a:p>
          <a:p>
            <a:r>
              <a:t>      "url": "https://www.marketing-interactive.com/cerave-hk-ditches-the-hard-sell-to-win-over-genz",</a:t>
            </a:r>
          </a:p>
          <a:p>
            <a:r>
              <a:t>      "publisher": "Marketing-Interactive",</a:t>
            </a:r>
          </a:p>
          <a:p>
            <a:r>
              <a:t>      "published_at": "2026-09-24T00:00:00+00:00",</a:t>
            </a:r>
          </a:p>
          <a:p>
            <a:r>
              <a:t>      "kind": "advertising_campaign",</a:t>
            </a:r>
          </a:p>
          <a:p>
            <a:r>
              <a:t>      "brand": "CeraVe",</a:t>
            </a:r>
          </a:p>
          <a:p>
            <a:r>
              <a:t>      "event_start": "2026-09-01",</a:t>
            </a:r>
          </a:p>
          <a:p>
            <a:r>
              <a:t>      "event_end": "2026-11-30",</a:t>
            </a:r>
          </a:p>
          <a:p>
            <a:r>
              <a:t>      "topics": [</a:t>
            </a:r>
          </a:p>
          <a:p>
            <a:r>
              <a:t>        "social_creative"</a:t>
            </a:r>
          </a:p>
          <a:p>
            <a:r>
              <a:t>      ],</a:t>
            </a:r>
          </a:p>
          <a:p>
            <a:r>
              <a:t>      "evidence_terms": [</a:t>
            </a:r>
          </a:p>
          <a:p>
            <a:r>
              <a:t>        "September to November 2026",</a:t>
            </a:r>
          </a:p>
          <a:p>
            <a:r>
              <a:t>        "six-second Reels"</a:t>
            </a:r>
          </a:p>
          <a:p>
            <a:r>
              <a:t>      ],</a:t>
            </a:r>
          </a:p>
          <a:p>
            <a:r>
              <a:t>      "summary": {</a:t>
            </a:r>
          </a:p>
          <a:p>
            <a:r>
              <a:t>        "fr": "CeraVe, Hong Kong : campagne prévue sept.–nov. 2026, dont Reels de 6 s. Article du 24 septembre.",</a:t>
            </a:r>
          </a:p>
          <a:p>
            <a:r>
              <a:t>        "it": "CeraVe, Hong Kong: campagna prevista sett.–nov. 2026, con Reel da 6 s. Articolo del 24 settembre."</a:t>
            </a:r>
          </a:p>
          <a:p>
            <a:r>
              <a:t>      },</a:t>
            </a:r>
          </a:p>
          <a:p>
            <a:r>
              <a:t>      "display_title": {</a:t>
            </a:r>
          </a:p>
          <a:p>
            <a:r>
              <a:t>        "fr": "CeraVe Hong Kong : la campagne « anti-publicité »",</a:t>
            </a:r>
          </a:p>
          <a:p>
            <a:r>
              <a:t>        "it": "CeraVe Hong Kong: la campagna «anti-pubblicità»"</a:t>
            </a:r>
          </a:p>
          <a:p>
            <a:r>
              <a:t>      },</a:t>
            </a:r>
          </a:p>
          <a:p>
            <a:r>
              <a:t>      "in_week": false,</a:t>
            </a:r>
          </a:p>
          <a:p>
            <a:r>
              <a:t>      "checked_at": "2026-10-21T23:37:12.005822+00:00",</a:t>
            </a:r>
          </a:p>
          <a:p>
            <a:r>
              <a:t>      "content_sha256": "f36f609e57c2a10bb6e40e7893d923e80dabf309ece01798c2e3562c7ca8f0ef"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"signal_title": {</a:t>
            </a:r>
          </a:p>
          <a:p>
            <a:r>
              <a:t>    "fr": "Le soin ciblé",</a:t>
            </a:r>
          </a:p>
          <a:p>
            <a:r>
              <a:t>    "it": "La cura mirata"</a:t>
            </a:r>
          </a:p>
          <a:p>
            <a:r>
              <a:t>  },</a:t>
            </a:r>
          </a:p>
          <a:p>
            <a:r>
              <a:t>  "insight": {</a:t>
            </a:r>
          </a:p>
          <a:p>
            <a:r>
              <a:t>    "fr": "Un rituel à explorer par le bénéfice, le rythme visuel et le ressenti client.",</a:t>
            </a:r>
          </a:p>
          <a:p>
            <a:r>
              <a:t>    "it": "Un rituale da esplorare attraverso beneficio, ritmo visivo e opinione del cliente."</a:t>
            </a:r>
          </a:p>
          <a:p>
            <a:r>
              <a:t>  },</a:t>
            </a:r>
          </a:p>
          <a:p>
            <a:r>
              <a:t>  "strategy": {</a:t>
            </a:r>
          </a:p>
          <a:p>
            <a:r>
              <a:t>    "fr": {</a:t>
            </a:r>
          </a:p>
          <a:p>
            <a:r>
              <a:t>      "positioning": "Crème Sublime nourrit et contribue à une peau plus ferme. Son INCI inclut RIGIN™ et glycérine. Le guide arpy aborde les peptides et la glycérine.",</a:t>
            </a:r>
          </a:p>
          <a:p>
            <a:r>
              <a:t>      "audience": "Hypothèse : personnes recherchant nutrition et fermeté.",</a:t>
            </a:r>
          </a:p>
          <a:p>
            <a:r>
              <a:t>      "activation": "Alterner claim, inspiration animée et avis client. Email avec lien du post publié.",</a:t>
            </a:r>
          </a:p>
          <a:p>
            <a:r>
              <a:t>      "measurement": "Comparer enregistrements et visites produit par format. Ne pas déduire une efficacité du soin."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"positioning": "Crème Sublime nutre e contribuisce a una pelle più soda. Il suo INCI include RIGIN™ e glicerina. La guida arpy tratta peptidi e glicerina.",</a:t>
            </a:r>
          </a:p>
          <a:p>
            <a:r>
              <a:t>      "audience": "Ipotesi: persone che cercano nutrimento e compattezza.",</a:t>
            </a:r>
          </a:p>
          <a:p>
            <a:r>
              <a:t>      "activation": "Alternare claim, ispirazione animata e recensione. Email con link al post pubblicato.",</a:t>
            </a:r>
          </a:p>
          <a:p>
            <a:r>
              <a:t>      "measurement": "Confrontare salvataggi e visite prodotto per formato. Non dedurre l’efficacia del trattamento."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"google_trends": {</a:t>
            </a:r>
          </a:p>
          <a:p>
            <a:r>
              <a:t>    "category_id": 143,</a:t>
            </a:r>
          </a:p>
          <a:p>
            <a:r>
              <a:t>    "markets": {</a:t>
            </a:r>
          </a:p>
          <a:p>
            <a:r>
              <a:t>      "fr": {</a:t>
            </a:r>
          </a:p>
          <a:p>
            <a:r>
              <a:t>        "geo": "FR",</a:t>
            </a:r>
          </a:p>
          <a:p>
            <a:r>
              <a:t>        "top": [</a:t>
            </a:r>
          </a:p>
          <a:p>
            <a:r>
              <a:t>          "crème",</a:t>
            </a:r>
          </a:p>
          <a:p>
            <a:r>
              <a:t>          "yves rocher",</a:t>
            </a:r>
          </a:p>
          <a:p>
            <a:r>
              <a:t>          "vichy",</a:t>
            </a:r>
          </a:p>
          <a:p>
            <a:r>
              <a:t>          "guerlain",</a:t>
            </a:r>
          </a:p>
          <a:p>
            <a:r>
              <a:t>          "chanel",</a:t>
            </a:r>
          </a:p>
          <a:p>
            <a:r>
              <a:t>          "caudalie",</a:t>
            </a:r>
          </a:p>
          <a:p>
            <a:r>
              <a:t>          "lancome",</a:t>
            </a:r>
          </a:p>
          <a:p>
            <a:r>
              <a:t>          "la roche posay",</a:t>
            </a:r>
          </a:p>
          <a:p>
            <a:r>
              <a:t>          "avene"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"musc ravageur",</a:t>
            </a:r>
          </a:p>
          <a:p>
            <a:r>
              <a:t>          "vernis rouge",</a:t>
            </a:r>
          </a:p>
          <a:p>
            <a:r>
              <a:t>          "action l'oreal"</a:t>
            </a:r>
          </a:p>
          <a:p>
            <a:r>
              <a:t>        ],</a:t>
            </a:r>
          </a:p>
          <a:p>
            <a:r>
              <a:t>        "interpretation": "Sélection de marques beauté et soins. Les hausses ne prouvent pas un intérêt accru pour le contour des yeux IOMA."</a:t>
            </a:r>
          </a:p>
          <a:p>
            <a:r>
              <a:t>      },</a:t>
            </a:r>
          </a:p>
          <a:p>
            <a:r>
              <a:t>      "it": {</a:t>
            </a:r>
          </a:p>
          <a:p>
            <a:r>
              <a:t>        "geo": "IT",</a:t>
            </a:r>
          </a:p>
          <a:p>
            <a:r>
              <a:t>        "top": [</a:t>
            </a:r>
          </a:p>
          <a:p>
            <a:r>
              <a:t>          "crema",</a:t>
            </a:r>
          </a:p>
          <a:p>
            <a:r>
              <a:t>          "crema viso",</a:t>
            </a:r>
          </a:p>
          <a:p>
            <a:r>
              <a:t>          "crema idratante",</a:t>
            </a:r>
          </a:p>
          <a:p>
            <a:r>
              <a:t>          "roche posay",</a:t>
            </a:r>
          </a:p>
          <a:p>
            <a:r>
              <a:t>          "contorno occhi",</a:t>
            </a:r>
          </a:p>
          <a:p>
            <a:r>
              <a:t>          "bionike",</a:t>
            </a:r>
          </a:p>
          <a:p>
            <a:r>
              <a:t>          "cerave",</a:t>
            </a:r>
          </a:p>
          <a:p>
            <a:r>
              <a:t>          "la roche posay",</a:t>
            </a:r>
          </a:p>
          <a:p>
            <a:r>
              <a:t>          "skincare",</a:t>
            </a:r>
          </a:p>
          <a:p>
            <a:r>
              <a:t>          "acne",</a:t>
            </a:r>
          </a:p>
          <a:p>
            <a:r>
              <a:t>          "avene",</a:t>
            </a:r>
          </a:p>
          <a:p>
            <a:r>
              <a:t>          "caudalie"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"ascella",</a:t>
            </a:r>
          </a:p>
          <a:p>
            <a:r>
              <a:t>          "crema idratante viso",</a:t>
            </a:r>
          </a:p>
          <a:p>
            <a:r>
              <a:t>          "crema idratante"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il contorno occhi IOMA."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"evidence_files": {</a:t>
            </a:r>
          </a:p>
          <a:p>
            <a:r>
              <a:t>      "fr": "research/2026-10-22-series/FR-trends.json",</a:t>
            </a:r>
          </a:p>
          <a:p>
            <a:r>
              <a:t>      "it": "research/2026-10-22-series/IT-trends.json"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"google_trends_results": {</a:t>
            </a:r>
          </a:p>
          <a:p>
            <a:r>
              <a:t>    "fr":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"yves rocher",</a:t>
            </a:r>
          </a:p>
          <a:p>
            <a:r>
              <a:t>            "value": 17,</a:t>
            </a:r>
          </a:p>
          <a:p>
            <a:r>
              <a:t>            "source_rank": 7,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"crème",</a:t>
            </a:r>
          </a:p>
          <a:p>
            <a:r>
              <a:t>            "value": 15,</a:t>
            </a:r>
          </a:p>
          <a:p>
            <a:r>
              <a:t>            "source_rank": 9,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"vichy",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"guerlain",</a:t>
            </a:r>
          </a:p>
          <a:p>
            <a:r>
              <a:t>            "value": 10,</a:t>
            </a:r>
          </a:p>
          <a:p>
            <a:r>
              <a:t>            "source_rank": 12,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"chanel",</a:t>
            </a:r>
          </a:p>
          <a:p>
            <a:r>
              <a:t>            "value": 9,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"musc ravageur",</a:t>
            </a:r>
          </a:p>
          <a:p>
            <a:r>
              <a:t>            "value": 350,</a:t>
            </a:r>
          </a:p>
          <a:p>
            <a:r>
              <a:t>            "source_rank": 2,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"vernis rouge",</a:t>
            </a:r>
          </a:p>
          <a:p>
            <a:r>
              <a:t>            "value": 90,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"action l'oreal",</a:t>
            </a:r>
          </a:p>
          <a:p>
            <a:r>
              <a:t>            "value": 80,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"Sélection beauté et soins. Les hausses ne prouvent pas un intérêt accru pour Crème Sublime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"abe2e1fa0b6abbdfe43e53a10cff48c44bcbce833fc6d80b255398199af8fce9",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"FR",</a:t>
            </a:r>
          </a:p>
          <a:p>
            <a:r>
              <a:t>        "language": "fr",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"https://trends.google.com/trends/explore?cat=143&amp;date=2026-10-14+2026-10-20&amp;geo=FR&amp;hl=fr",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"FR"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"fr",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"parfum",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43,</a:t>
            </a:r>
          </a:p>
          <a:p>
            <a:r>
              <a:t>                    "formattedValue": "43",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"ongle",</a:t>
            </a:r>
          </a:p>
          <a:p>
            <a:r>
              <a:t>                    "value": 23,</a:t>
            </a:r>
          </a:p>
          <a:p>
            <a:r>
              <a:t>                    "formattedValue": "23",</a:t>
            </a:r>
          </a:p>
          <a:p>
            <a:r>
              <a:t>                    "hasData": true,</a:t>
            </a:r>
          </a:p>
          <a:p>
            <a:r>
              <a:t>                    "link": "/trends/explore?q=ongle&amp;date=2026-10-14+2026-10-20&amp;geo=FR"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"maquillage",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"/trends/explore?q=maquillage&amp;date=2026-10-14+2026-10-20&amp;geo=FR"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"parking",</a:t>
            </a:r>
          </a:p>
          <a:p>
            <a:r>
              <a:t>                    "value": 19,</a:t>
            </a:r>
          </a:p>
          <a:p>
            <a:r>
              <a:t>                    "formattedValue": "19",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"/trends/explore?q=parking&amp;date=2026-10-14+2026-10-20&amp;geo=FR"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"yves rocher",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"/trends/explore?q=yves+rocher&amp;date=2026-10-14+2026-10-20&amp;geo=FR"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"crème",</a:t>
            </a:r>
          </a:p>
          <a:p>
            <a:r>
              <a:t>                    "value": 15,</a:t>
            </a:r>
          </a:p>
          <a:p>
            <a:r>
              <a:t>                    "formattedValue": "15",</a:t>
            </a:r>
          </a:p>
          <a:p>
            <a:r>
              <a:t>                    "hasData": true,</a:t>
            </a:r>
          </a:p>
          <a:p>
            <a:r>
              <a:t>                    "link": "/trends/explore?q=cr%C3%A8me&amp;date=2026-10-14+2026-10-20&amp;geo=FR"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homme",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"/trends/explore?q=parfum+homme&amp;date=2026-10-14+2026-10-20&amp;geo=FR"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"vichy",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"/trends/explore?q=vichy&amp;date=2026-10-14+2026-10-20&amp;geo=FR"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"guerlain",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"/trends/explore?q=guerlain&amp;date=2026-10-14+2026-10-20&amp;geo=FR"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 femme",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"/trends/explore?q=parfum+femme&amp;date=2026-10-14+2026-10-20&amp;geo=FR"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"mascara",</a:t>
            </a:r>
          </a:p>
          <a:p>
            <a:r>
              <a:t>                    "value": 10,</a:t>
            </a:r>
          </a:p>
          <a:p>
            <a:r>
              <a:t>                    "formattedValue": "10",</a:t>
            </a:r>
          </a:p>
          <a:p>
            <a:r>
              <a:t>                    "hasData": true,</a:t>
            </a:r>
          </a:p>
          <a:p>
            <a:r>
              <a:t>                    "link": "/trends/explore?q=mascara&amp;date=2026-10-14+2026-10-20&amp;geo=FR"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"chanel",</a:t>
            </a:r>
          </a:p>
          <a:p>
            <a:r>
              <a:t>                    "value": 9,</a:t>
            </a:r>
          </a:p>
          <a:p>
            <a:r>
              <a:t>                    "formattedValue": "9",</a:t>
            </a:r>
          </a:p>
          <a:p>
            <a:r>
              <a:t>                    "hasData": true,</a:t>
            </a:r>
          </a:p>
          <a:p>
            <a:r>
              <a:t>                    "link": "/trends/explore?q=chanel&amp;date=2026-10-14+2026-10-20&amp;geo=FR"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 de teint",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"/trends/explore?q=fond+de+teint&amp;date=2026-10-14+2026-10-20&amp;geo=FR"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"nocibé",</a:t>
            </a:r>
          </a:p>
          <a:p>
            <a:r>
              <a:t>                    "value": 8,</a:t>
            </a:r>
          </a:p>
          <a:p>
            <a:r>
              <a:t>                    "formattedValue": "8",</a:t>
            </a:r>
          </a:p>
          <a:p>
            <a:r>
              <a:t>                    "hasData": true,</a:t>
            </a:r>
          </a:p>
          <a:p>
            <a:r>
              <a:t>                    "link": "/trends/explore?q=nocib%C3%A9&amp;date=2026-10-14+2026-10-20&amp;geo=FR"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"nyx",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"/trends/explore?q=nyx&amp;date=2026-10-14+2026-10-20&amp;geo=FR"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"dermatologue",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"/trends/explore?q=dermatologue&amp;date=2026-10-14+2026-10-20&amp;geo=FR"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"lip",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"/trends/explore?q=lip&amp;date=2026-10-14+2026-10-20&amp;geo=FR"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"caudalie",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"/trends/explore?q=caudalie&amp;date=2026-10-14+2026-10-20&amp;geo=FR"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"marionnaud",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"/trends/explore?q=marionnaud&amp;date=2026-10-14+2026-10-20&amp;geo=FR"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"parfumerie",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"/trends/explore?q=parfumerie&amp;date=2026-10-14+2026-10-20&amp;geo=FR"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"lancome",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"/trends/explore?q=lancome&amp;date=2026-10-14+2026-10-20&amp;geo=FR"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"patou",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"/trends/explore?q=patou&amp;date=2026-10-14+2026-10-20&amp;geo=FR"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"musc ravageur",</a:t>
            </a:r>
          </a:p>
          <a:p>
            <a:r>
              <a:t>                    "value": 350,</a:t>
            </a:r>
          </a:p>
          <a:p>
            <a:r>
              <a:t>                    "formattedValue": "+350 %",</a:t>
            </a:r>
          </a:p>
          <a:p>
            <a:r>
              <a:t>                    "link": "/trends/explore?q=musc+ravageur&amp;date=2026-10-14+2026-10-20&amp;geo=FR"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"clara vello",</a:t>
            </a:r>
          </a:p>
          <a:p>
            <a:r>
              <a:t>                    "value": 250,</a:t>
            </a:r>
          </a:p>
          <a:p>
            <a:r>
              <a:t>                    "formattedValue": "+250 %",</a:t>
            </a:r>
          </a:p>
          <a:p>
            <a:r>
              <a:t>                    "link": "/trends/explore?q=clara+vello&amp;date=2026-10-14+2026-10-20&amp;geo=FR"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"vernis rouge",</a:t>
            </a:r>
          </a:p>
          <a:p>
            <a:r>
              <a:t>                    "value": 90,</a:t>
            </a:r>
          </a:p>
          <a:p>
            <a:r>
              <a:t>                    "formattedValue": "+90 %",</a:t>
            </a:r>
          </a:p>
          <a:p>
            <a:r>
              <a:t>                    "link": "/trends/explore?q=vernis+rouge&amp;date=2026-10-14+2026-10-20&amp;geo=FR"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"action l'oreal",</a:t>
            </a:r>
          </a:p>
          <a:p>
            <a:r>
              <a:t>                    "value": 80,</a:t>
            </a:r>
          </a:p>
          <a:p>
            <a:r>
              <a:t>                    "formattedValue": "+80 %",</a:t>
            </a:r>
          </a:p>
          <a:p>
            <a:r>
              <a:t>                    "link": "/trends/explore?q=action+l'oreal&amp;date=2026-10-14+2026-10-20&amp;geo=FR"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"gloss victoria secret",</a:t>
            </a:r>
          </a:p>
          <a:p>
            <a:r>
              <a:t>                    "value": 70,</a:t>
            </a:r>
          </a:p>
          <a:p>
            <a:r>
              <a:t>                    "formattedValue": "+70 %",</a:t>
            </a:r>
          </a:p>
          <a:p>
            <a:r>
              <a:t>                    "link": "/trends/explore?q=gloss+victoria+secret&amp;date=2026-10-14+2026-10-20&amp;geo=FR"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"poudre huda beauty",</a:t>
            </a:r>
          </a:p>
          <a:p>
            <a:r>
              <a:t>                    "value": 40,</a:t>
            </a:r>
          </a:p>
          <a:p>
            <a:r>
              <a:t>                    "formattedValue": "+40 %",</a:t>
            </a:r>
          </a:p>
          <a:p>
            <a:r>
              <a:t>                    "link": "/trends/explore?q=poudre+huda+beauty&amp;date=2026-10-14+2026-10-20&amp;geo=FR"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"it": {</a:t>
            </a:r>
          </a:p>
          <a:p>
            <a:r>
              <a:t>      "data":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"top": [</a:t>
            </a:r>
          </a:p>
          <a:p>
            <a:r>
              <a:t>          {</a:t>
            </a:r>
          </a:p>
          <a:p>
            <a:r>
              <a:t>            "query": "crema",</a:t>
            </a:r>
          </a:p>
          <a:p>
            <a:r>
              <a:t>            "value": 100,</a:t>
            </a:r>
          </a:p>
          <a:p>
            <a:r>
              <a:t>            "source_rank": 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viso",</a:t>
            </a:r>
          </a:p>
          <a:p>
            <a:r>
              <a:t>            "value": 22,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12,</a:t>
            </a:r>
          </a:p>
          <a:p>
            <a:r>
              <a:t>            "source_rank": 11,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"cerave",</a:t>
            </a:r>
          </a:p>
          <a:p>
            <a:r>
              <a:t>            "value": 7,</a:t>
            </a:r>
          </a:p>
          <a:p>
            <a:r>
              <a:t>            "source_rank": 15,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"bionike",</a:t>
            </a:r>
          </a:p>
          <a:p>
            <a:r>
              <a:t>            "value": 7,</a:t>
            </a:r>
          </a:p>
          <a:p>
            <a:r>
              <a:t>            "source_rank": 16,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"rising": [</a:t>
            </a:r>
          </a:p>
          <a:p>
            <a:r>
              <a:t>          {</a:t>
            </a:r>
          </a:p>
          <a:p>
            <a:r>
              <a:t>            "query": "ascella",</a:t>
            </a:r>
          </a:p>
          <a:p>
            <a:r>
              <a:t>            "value": 180,</a:t>
            </a:r>
          </a:p>
          <a:p>
            <a:r>
              <a:t>            "source_rank": 4,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 viso",</a:t>
            </a:r>
          </a:p>
          <a:p>
            <a:r>
              <a:t>            "value": 160,</a:t>
            </a:r>
          </a:p>
          <a:p>
            <a:r>
              <a:t>            "source_rank": 5,</a:t>
            </a:r>
          </a:p>
          <a:p>
            <a:r>
              <a:t>            "breakout": false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"query": "crema idratante",</a:t>
            </a:r>
          </a:p>
          <a:p>
            <a:r>
              <a:t>            "value": 110,</a:t>
            </a:r>
          </a:p>
          <a:p>
            <a:r>
              <a:t>            "source_rank": 6,</a:t>
            </a:r>
          </a:p>
          <a:p>
            <a:r>
              <a:t>            "breakout": false</a:t>
            </a:r>
          </a:p>
          <a:p>
            <a:r>
              <a:t>          }</a:t>
            </a:r>
          </a:p>
          <a:p>
            <a:r>
              <a:t>        ],</a:t>
            </a:r>
          </a:p>
          <a:p>
            <a:r>
              <a:t>        "interpretation": "Selezione skincare e cura corpo: le crescite non misurano un aumento dell’interesse per Crème Sublime IOMA.",</a:t>
            </a:r>
          </a:p>
          <a:p>
            <a:r>
              <a:t>        "comparison_start": "2026-10-07",</a:t>
            </a:r>
          </a:p>
          <a:p>
            <a:r>
              <a:t>        "comparison_end": "2026-10-13",</a:t>
            </a:r>
          </a:p>
          <a:p>
            <a:r>
              <a:t>        "method_url": "https://support.google.com/trends/answer/4355000",</a:t>
            </a:r>
          </a:p>
          <a:p>
            <a:r>
              <a:t>        "response_sha256": "6c535b598784c69a107afb28750aeb9aa67f5b2bbc16c8ed66290786c9961453",</a:t>
            </a:r>
          </a:p>
          <a:p>
            <a:r>
              <a:t>        "selection_note": "Editorial relevance filter; original order, spelling and scores retained. Not exhaustive beauty search volumes."</a:t>
            </a:r>
          </a:p>
          <a:p>
            <a:r>
              <a:t>      },</a:t>
            </a:r>
          </a:p>
          <a:p>
            <a:r>
              <a:t>      "evidence": {</a:t>
            </a:r>
          </a:p>
          <a:p>
            <a:r>
              <a:t>        "retrieved_at": "2026-10-21T23:26:46.230414+00:00",</a:t>
            </a:r>
          </a:p>
          <a:p>
            <a:r>
              <a:t>        "geo": "IT",</a:t>
            </a:r>
          </a:p>
          <a:p>
            <a:r>
              <a:t>        "language": "it",</a:t>
            </a:r>
          </a:p>
          <a:p>
            <a:r>
              <a:t>        "period_start": "2026-10-14",</a:t>
            </a:r>
          </a:p>
          <a:p>
            <a:r>
              <a:t>        "period_end": "2026-10-20",</a:t>
            </a:r>
          </a:p>
          <a:p>
            <a:r>
              <a:t>        "category_id": 143,</a:t>
            </a:r>
          </a:p>
          <a:p>
            <a:r>
              <a:t>        "category_name": "Face &amp; Body Care",</a:t>
            </a:r>
          </a:p>
          <a:p>
            <a:r>
              <a:t>        "search_property": "web",</a:t>
            </a:r>
          </a:p>
          <a:p>
            <a:r>
              <a:t>        "timezone": "UTC",</a:t>
            </a:r>
          </a:p>
          <a:p>
            <a:r>
              <a:t>        "seed_keyword": "",</a:t>
            </a:r>
          </a:p>
          <a:p>
            <a:r>
              <a:t>        "source_url": "https://trends.google.com/trends/explore?cat=143&amp;date=2026-10-14+2026-10-20&amp;geo=IT&amp;hl=it",</a:t>
            </a:r>
          </a:p>
          <a:p>
            <a:r>
              <a:t>        "widget_request": {</a:t>
            </a:r>
          </a:p>
          <a:p>
            <a:r>
              <a:t>          "restriction": {</a:t>
            </a:r>
          </a:p>
          <a:p>
            <a:r>
              <a:t>            "geo": {</a:t>
            </a:r>
          </a:p>
          <a:p>
            <a:r>
              <a:t>              "country": "IT"</a:t>
            </a:r>
          </a:p>
          <a:p>
            <a:r>
              <a:t>            },</a:t>
            </a:r>
          </a:p>
          <a:p>
            <a:r>
              <a:t>            "time": "2026-10-14 2026-10-20",</a:t>
            </a:r>
          </a:p>
          <a:p>
            <a:r>
              <a:t>            "originalTimeRangeForExploreUrl": "2026-10-14 2026-10-20"</a:t>
            </a:r>
          </a:p>
          <a:p>
            <a:r>
              <a:t>          },</a:t>
            </a:r>
          </a:p>
          <a:p>
            <a:r>
              <a:t>          "keywordType": "QUERY",</a:t>
            </a:r>
          </a:p>
          <a:p>
            <a:r>
              <a:t>          "metric": [</a:t>
            </a:r>
          </a:p>
          <a:p>
            <a:r>
              <a:t>            "TOP",</a:t>
            </a:r>
          </a:p>
          <a:p>
            <a:r>
              <a:t>            "RISING"</a:t>
            </a:r>
          </a:p>
          <a:p>
            <a:r>
              <a:t>          ],</a:t>
            </a:r>
          </a:p>
          <a:p>
            <a:r>
              <a:t>          "trendinessSettings": {</a:t>
            </a:r>
          </a:p>
          <a:p>
            <a:r>
              <a:t>            "compareTime": "2026-10-07 2026-10-13"</a:t>
            </a:r>
          </a:p>
          <a:p>
            <a:r>
              <a:t>          },</a:t>
            </a:r>
          </a:p>
          <a:p>
            <a:r>
              <a:t>          "requestOptions": {</a:t>
            </a:r>
          </a:p>
          <a:p>
            <a:r>
              <a:t>            "property": "",</a:t>
            </a:r>
          </a:p>
          <a:p>
            <a:r>
              <a:t>            "backend": "IZG",</a:t>
            </a:r>
          </a:p>
          <a:p>
            <a:r>
              <a:t>            "category": 143</a:t>
            </a:r>
          </a:p>
          <a:p>
            <a:r>
              <a:t>          },</a:t>
            </a:r>
          </a:p>
          <a:p>
            <a:r>
              <a:t>          "language": "it",</a:t>
            </a:r>
          </a:p>
          <a:p>
            <a:r>
              <a:t>          "userCountryCode": "US",</a:t>
            </a:r>
          </a:p>
          <a:p>
            <a:r>
              <a:t>          "userConfig": {</a:t>
            </a:r>
          </a:p>
          <a:p>
            <a:r>
              <a:t>            "userType": "USER_TYPE_SCRAPER"</a:t>
            </a:r>
          </a:p>
          <a:p>
            <a:r>
              <a:t>          }</a:t>
            </a:r>
          </a:p>
          <a:p>
            <a:r>
              <a:t>        },</a:t>
            </a:r>
          </a:p>
          <a:p>
            <a:r>
              <a:t>        "response": {</a:t>
            </a:r>
          </a:p>
          <a:p>
            <a:r>
              <a:t>          "default": {</a:t>
            </a:r>
          </a:p>
          <a:p>
            <a:r>
              <a:t>            "rankedList": [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"crema",</a:t>
            </a:r>
          </a:p>
          <a:p>
            <a:r>
              <a:t>                    "value": 100,</a:t>
            </a:r>
          </a:p>
          <a:p>
            <a:r>
              <a:t>                    "formattedValue": "100",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"profumo",</a:t>
            </a:r>
          </a:p>
          <a:p>
            <a:r>
              <a:t>                    "value": 94,</a:t>
            </a:r>
          </a:p>
          <a:p>
            <a:r>
              <a:t>                    "formattedValue": "94",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"unghie",</a:t>
            </a:r>
          </a:p>
          <a:p>
            <a:r>
              <a:t>                    "value": 53,</a:t>
            </a:r>
          </a:p>
          <a:p>
            <a:r>
              <a:t>                    "formattedValue": "53",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"profumi",</a:t>
            </a:r>
          </a:p>
          <a:p>
            <a:r>
              <a:t>                    "value": 36,</a:t>
            </a:r>
          </a:p>
          <a:p>
            <a:r>
              <a:t>                    "formattedValue": "36",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"/trends/explore?q=profumi&amp;date=2026-10-14+2026-10-20&amp;geo=IT"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"sephora",</a:t>
            </a:r>
          </a:p>
          <a:p>
            <a:r>
              <a:t>                    "value": 24,</a:t>
            </a:r>
          </a:p>
          <a:p>
            <a:r>
              <a:t>                    "formattedValue": "24",</a:t>
            </a:r>
          </a:p>
          <a:p>
            <a:r>
              <a:t>                    "hasData": true,</a:t>
            </a:r>
          </a:p>
          <a:p>
            <a:r>
              <a:t>                    "link": "/trends/explore?q=sephora&amp;date=2026-10-14+2026-10-20&amp;geo=IT"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viso",</a:t>
            </a:r>
          </a:p>
          <a:p>
            <a:r>
              <a:t>                    "value": 22,</a:t>
            </a:r>
          </a:p>
          <a:p>
            <a:r>
              <a:t>                    "formattedValue": "22",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"fondotinta",</a:t>
            </a:r>
          </a:p>
          <a:p>
            <a:r>
              <a:t>                    "value": 17,</a:t>
            </a:r>
          </a:p>
          <a:p>
            <a:r>
              <a:t>                    "formattedValue": "17",</a:t>
            </a:r>
          </a:p>
          <a:p>
            <a:r>
              <a:t>                    "hasData": true,</a:t>
            </a:r>
          </a:p>
          <a:p>
            <a:r>
              <a:t>                    "link": "/trends/explore?q=fondotinta&amp;date=2026-10-14+2026-10-20&amp;geo=IT"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"amazon",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"/trends/explore?q=amazon&amp;date=2026-10-14+2026-10-20&amp;geo=IT"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uomo",</a:t>
            </a:r>
          </a:p>
          <a:p>
            <a:r>
              <a:t>                    "value": 13,</a:t>
            </a:r>
          </a:p>
          <a:p>
            <a:r>
              <a:t>                    "formattedValue": "13",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"/trends/explore?q=profumo+uomo&amp;date=2026-10-14+2026-10-20&amp;geo=IT"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"dior",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"/trends/explore?q=dior&amp;date=2026-10-14+2026-10-20&amp;geo=IT"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"profumo donna",</a:t>
            </a:r>
          </a:p>
          <a:p>
            <a:r>
              <a:t>                    "value": 12,</a:t>
            </a:r>
          </a:p>
          <a:p>
            <a:r>
              <a:t>                    "formattedValue": "12",</a:t>
            </a:r>
          </a:p>
          <a:p>
            <a:r>
              <a:t>                    "hasData": true,</a:t>
            </a:r>
          </a:p>
          <a:p>
            <a:r>
              <a:t>                    "link": "/trends/explore?q=profumo+donna&amp;date=2026-10-14+2026-10-20&amp;geo=IT"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"braun",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"/trends/explore?q=braun&amp;date=2026-10-14+2026-10-20&amp;geo=IT"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"unghia",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"/trends/explore?q=unghia&amp;date=2026-10-14+2026-10-20&amp;geo=IT"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"cerave",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"/trends/explore?q=cerave&amp;date=2026-10-14+2026-10-20&amp;geo=IT"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"bionike",</a:t>
            </a:r>
          </a:p>
          <a:p>
            <a:r>
              <a:t>                    "value": 7,</a:t>
            </a:r>
          </a:p>
          <a:p>
            <a:r>
              <a:t>                    "formattedValue": "7",</a:t>
            </a:r>
          </a:p>
          <a:p>
            <a:r>
              <a:t>                    "hasData": true,</a:t>
            </a:r>
          </a:p>
          <a:p>
            <a:r>
              <a:t>                    "link": "/trends/explore?q=bionike&amp;date=2026-10-14+2026-10-20&amp;geo=IT"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"la roche posay",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"/trends/explore?q=la+roche+posay&amp;date=2026-10-14+2026-10-20&amp;geo=IT"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corpo",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"/trends/explore?q=crema+corpo&amp;date=2026-10-14+2026-10-20&amp;geo=IT"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"blush",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"/trends/explore?q=blush&amp;date=2026-10-14+2026-10-20&amp;geo=IT"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"kiko",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"/trends/explore?q=kiko&amp;date=2026-10-14+2026-10-20&amp;geo=IT"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"fragrantica",</a:t>
            </a:r>
          </a:p>
          <a:p>
            <a:r>
              <a:t>                    "value": 6,</a:t>
            </a:r>
          </a:p>
          <a:p>
            <a:r>
              <a:t>                    "formattedValue": "6",</a:t>
            </a:r>
          </a:p>
          <a:p>
            <a:r>
              <a:t>                    "hasData": true,</a:t>
            </a:r>
          </a:p>
          <a:p>
            <a:r>
              <a:t>                    "link": "/trends/explore?q=fragrantica&amp;date=2026-10-14+2026-10-20&amp;geo=IT"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"yodeyma",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"/trends/explore?q=yodeyma&amp;date=2026-10-14+2026-10-20&amp;geo=IT"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"meteo",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"/trends/explore?q=meteo&amp;date=2026-10-14+2026-10-20&amp;geo=IT"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"avene",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"/trends/explore?q=avene&amp;date=2026-10-14+2026-10-20&amp;geo=IT"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"maybelline",</a:t>
            </a:r>
          </a:p>
          <a:p>
            <a:r>
              <a:t>                    "value": 5,</a:t>
            </a:r>
          </a:p>
          <a:p>
            <a:r>
              <a:t>                    "formattedValue": "5",</a:t>
            </a:r>
          </a:p>
          <a:p>
            <a:r>
              <a:t>                    "hasData": true,</a:t>
            </a:r>
          </a:p>
          <a:p>
            <a:r>
              <a:t>                    "link": "/trends/explore?q=maybelline&amp;date=2026-10-14+2026-10-20&amp;geo=IT"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"rankedKeyword": [</a:t>
            </a:r>
          </a:p>
          <a:p>
            <a:r>
              <a:t>                  {</a:t>
            </a:r>
          </a:p>
          <a:p>
            <a:r>
              <a:t>                    "query": "clenia",</a:t>
            </a:r>
          </a:p>
          <a:p>
            <a:r>
              <a:t>                    "value": 5050,</a:t>
            </a:r>
          </a:p>
          <a:p>
            <a:r>
              <a:t>                    "formattedValue": "Impennata",</a:t>
            </a:r>
          </a:p>
          <a:p>
            <a:r>
              <a:t>                    "link": "/trends/explore?q=clenia&amp;date=2026-10-14+2026-10-20&amp;geo=IT"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"sally rooney",</a:t>
            </a:r>
          </a:p>
          <a:p>
            <a:r>
              <a:t>                    "value": 1950,</a:t>
            </a:r>
          </a:p>
          <a:p>
            <a:r>
              <a:t>                    "formattedValue": "+1.950%",</a:t>
            </a:r>
          </a:p>
          <a:p>
            <a:r>
              <a:t>                    "link": "/trends/explore?q=sally+rooney&amp;date=2026-10-14+2026-10-20&amp;geo=IT"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"leonardo maria del vecchio",</a:t>
            </a:r>
          </a:p>
          <a:p>
            <a:r>
              <a:t>                    "value": 750,</a:t>
            </a:r>
          </a:p>
          <a:p>
            <a:r>
              <a:t>                    "formattedValue": "+750%",</a:t>
            </a:r>
          </a:p>
          <a:p>
            <a:r>
              <a:t>                    "link": "/trends/explore?q=leonardo+maria+del+vecchio&amp;date=2026-10-14+2026-10-20&amp;geo=IT"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"ascella",</a:t>
            </a:r>
          </a:p>
          <a:p>
            <a:r>
              <a:t>                    "value": 180,</a:t>
            </a:r>
          </a:p>
          <a:p>
            <a:r>
              <a:t>                    "formattedValue": "+180%",</a:t>
            </a:r>
          </a:p>
          <a:p>
            <a:r>
              <a:t>                    "link": "/trends/explore?q=ascella&amp;date=2026-10-14+2026-10-20&amp;geo=IT"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 viso",</a:t>
            </a:r>
          </a:p>
          <a:p>
            <a:r>
              <a:t>                    "value": 160,</a:t>
            </a:r>
          </a:p>
          <a:p>
            <a:r>
              <a:t>                    "formattedValue": "+160%",</a:t>
            </a:r>
          </a:p>
          <a:p>
            <a:r>
              <a:t>                    "link": "/trends/explore?q=crema+idratante+viso&amp;date=2026-10-14+2026-10-20&amp;geo=IT"</a:t>
            </a:r>
          </a:p>
          <a:p>
            <a:r>
              <a:t>                  },</a:t>
            </a:r>
          </a:p>
          <a:p>
            <a:r>
              <a:t>                  {</a:t>
            </a:r>
          </a:p>
          <a:p>
            <a:r>
              <a:t>                    "query": "crema idratante",</a:t>
            </a:r>
          </a:p>
          <a:p>
            <a:r>
              <a:t>                    "value": 110,</a:t>
            </a:r>
          </a:p>
          <a:p>
            <a:r>
              <a:t>                    "formattedValue": "+110%",</a:t>
            </a:r>
          </a:p>
          <a:p>
            <a:r>
              <a:t>                    "link": "/trends/explore?q=crema+idratante&amp;date=2026-10-14+2026-10-20&amp;geo=IT"</a:t>
            </a:r>
          </a:p>
          <a:p>
            <a:r>
              <a:t>                  }</a:t>
            </a:r>
          </a:p>
          <a:p>
            <a:r>
              <a:t>                ]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}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"ingredients": [</a:t>
            </a:r>
          </a:p>
          <a:p>
            <a:r>
              <a:t>    {</a:t>
            </a:r>
          </a:p>
          <a:p>
            <a:r>
              <a:t>      "id": "peptides",</a:t>
            </a:r>
          </a:p>
          <a:p>
            <a:r>
              <a:t>      "label": {</a:t>
            </a:r>
          </a:p>
          <a:p>
            <a:r>
              <a:t>        "fr": "Peptide\nRIGIN™",</a:t>
            </a:r>
          </a:p>
          <a:p>
            <a:r>
              <a:t>        "it": "Peptide\nRIGIN™"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"Peptide RIGIN™",</a:t>
            </a:r>
          </a:p>
          <a:p>
            <a:r>
              <a:t>        "it": "Peptide RIGIN™"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"PALMITOYL TETRAPEPTIDE-7"</a:t>
            </a:r>
          </a:p>
          <a:p>
            <a:r>
              <a:t>      ],</a:t>
            </a:r>
          </a:p>
          <a:p>
            <a:r>
              <a:t>      "priority": 95,</a:t>
            </a:r>
          </a:p>
          <a:p>
            <a:r>
              <a:t>      "role": {</a:t>
            </a:r>
          </a:p>
          <a:p>
            <a:r>
              <a:t>        "fr": "Fermeté",</a:t>
            </a:r>
          </a:p>
          <a:p>
            <a:r>
              <a:t>        "it": "Compattezza"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"verified_at": "2026-10-21T23:37:12.005822+00:00"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"id": "glycerin",</a:t>
            </a:r>
          </a:p>
          <a:p>
            <a:r>
              <a:t>      "label":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"short": {</a:t>
            </a:r>
          </a:p>
          <a:p>
            <a:r>
              <a:t>        "fr": "Glycérine",</a:t>
            </a:r>
          </a:p>
          <a:p>
            <a:r>
              <a:t>        "it": "Glicerina"</a:t>
            </a:r>
          </a:p>
          <a:p>
            <a:r>
              <a:t>      },</a:t>
            </a:r>
          </a:p>
          <a:p>
            <a:r>
              <a:t>      "inci": [</a:t>
            </a:r>
          </a:p>
          <a:p>
            <a:r>
              <a:t>        "GLYCERIN"</a:t>
            </a:r>
          </a:p>
          <a:p>
            <a:r>
              <a:t>      ],</a:t>
            </a:r>
          </a:p>
          <a:p>
            <a:r>
              <a:t>      "priority": 60,</a:t>
            </a:r>
          </a:p>
          <a:p>
            <a:r>
              <a:t>      "role": {</a:t>
            </a:r>
          </a:p>
          <a:p>
            <a:r>
              <a:t>        "fr": "Hydratation",</a:t>
            </a:r>
          </a:p>
          <a:p>
            <a:r>
              <a:t>        "it": "Idratazione"</a:t>
            </a:r>
          </a:p>
          <a:p>
            <a:r>
              <a:t>      },</a:t>
            </a:r>
          </a:p>
          <a:p>
            <a:r>
              <a:t>      "source_ids": [</a:t>
            </a:r>
          </a:p>
          <a:p>
            <a:r>
              <a:t>        "arpy-eye"</a:t>
            </a:r>
          </a:p>
          <a:p>
            <a:r>
              <a:t>      ],</a:t>
            </a:r>
          </a:p>
          <a:p>
            <a:r>
              <a:t>      "source_url": "https://ioma-paris.com/products/creme-sublime-revitalisante",</a:t>
            </a:r>
          </a:p>
          <a:p>
            <a:r>
              <a:t>      "verified_at": "2026-10-21T23:37:12.005822+00:00"</a:t>
            </a:r>
          </a:p>
          <a:p>
            <a:r>
              <a:t>    }</a:t>
            </a:r>
          </a:p>
          <a:p>
            <a:r>
              <a:t>  ],</a:t>
            </a:r>
          </a:p>
          <a:p>
            <a:r>
              <a:t>  "caption": "Pelle secca, mista o grassa: ogni routine inizia dall’ascolto della propria pelle. Un momento per osservare desideri, abitudini e il proprio ritmo.\n\nIn immagine: Crème Sublime Revitalisante.\n\nAnimazione grafica d’ispirazione. Nessun risultato di trattamento rappresentato.\n\n#IOMAParis #RitualeDiBellezza #Skincare",</a:t>
            </a:r>
          </a:p>
          <a:p>
            <a:r>
              <a:t>  "strategy": {</a:t>
            </a:r>
          </a:p>
          <a:p>
            <a:r>
              <a:t>    "positioning": "Crème Sublime nutre e contribuisce a una pelle più soda. Il suo INCI include RIGIN™ e glicerina. La guida arpy tratta peptidi e glicerina.",</a:t>
            </a:r>
          </a:p>
          <a:p>
            <a:r>
              <a:t>    "audience": "Ipotesi: persone che cercano nutrimento e compattezza.",</a:t>
            </a:r>
          </a:p>
          <a:p>
            <a:r>
              <a:t>    "activation": "Alternare claim, ispirazione animata e recensione. Email con link al post pubblicato.",</a:t>
            </a:r>
          </a:p>
          <a:p>
            <a:r>
              <a:t>    "measurement": "Confrontare salvataggi e visite prodotto per formato. Non dedurre l’efficacia del trattamento."</a:t>
            </a:r>
          </a:p>
          <a:p>
            <a:r>
              <a:t>  },</a:t>
            </a:r>
          </a:p>
          <a:p>
            <a:r>
              <a:t>  "source": "https://ioma-paris.com/products/creme-sublime-revitalisante"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"data": {</a:t>
            </a:r>
          </a:p>
          <a:p>
            <a:r>
              <a:t>    "retrieved_at": "2026-10-21T23:26:46.230414+00:00",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"source_url": "https://trends.google.com/trends/explore?cat=143&amp;date=2026-10-14+2026-10-20&amp;geo=IT&amp;hl=it",</a:t>
            </a:r>
          </a:p>
          <a:p>
            <a:r>
              <a:t>    "top": [</a:t>
            </a:r>
          </a:p>
          <a:p>
            <a:r>
              <a:t>      {</a:t>
            </a:r>
          </a:p>
          <a:p>
            <a:r>
              <a:t>        "query": "crema",</a:t>
            </a:r>
          </a:p>
          <a:p>
            <a:r>
              <a:t>        "value": 100,</a:t>
            </a:r>
          </a:p>
          <a:p>
            <a:r>
              <a:t>        "source_rank": 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viso",</a:t>
            </a:r>
          </a:p>
          <a:p>
            <a:r>
              <a:t>        "value": 22,</a:t>
            </a:r>
          </a:p>
          <a:p>
            <a:r>
              <a:t>        "source_rank": 6,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idratante",</a:t>
            </a:r>
          </a:p>
          <a:p>
            <a:r>
              <a:t>        "value": 12,</a:t>
            </a:r>
          </a:p>
          <a:p>
            <a:r>
              <a:t>        "source_rank": 11,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"cerave",</a:t>
            </a:r>
          </a:p>
          <a:p>
            <a:r>
              <a:t>        "value": 7,</a:t>
            </a:r>
          </a:p>
          <a:p>
            <a:r>
              <a:t>        "source_rank": 15,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"bionike",</a:t>
            </a:r>
          </a:p>
          <a:p>
            <a:r>
              <a:t>        "value": 7,</a:t>
            </a:r>
          </a:p>
          <a:p>
            <a:r>
              <a:t>        "source_rank": 16,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"rising": [</a:t>
            </a:r>
          </a:p>
          <a:p>
            <a:r>
              <a:t>      {</a:t>
            </a:r>
          </a:p>
          <a:p>
            <a:r>
              <a:t>        "query": "ascella",</a:t>
            </a:r>
          </a:p>
          <a:p>
            <a:r>
              <a:t>        "value": 180,</a:t>
            </a:r>
          </a:p>
          <a:p>
            <a:r>
              <a:t>        "source_rank": 4,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 viso",</a:t>
            </a:r>
          </a:p>
          <a:p>
            <a:r>
              <a:t>        "value": 160,</a:t>
            </a:r>
          </a:p>
          <a:p>
            <a:r>
              <a:t>        "source_rank": 5,</a:t>
            </a:r>
          </a:p>
          <a:p>
            <a:r>
              <a:t>        "breakout": false</a:t>
            </a:r>
          </a:p>
          <a:p>
            <a:r>
              <a:t>      },</a:t>
            </a:r>
          </a:p>
          <a:p>
            <a:r>
              <a:t>      {</a:t>
            </a:r>
          </a:p>
          <a:p>
            <a:r>
              <a:t>        "query": "crema idratante",</a:t>
            </a:r>
          </a:p>
          <a:p>
            <a:r>
              <a:t>        "value": 110,</a:t>
            </a:r>
          </a:p>
          <a:p>
            <a:r>
              <a:t>        "source_rank": 6,</a:t>
            </a:r>
          </a:p>
          <a:p>
            <a:r>
              <a:t>        "breakout": false</a:t>
            </a:r>
          </a:p>
          <a:p>
            <a:r>
              <a:t>      }</a:t>
            </a:r>
          </a:p>
          <a:p>
            <a:r>
              <a:t>    ],</a:t>
            </a:r>
          </a:p>
          <a:p>
            <a:r>
              <a:t>    "interpretation": "Selezione skincare e cura corpo: le crescite non misurano un aumento dell’interesse per Crème Sublime IOMA.",</a:t>
            </a:r>
          </a:p>
          <a:p>
            <a:r>
              <a:t>    "comparison_start": "2026-10-07",</a:t>
            </a:r>
          </a:p>
          <a:p>
            <a:r>
              <a:t>    "comparison_end": "2026-10-13",</a:t>
            </a:r>
          </a:p>
          <a:p>
            <a:r>
              <a:t>    "method_url": "https://support.google.com/trends/answer/4355000",</a:t>
            </a:r>
          </a:p>
          <a:p>
            <a:r>
              <a:t>    "response_sha256": "6c535b598784c69a107afb28750aeb9aa67f5b2bbc16c8ed66290786c9961453",</a:t>
            </a:r>
          </a:p>
          <a:p>
            <a:r>
              <a:t>    "selection_note": "Editorial relevance filter; original order, spelling and scores retained. Not exhaustive beauty search volumes."</a:t>
            </a:r>
          </a:p>
          <a:p>
            <a:r>
              <a:t>  },</a:t>
            </a:r>
          </a:p>
          <a:p>
            <a:r>
              <a:t>  "evidence": {</a:t>
            </a:r>
          </a:p>
          <a:p>
            <a:r>
              <a:t>    "retrieved_at": "2026-10-21T23:26:46.230414+00:00",</a:t>
            </a:r>
          </a:p>
          <a:p>
            <a:r>
              <a:t>    "geo": "IT",</a:t>
            </a:r>
          </a:p>
          <a:p>
            <a:r>
              <a:t>    "language": "it",</a:t>
            </a:r>
          </a:p>
          <a:p>
            <a:r>
              <a:t>    "period_start": "2026-10-14",</a:t>
            </a:r>
          </a:p>
          <a:p>
            <a:r>
              <a:t>    "period_end": "2026-10-20",</a:t>
            </a:r>
          </a:p>
          <a:p>
            <a:r>
              <a:t>    "category_id": 143,</a:t>
            </a:r>
          </a:p>
          <a:p>
            <a:r>
              <a:t>    "category_name": "Face &amp; Body Care",</a:t>
            </a:r>
          </a:p>
          <a:p>
            <a:r>
              <a:t>    "search_property": "web",</a:t>
            </a:r>
          </a:p>
          <a:p>
            <a:r>
              <a:t>    "timezone": "UTC",</a:t>
            </a:r>
          </a:p>
          <a:p>
            <a:r>
              <a:t>    "seed_keyword": "",</a:t>
            </a:r>
          </a:p>
          <a:p>
            <a:r>
              <a:t>    "source_url": "https://trends.google.com/trends/explore?cat=143&amp;date=2026-10-14+2026-10-20&amp;geo=IT&amp;hl=it",</a:t>
            </a:r>
          </a:p>
          <a:p>
            <a:r>
              <a:t>    "widget_request": {</a:t>
            </a:r>
          </a:p>
          <a:p>
            <a:r>
              <a:t>      "restriction": {</a:t>
            </a:r>
          </a:p>
          <a:p>
            <a:r>
              <a:t>        "geo": {</a:t>
            </a:r>
          </a:p>
          <a:p>
            <a:r>
              <a:t>          "country": "IT"</a:t>
            </a:r>
          </a:p>
          <a:p>
            <a:r>
              <a:t>        },</a:t>
            </a:r>
          </a:p>
          <a:p>
            <a:r>
              <a:t>        "time": "2026-10-14 2026-10-20",</a:t>
            </a:r>
          </a:p>
          <a:p>
            <a:r>
              <a:t>        "originalTimeRangeForExploreUrl": "2026-10-14 2026-10-20"</a:t>
            </a:r>
          </a:p>
          <a:p>
            <a:r>
              <a:t>      },</a:t>
            </a:r>
          </a:p>
          <a:p>
            <a:r>
              <a:t>      "keywordType": "QUERY",</a:t>
            </a:r>
          </a:p>
          <a:p>
            <a:r>
              <a:t>      "metric": [</a:t>
            </a:r>
          </a:p>
          <a:p>
            <a:r>
              <a:t>        "TOP",</a:t>
            </a:r>
          </a:p>
          <a:p>
            <a:r>
              <a:t>        "RISING"</a:t>
            </a:r>
          </a:p>
          <a:p>
            <a:r>
              <a:t>      ],</a:t>
            </a:r>
          </a:p>
          <a:p>
            <a:r>
              <a:t>      "trendinessSettings": {</a:t>
            </a:r>
          </a:p>
          <a:p>
            <a:r>
              <a:t>        "compareTime": "2026-10-07 2026-10-13"</a:t>
            </a:r>
          </a:p>
          <a:p>
            <a:r>
              <a:t>      },</a:t>
            </a:r>
          </a:p>
          <a:p>
            <a:r>
              <a:t>      "requestOptions": {</a:t>
            </a:r>
          </a:p>
          <a:p>
            <a:r>
              <a:t>        "property": "",</a:t>
            </a:r>
          </a:p>
          <a:p>
            <a:r>
              <a:t>        "backend": "IZG",</a:t>
            </a:r>
          </a:p>
          <a:p>
            <a:r>
              <a:t>        "category": 143</a:t>
            </a:r>
          </a:p>
          <a:p>
            <a:r>
              <a:t>      },</a:t>
            </a:r>
          </a:p>
          <a:p>
            <a:r>
              <a:t>      "language": "it",</a:t>
            </a:r>
          </a:p>
          <a:p>
            <a:r>
              <a:t>      "userCountryCode": "US",</a:t>
            </a:r>
          </a:p>
          <a:p>
            <a:r>
              <a:t>      "userConfig": {</a:t>
            </a:r>
          </a:p>
          <a:p>
            <a:r>
              <a:t>        "userType": "USER_TYPE_SCRAPER"</a:t>
            </a:r>
          </a:p>
          <a:p>
            <a:r>
              <a:t>      }</a:t>
            </a:r>
          </a:p>
          <a:p>
            <a:r>
              <a:t>    },</a:t>
            </a:r>
          </a:p>
          <a:p>
            <a:r>
              <a:t>    "response": {</a:t>
            </a:r>
          </a:p>
          <a:p>
            <a:r>
              <a:t>      "default": {</a:t>
            </a:r>
          </a:p>
          <a:p>
            <a:r>
              <a:t>        "rankedList": [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"crema",</a:t>
            </a:r>
          </a:p>
          <a:p>
            <a:r>
              <a:t>                "value": 100,</a:t>
            </a:r>
          </a:p>
          <a:p>
            <a:r>
              <a:t>                "formattedValue": "100",</a:t>
            </a:r>
          </a:p>
          <a:p>
            <a:r>
              <a:t>                "hasData": true,</a:t>
            </a:r>
          </a:p>
          <a:p>
            <a:r>
              <a:t>                "link": "/trends/explore?q=crema&amp;date=2026-10-14+2026-10-20&amp;geo=IT"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"profumo",</a:t>
            </a:r>
          </a:p>
          <a:p>
            <a:r>
              <a:t>                "value": 94,</a:t>
            </a:r>
          </a:p>
          <a:p>
            <a:r>
              <a:t>                "formattedValue": "94",</a:t>
            </a:r>
          </a:p>
          <a:p>
            <a:r>
              <a:t>                "hasData": true,</a:t>
            </a:r>
          </a:p>
          <a:p>
            <a:r>
              <a:t>                "link": "/trends/explore?q=profumo&amp;date=2026-10-14+2026-10-20&amp;geo=IT"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"unghie",</a:t>
            </a:r>
          </a:p>
          <a:p>
            <a:r>
              <a:t>                "value": 53,</a:t>
            </a:r>
          </a:p>
          <a:p>
            <a:r>
              <a:t>                "formattedValue": "53",</a:t>
            </a:r>
          </a:p>
          <a:p>
            <a:r>
              <a:t>                "hasData": true,</a:t>
            </a:r>
          </a:p>
          <a:p>
            <a:r>
              <a:t>                "link": "/trends/explore?q=unghie&amp;date=2026-10-14+2026-10-20&amp;geo=IT"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"profumi",</a:t>
            </a:r>
          </a:p>
          <a:p>
            <a:r>
              <a:t>                "value": 36,</a:t>
            </a:r>
          </a:p>
          <a:p>
            <a:r>
              <a:t>                "formattedValue": "36",</a:t>
            </a:r>
          </a:p>
          <a:p>
            <a:r>
              <a:t>                "hasData": true,</a:t>
            </a:r>
          </a:p>
          <a:p>
            <a:r>
              <a:t>                "link": "/trends/explore?q=profumi&amp;date=2026-10-14+2026-10-20&amp;geo=IT"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"sephora",</a:t>
            </a:r>
          </a:p>
          <a:p>
            <a:r>
              <a:t>                "value": 24,</a:t>
            </a:r>
          </a:p>
          <a:p>
            <a:r>
              <a:t>                "formattedValue": "24",</a:t>
            </a:r>
          </a:p>
          <a:p>
            <a:r>
              <a:t>                "hasData": true,</a:t>
            </a:r>
          </a:p>
          <a:p>
            <a:r>
              <a:t>                "link": "/trends/explore?q=sephora&amp;date=2026-10-14+2026-10-20&amp;geo=IT"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viso",</a:t>
            </a:r>
          </a:p>
          <a:p>
            <a:r>
              <a:t>                "value": 22,</a:t>
            </a:r>
          </a:p>
          <a:p>
            <a:r>
              <a:t>                "formattedValue": "22",</a:t>
            </a:r>
          </a:p>
          <a:p>
            <a:r>
              <a:t>                "hasData": true,</a:t>
            </a:r>
          </a:p>
          <a:p>
            <a:r>
              <a:t>                "link": "/trends/explore?q=crema+viso&amp;date=2026-10-14+2026-10-20&amp;geo=IT"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"fondotinta",</a:t>
            </a:r>
          </a:p>
          <a:p>
            <a:r>
              <a:t>                "value": 17,</a:t>
            </a:r>
          </a:p>
          <a:p>
            <a:r>
              <a:t>                "formattedValue": "17",</a:t>
            </a:r>
          </a:p>
          <a:p>
            <a:r>
              <a:t>                "hasData": true,</a:t>
            </a:r>
          </a:p>
          <a:p>
            <a:r>
              <a:t>                "link": "/trends/explore?q=fondotinta&amp;date=2026-10-14+2026-10-20&amp;geo=IT"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"amazon",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"/trends/explore?q=amazon&amp;date=2026-10-14+2026-10-20&amp;geo=IT"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uomo",</a:t>
            </a:r>
          </a:p>
          <a:p>
            <a:r>
              <a:t>                "value": 13,</a:t>
            </a:r>
          </a:p>
          <a:p>
            <a:r>
              <a:t>                "formattedValue": "13",</a:t>
            </a:r>
          </a:p>
          <a:p>
            <a:r>
              <a:t>                "hasData": true,</a:t>
            </a:r>
          </a:p>
          <a:p>
            <a:r>
              <a:t>                "link": "/trends/explore?q=profumo+uomo&amp;date=2026-10-14+2026-10-20&amp;geo=IT"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"dior",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"/trends/explore?q=dior&amp;date=2026-10-14+2026-10-20&amp;geo=IT"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"/trends/explore?q=crema+idratante&amp;date=2026-10-14+2026-10-20&amp;geo=IT"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"profumo donna",</a:t>
            </a:r>
          </a:p>
          <a:p>
            <a:r>
              <a:t>                "value": 12,</a:t>
            </a:r>
          </a:p>
          <a:p>
            <a:r>
              <a:t>                "formattedValue": "12",</a:t>
            </a:r>
          </a:p>
          <a:p>
            <a:r>
              <a:t>                "hasData": true,</a:t>
            </a:r>
          </a:p>
          <a:p>
            <a:r>
              <a:t>                "link": "/trends/explore?q=profumo+donna&amp;date=2026-10-14+2026-10-20&amp;geo=IT"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"braun",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"/trends/explore?q=braun&amp;date=2026-10-14+2026-10-20&amp;geo=IT"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"unghia",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"/trends/explore?q=unghia&amp;date=2026-10-14+2026-10-20&amp;geo=IT"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"cerave",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"/trends/explore?q=cerave&amp;date=2026-10-14+2026-10-20&amp;geo=IT"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"bionike",</a:t>
            </a:r>
          </a:p>
          <a:p>
            <a:r>
              <a:t>                "value": 7,</a:t>
            </a:r>
          </a:p>
          <a:p>
            <a:r>
              <a:t>                "formattedValue": "7",</a:t>
            </a:r>
          </a:p>
          <a:p>
            <a:r>
              <a:t>                "hasData": true,</a:t>
            </a:r>
          </a:p>
          <a:p>
            <a:r>
              <a:t>                "link": "/trends/explore?q=bionike&amp;date=2026-10-14+2026-10-20&amp;geo=IT"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"la roche posay",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"/trends/explore?q=la+roche+posay&amp;date=2026-10-14+2026-10-20&amp;geo=IT"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corpo",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"/trends/explore?q=crema+corpo&amp;date=2026-10-14+2026-10-20&amp;geo=IT"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"blush",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"/trends/explore?q=blush&amp;date=2026-10-14+2026-10-20&amp;geo=IT"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"kiko",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"/trends/explore?q=kiko&amp;date=2026-10-14+2026-10-20&amp;geo=IT"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"fragrantica",</a:t>
            </a:r>
          </a:p>
          <a:p>
            <a:r>
              <a:t>                "value": 6,</a:t>
            </a:r>
          </a:p>
          <a:p>
            <a:r>
              <a:t>                "formattedValue": "6",</a:t>
            </a:r>
          </a:p>
          <a:p>
            <a:r>
              <a:t>                "hasData": true,</a:t>
            </a:r>
          </a:p>
          <a:p>
            <a:r>
              <a:t>                "link": "/trends/explore?q=fragrantica&amp;date=2026-10-14+2026-10-20&amp;geo=IT"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"yodeyma",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"/trends/explore?q=yodeyma&amp;date=2026-10-14+2026-10-20&amp;geo=IT"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"meteo",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"/trends/explore?q=meteo&amp;date=2026-10-14+2026-10-20&amp;geo=IT"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"avene",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"/trends/explore?q=avene&amp;date=2026-10-14+2026-10-20&amp;geo=IT"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"maybelline",</a:t>
            </a:r>
          </a:p>
          <a:p>
            <a:r>
              <a:t>                "value": 5,</a:t>
            </a:r>
          </a:p>
          <a:p>
            <a:r>
              <a:t>                "formattedValue": "5",</a:t>
            </a:r>
          </a:p>
          <a:p>
            <a:r>
              <a:t>                "hasData": true,</a:t>
            </a:r>
          </a:p>
          <a:p>
            <a:r>
              <a:t>                "link": "/trends/explore?q=maybelline&amp;date=2026-10-14+2026-10-20&amp;geo=IT"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},</a:t>
            </a:r>
          </a:p>
          <a:p>
            <a:r>
              <a:t>          {</a:t>
            </a:r>
          </a:p>
          <a:p>
            <a:r>
              <a:t>            "rankedKeyword": [</a:t>
            </a:r>
          </a:p>
          <a:p>
            <a:r>
              <a:t>              {</a:t>
            </a:r>
          </a:p>
          <a:p>
            <a:r>
              <a:t>                "query": "clenia",</a:t>
            </a:r>
          </a:p>
          <a:p>
            <a:r>
              <a:t>                "value": 5050,</a:t>
            </a:r>
          </a:p>
          <a:p>
            <a:r>
              <a:t>                "formattedValue": "Impennata",</a:t>
            </a:r>
          </a:p>
          <a:p>
            <a:r>
              <a:t>                "link": "/trends/explore?q=clenia&amp;date=2026-10-14+2026-10-20&amp;geo=IT"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"sally rooney",</a:t>
            </a:r>
          </a:p>
          <a:p>
            <a:r>
              <a:t>                "value": 1950,</a:t>
            </a:r>
          </a:p>
          <a:p>
            <a:r>
              <a:t>                "formattedValue": "+1.950%",</a:t>
            </a:r>
          </a:p>
          <a:p>
            <a:r>
              <a:t>                "link": "/trends/explore?q=sally+rooney&amp;date=2026-10-14+2026-10-20&amp;geo=IT"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"leonardo maria del vecchio",</a:t>
            </a:r>
          </a:p>
          <a:p>
            <a:r>
              <a:t>                "value": 750,</a:t>
            </a:r>
          </a:p>
          <a:p>
            <a:r>
              <a:t>                "formattedValue": "+750%",</a:t>
            </a:r>
          </a:p>
          <a:p>
            <a:r>
              <a:t>                "link": "/trends/explore?q=leonardo+maria+del+vecchio&amp;date=2026-10-14+2026-10-20&amp;geo=IT"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"ascella",</a:t>
            </a:r>
          </a:p>
          <a:p>
            <a:r>
              <a:t>                "value": 180,</a:t>
            </a:r>
          </a:p>
          <a:p>
            <a:r>
              <a:t>                "formattedValue": "+180%",</a:t>
            </a:r>
          </a:p>
          <a:p>
            <a:r>
              <a:t>                "link": "/trends/explore?q=ascella&amp;date=2026-10-14+2026-10-20&amp;geo=IT"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 viso",</a:t>
            </a:r>
          </a:p>
          <a:p>
            <a:r>
              <a:t>                "value": 160,</a:t>
            </a:r>
          </a:p>
          <a:p>
            <a:r>
              <a:t>                "formattedValue": "+160%",</a:t>
            </a:r>
          </a:p>
          <a:p>
            <a:r>
              <a:t>                "link": "/trends/explore?q=crema+idratante+viso&amp;date=2026-10-14+2026-10-20&amp;geo=IT"</a:t>
            </a:r>
          </a:p>
          <a:p>
            <a:r>
              <a:t>              },</a:t>
            </a:r>
          </a:p>
          <a:p>
            <a:r>
              <a:t>              {</a:t>
            </a:r>
          </a:p>
          <a:p>
            <a:r>
              <a:t>                "query": "crema idratante",</a:t>
            </a:r>
          </a:p>
          <a:p>
            <a:r>
              <a:t>                "value": 110,</a:t>
            </a:r>
          </a:p>
          <a:p>
            <a:r>
              <a:t>                "formattedValue": "+110%",</a:t>
            </a:r>
          </a:p>
          <a:p>
            <a:r>
              <a:t>                "link": "/trends/explore?q=crema+idratante&amp;date=2026-10-14+2026-10-20&amp;geo=IT"</a:t>
            </a:r>
          </a:p>
          <a:p>
            <a:r>
              <a:t>              }</a:t>
            </a:r>
          </a:p>
          <a:p>
            <a:r>
              <a:t>            ]</a:t>
            </a:r>
          </a:p>
          <a:p>
            <a:r>
              <a:t>          }</a:t>
            </a:r>
          </a:p>
          <a:p>
            <a:r>
              <a:t>        ]</a:t>
            </a:r>
          </a:p>
          <a:p>
            <a:r>
              <a:t>      }</a:t>
            </a:r>
          </a:p>
          <a:p>
            <a:r>
              <a:t>    }</a:t>
            </a:r>
          </a:p>
          <a:p>
            <a:r>
              <a:t>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</a:t>
            </a:r>
          </a:p>
          <a:p>
            <a:r>
              <a:t>  {</a:t>
            </a:r>
          </a:p>
          <a:p>
            <a:r>
              <a:t>    "id": "arpy-eye",</a:t>
            </a:r>
          </a:p>
          <a:p>
            <a:r>
              <a:t>    "title": "peptide eye cream: what’s in it, and how and when to use it",</a:t>
            </a:r>
          </a:p>
          <a:p>
            <a:r>
              <a:t>    "url": "https://arpyskin.com/blogs/guides/peptide-eye-cream",</a:t>
            </a:r>
          </a:p>
          <a:p>
            <a:r>
              <a:t>    "publisher": "arpy",</a:t>
            </a:r>
          </a:p>
          <a:p>
            <a:r>
              <a:t>    "published_at": "2026-10-15T00:00:00+00:00",</a:t>
            </a:r>
          </a:p>
          <a:p>
            <a:r>
              <a:t>    "kind": "brand_promotion",</a:t>
            </a:r>
          </a:p>
          <a:p>
            <a:r>
              <a:t>    "brand": "arpy",</a:t>
            </a:r>
          </a:p>
          <a:p>
            <a:r>
              <a:t>    "topics": [</a:t>
            </a:r>
          </a:p>
          <a:p>
            <a:r>
              <a:t>      "peptides",</a:t>
            </a:r>
          </a:p>
          <a:p>
            <a:r>
              <a:t>      "vitamin-e",</a:t>
            </a:r>
          </a:p>
          <a:p>
            <a:r>
              <a:t>      "glycerin"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"October 15, 2026",</a:t>
            </a:r>
          </a:p>
          <a:p>
            <a:r>
              <a:t>      "peptides",</a:t>
            </a:r>
          </a:p>
          <a:p>
            <a:r>
              <a:t>      "tocopherol: vitamin E",</a:t>
            </a:r>
          </a:p>
          <a:p>
            <a:r>
              <a:t>      "glycerin is a humectant"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"arpy : contenu de marque du 15 octobre sur les peptides du contour des yeux. Ce n’est pas une annonce payante vérifiée.",</a:t>
            </a:r>
          </a:p>
          <a:p>
            <a:r>
              <a:t>      "it": "arpy: contenuto del marchio del 15 ottobre sui peptidi nel contorno occhi. Non è una campagna paid verificata."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"Peptides &amp; contour des yeux : guide de marque",</a:t>
            </a:r>
          </a:p>
          <a:p>
            <a:r>
              <a:t>      "it": "Peptidi e contorno occhi: guida del marchio"</a:t>
            </a:r>
          </a:p>
          <a:p>
            <a:r>
              <a:t>    },</a:t>
            </a:r>
          </a:p>
          <a:p>
            <a:r>
              <a:t>    "in_week": true,</a:t>
            </a:r>
          </a:p>
          <a:p>
            <a:r>
              <a:t>    "checked_at": "2026-10-21T23:37:12.005822+00:00",</a:t>
            </a:r>
          </a:p>
          <a:p>
            <a:r>
              <a:t>    "content_sha256": "5635edc23b241274ea06f3cb61641693d863ef0d1b94408444ad281883d12d7b"</a:t>
            </a:r>
          </a:p>
          <a:p>
            <a:r>
              <a:t>  },</a:t>
            </a:r>
          </a:p>
          <a:p>
            <a:r>
              <a:t>  {</a:t>
            </a:r>
          </a:p>
          <a:p>
            <a:r>
              <a:t>    "id": "cerave",</a:t>
            </a:r>
          </a:p>
          <a:p>
            <a:r>
              <a:t>    "title": "CeraVe Hong Kong campaign",</a:t>
            </a:r>
          </a:p>
          <a:p>
            <a:r>
              <a:t>    "url": "https://www.marketing-interactive.com/cerave-hk-ditches-the-hard-sell-to-win-over-genz",</a:t>
            </a:r>
          </a:p>
          <a:p>
            <a:r>
              <a:t>    "publisher": "Marketing-Interactive",</a:t>
            </a:r>
          </a:p>
          <a:p>
            <a:r>
              <a:t>    "published_at": "2026-09-24T00:00:00+00:00",</a:t>
            </a:r>
          </a:p>
          <a:p>
            <a:r>
              <a:t>    "kind": "advertising_campaign",</a:t>
            </a:r>
          </a:p>
          <a:p>
            <a:r>
              <a:t>    "brand": "CeraVe",</a:t>
            </a:r>
          </a:p>
          <a:p>
            <a:r>
              <a:t>    "event_start": "2026-09-01",</a:t>
            </a:r>
          </a:p>
          <a:p>
            <a:r>
              <a:t>    "event_end": "2026-11-30",</a:t>
            </a:r>
          </a:p>
          <a:p>
            <a:r>
              <a:t>    "topics": [</a:t>
            </a:r>
          </a:p>
          <a:p>
            <a:r>
              <a:t>      "social_creative"</a:t>
            </a:r>
          </a:p>
          <a:p>
            <a:r>
              <a:t>    ],</a:t>
            </a:r>
          </a:p>
          <a:p>
            <a:r>
              <a:t>    "evidence_terms": [</a:t>
            </a:r>
          </a:p>
          <a:p>
            <a:r>
              <a:t>      "September to November 2026",</a:t>
            </a:r>
          </a:p>
          <a:p>
            <a:r>
              <a:t>      "six-second Reels"</a:t>
            </a:r>
          </a:p>
          <a:p>
            <a:r>
              <a:t>    ],</a:t>
            </a:r>
          </a:p>
          <a:p>
            <a:r>
              <a:t>    "summary": {</a:t>
            </a:r>
          </a:p>
          <a:p>
            <a:r>
              <a:t>      "fr": "CeraVe, Hong Kong : campagne prévue sept.–nov. 2026, dont Reels de 6 s. Article du 24 septembre.",</a:t>
            </a:r>
          </a:p>
          <a:p>
            <a:r>
              <a:t>      "it": "CeraVe, Hong Kong: campagna prevista sett.–nov. 2026, con Reel da 6 s. Articolo del 24 settembre."</a:t>
            </a:r>
          </a:p>
          <a:p>
            <a:r>
              <a:t>    },</a:t>
            </a:r>
          </a:p>
          <a:p>
            <a:r>
              <a:t>    "display_title": {</a:t>
            </a:r>
          </a:p>
          <a:p>
            <a:r>
              <a:t>      "fr": "CeraVe Hong Kong : la campagne « anti-publicité »",</a:t>
            </a:r>
          </a:p>
          <a:p>
            <a:r>
              <a:t>      "it": "CeraVe Hong Kong: la campagna «anti-pubblicità»"</a:t>
            </a:r>
          </a:p>
          <a:p>
            <a:r>
              <a:t>    },</a:t>
            </a:r>
          </a:p>
          <a:p>
            <a:r>
              <a:t>    "in_week": false,</a:t>
            </a:r>
          </a:p>
          <a:p>
            <a:r>
              <a:t>    "checked_at": "2026-10-21T23:37:12.005822+00:00",</a:t>
            </a:r>
          </a:p>
          <a:p>
            <a:r>
              <a:t>    "content_sha256": "f36f609e57c2a10bb6e40e7893d923e80dabf309ece01798c2e3562c7ca8f0ef"</a:t>
            </a:r>
          </a:p>
          <a:p>
            <a:r>
              <a:t>  }</a:t>
            </a:r>
          </a:p>
          <a:p>
            <a:r>
              <a:t>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arpyskin.com/blogs/guides/peptide-eye-cream" TargetMode="External"/><Relationship Id="rId4" Type="http://schemas.openxmlformats.org/officeDocument/2006/relationships/hyperlink" Target="https://www.marketing-interactive.com/cerave-hk-ditches-the-hard-sell-to-win-over-genz" TargetMode="Externa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ioma-paris.com/products/creme-sublime-revitalisante" TargetMode="Externa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trends.google.com/trends/explore?cat=143&amp;date=2026-10-14+2026-10-20&amp;geo=IT&amp;hl=it" TargetMode="External"/><Relationship Id="rId4" Type="http://schemas.openxmlformats.org/officeDocument/2006/relationships/hyperlink" Target="https://support.google.com/trends/answer/4355000" TargetMode="Externa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marketing-interactive.com/cerave-hk-ditches-the-hard-sell-to-win-over-genz" TargetMode="External"/><Relationship Id="rId4" Type="http://schemas.openxmlformats.org/officeDocument/2006/relationships/hyperlink" Target="https://arpyskin.com/blogs/guides/peptide-eye-cream" TargetMode="Externa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La settimana skincare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Segnali editoriali, attivi e campagne osservate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01  SKINCARE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02  INGREDIENTI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01583" y="2395728"/>
            <a:ext cx="3502152" cy="3474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03  PUBBLICITÀ &amp; PROMOZIONI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2862072"/>
            <a:ext cx="3502152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072384"/>
            <a:ext cx="3502152" cy="68580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262320"/>
                </a:solidFill>
                <a:latin typeface="Cormorant Garamond"/>
              </a:defRPr>
            </a:pPr>
            <a:r>
              <a:t>La cura mirata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877056"/>
            <a:ext cx="3502152" cy="10789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Un rituale da esplorare attraverso beneficio, ritmo visivo e opinione del cliente.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5112" y="3072384"/>
            <a:ext cx="3502152" cy="10058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500">
                <a:solidFill>
                  <a:srgbClr val="262320"/>
                </a:solidFill>
                <a:latin typeface="Cormorant Garamond"/>
              </a:defRPr>
            </a:pPr>
            <a:r>
              <a:t>Peptide RIGIN™ + Glicerina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5112" y="4279392"/>
            <a:ext cx="3502152" cy="12618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262320"/>
                </a:solidFill>
                <a:latin typeface="DejaVu Sans"/>
              </a:defRPr>
            </a:pPr>
            <a:r>
              <a:t>Due famiglie presenti nella formula IOMA e citate nelle fonti recenti. Selezione editoriale, non una classifica per concentrazione.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1583" y="3090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arpy: contenuto del marchio del 15 ottobre sui peptidi nel contorno occhi. Non è una campagna paid verificata.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01583" y="4233672"/>
            <a:ext cx="3502152" cy="106984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CeraVe, Hong Kong: campagna prevista sett.–nov. 2026, con Reel da 6 s. Articolo del 24 settembre.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01583" y="5559552"/>
            <a:ext cx="3502152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Osservazione internazionale; erogazione paid e budget non verificati.</a:t>
            </a:r>
          </a:p>
        </p:txBody>
      </p:sp>
      <p:sp>
        <p:nvSpPr>
          <p:cNvPr id="23" name="TextBox 22">
            <a:hlinkClick r:id="rId3"/>
          </p:cNvPr>
          <p:cNvSpPr txBox="1"/>
          <p:nvPr/>
        </p:nvSpPr>
        <p:spPr>
          <a:xfrm>
            <a:off x="548640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[1] arpy · 15/10</a:t>
            </a:r>
          </a:p>
        </p:txBody>
      </p:sp>
      <p:sp>
        <p:nvSpPr>
          <p:cNvPr id="24" name="TextBox 23">
            <a:hlinkClick r:id="rId4"/>
          </p:cNvPr>
          <p:cNvSpPr txBox="1"/>
          <p:nvPr/>
        </p:nvSpPr>
        <p:spPr>
          <a:xfrm>
            <a:off x="4325112" y="6208776"/>
            <a:ext cx="3502152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[2] Marketing-Interactive · 24/09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33271"/>
            <a:ext cx="11064240" cy="5669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Crème Sublime Revitalisante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Dai trend ai contenuti social</a:t>
            </a:r>
          </a:p>
        </p:txBody>
      </p:sp>
      <p:pic>
        <p:nvPicPr>
          <p:cNvPr id="10" name="Picture 9" descr="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13432"/>
            <a:ext cx="2926079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858768" y="2368296"/>
            <a:ext cx="722376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IL PRODOTTO E IL COLLEGAMENTO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2807208"/>
            <a:ext cx="7333488" cy="8961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Crème Sublime nutre e contribuisce a una pelle più soda. Il suo INCI include RIGIN™ e glicerina. La guida arpy tratta peptidi e glicerina.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3767328"/>
            <a:ext cx="7333488" cy="5486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645E57"/>
                </a:solidFill>
                <a:latin typeface="DejaVu Sans"/>
              </a:defRPr>
            </a:pPr>
            <a:r>
              <a:t>Ipotesi: persone che cercano nutrimento e compattezza.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4425696"/>
            <a:ext cx="7726679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4590288"/>
            <a:ext cx="7333488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ATTIVAZIONE DA TESTARE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4983480"/>
            <a:ext cx="7333488" cy="70408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Alternare claim, ispirazione animata e recensione. Email con link al post pubblicato.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5779008"/>
            <a:ext cx="7333488" cy="57607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645E57"/>
                </a:solidFill>
                <a:latin typeface="DejaVu Sans"/>
              </a:defRPr>
            </a:pPr>
            <a:r>
              <a:t>Confrontare salvataggi e visite prodotto per formato. Non dedurre l’efficacia del trattamento.</a:t>
            </a:r>
          </a:p>
        </p:txBody>
      </p:sp>
      <p:sp>
        <p:nvSpPr>
          <p:cNvPr id="18" name="TextBox 17">
            <a:hlinkClick r:id="rId4"/>
          </p:cNvPr>
          <p:cNvSpPr txBox="1"/>
          <p:nvPr/>
        </p:nvSpPr>
        <p:spPr>
          <a:xfrm>
            <a:off x="548640" y="6181344"/>
            <a:ext cx="292608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Formula e INCI IOMA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20.10.2026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200">
                <a:solidFill>
                  <a:srgbClr val="262320"/>
                </a:solidFill>
                <a:latin typeface="Cormorant Garamond"/>
              </a:defRPr>
            </a:pPr>
            <a:r>
              <a:t>Le ricerche beauty su Google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Italia · Cura di viso e corpo · Ricerca 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66928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QUERY PRINCIPALI · INDICE 0–100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31720"/>
            <a:ext cx="5029200" cy="3017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t>IN CRESCITA · SELEZIONE BEAUTY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34056"/>
            <a:ext cx="521208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2734056"/>
            <a:ext cx="502920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98648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898648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364991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 viso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3364991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31335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crema idratante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83480" y="3831335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cerave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3480" y="4297680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764024"/>
            <a:ext cx="4297680" cy="35661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262320"/>
                </a:solidFill>
                <a:latin typeface="DejaVu Sans"/>
              </a:defRPr>
            </a:pPr>
            <a:r>
              <a:t>bionike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4764024"/>
            <a:ext cx="777240" cy="33832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262320"/>
                </a:solidFill>
                <a:latin typeface="DejaVu Sans"/>
              </a:defRPr>
            </a:pPr>
            <a: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89864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ascella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89864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+180 %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63016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crema idratante viso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95560" y="363016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+160 %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61688"/>
            <a:ext cx="3474720" cy="62179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262320"/>
                </a:solidFill>
                <a:latin typeface="DejaVu Sans"/>
              </a:defRPr>
            </a:pPr>
            <a:r>
              <a:t>crema idratante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95560" y="4361688"/>
            <a:ext cx="1417320" cy="41148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262320"/>
                </a:solidFill>
                <a:latin typeface="DejaVu Sans"/>
              </a:defRPr>
            </a:pPr>
            <a:r>
              <a:t>+110 %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76672"/>
            <a:ext cx="11064240" cy="29260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Indice relativo, non volume. Crescita rispetto al 07.10.2026–13.10.2026.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60720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00">
                <a:solidFill>
                  <a:srgbClr val="262320"/>
                </a:solidFill>
                <a:latin typeface="DejaVu Sans"/>
              </a:defRPr>
            </a:pPr>
            <a:r>
              <a:t>Selezione skincare e cura corpo: le crescite non misurano un aumento dell’interesse per Crème Sublime IOMA.</a:t>
            </a:r>
          </a:p>
        </p:txBody>
      </p:sp>
      <p:sp>
        <p:nvSpPr>
          <p:cNvPr id="32" name="TextBox 31">
            <a:hlinkClick r:id="rId3"/>
          </p:cNvPr>
          <p:cNvSpPr txBox="1"/>
          <p:nvPr/>
        </p:nvSpPr>
        <p:spPr>
          <a:xfrm>
            <a:off x="548640" y="6254496"/>
            <a:ext cx="411480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Google Trends · apri i dati</a:t>
            </a:r>
          </a:p>
        </p:txBody>
      </p:sp>
      <p:sp>
        <p:nvSpPr>
          <p:cNvPr id="33" name="TextBox 32">
            <a:hlinkClick r:id="rId4"/>
          </p:cNvPr>
          <p:cNvSpPr txBox="1"/>
          <p:nvPr/>
        </p:nvSpPr>
        <p:spPr>
          <a:xfrm>
            <a:off x="4937760" y="6254496"/>
            <a:ext cx="6675120" cy="21031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Selezione pertinente; ordine Google conservato. Metodo 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365760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262320"/>
                </a:solidFill>
                <a:latin typeface="DejaVu Sans"/>
              </a:defRPr>
            </a:pPr>
            <a:r>
              <a:t>BEAUTY RADAR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110" y="219456"/>
            <a:ext cx="1005840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8200" y="384048"/>
            <a:ext cx="315468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14.10.2026 — 21.10.2026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01168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900">
                <a:solidFill>
                  <a:srgbClr val="645E57"/>
                </a:solidFill>
                <a:latin typeface="DejaVu Sans"/>
              </a:defRPr>
            </a:pPr>
            <a:r>
              <a:t>IOMA PARIS  / 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82528" y="6510528"/>
            <a:ext cx="457200" cy="219456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45E57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11064240" cy="5943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3400">
                <a:solidFill>
                  <a:srgbClr val="262320"/>
                </a:solidFill>
                <a:latin typeface="Cormorant Garamond"/>
              </a:defRPr>
            </a:pPr>
            <a:r>
              <a:t>Articoli e fonti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0992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645E57"/>
                </a:solidFill>
                <a:latin typeface="DejaVu Sans"/>
              </a:defRPr>
            </a:pPr>
            <a:r>
              <a:t>Apri le pubblicazioni citate nel radar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Marketing-Interactive  ·  24.09.2026  ·  STAMPA MARKETING · CAMPAGNA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34056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CeraVe Hong Kong: la campagna «anti-pubblicità»</a:t>
            </a:r>
          </a:p>
        </p:txBody>
      </p:sp>
      <p:sp>
        <p:nvSpPr>
          <p:cNvPr id="12" name="TextBox 11">
            <a:hlinkClick r:id="rId3"/>
          </p:cNvPr>
          <p:cNvSpPr txBox="1"/>
          <p:nvPr/>
        </p:nvSpPr>
        <p:spPr>
          <a:xfrm>
            <a:off x="9326880" y="2779776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3"/>
              </a:rPr>
              <a:t>Leggi l’articolo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74136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557015"/>
            <a:ext cx="11064240" cy="27432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arpy  ·  15.10.2026  ·  CONTENUTO DEL MARCHIO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867911"/>
            <a:ext cx="8686800" cy="530352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262320"/>
                </a:solidFill>
                <a:latin typeface="Cormorant Garamond"/>
              </a:defRPr>
            </a:pPr>
            <a:r>
              <a:t>Peptidi e contorno occhi: guida del marchio</a:t>
            </a:r>
          </a:p>
        </p:txBody>
      </p:sp>
      <p:sp>
        <p:nvSpPr>
          <p:cNvPr id="16" name="TextBox 15">
            <a:hlinkClick r:id="rId4"/>
          </p:cNvPr>
          <p:cNvSpPr txBox="1"/>
          <p:nvPr/>
        </p:nvSpPr>
        <p:spPr>
          <a:xfrm>
            <a:off x="9326880" y="3913631"/>
            <a:ext cx="2286000" cy="36576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262320"/>
                </a:solidFill>
                <a:latin typeface="DejaVu Sans"/>
              </a:defRPr>
            </a:pPr>
            <a:r>
              <a:rPr u="sng">
                <a:hlinkClick r:id="rId4"/>
              </a:rPr>
              <a:t>Leggi il contenuto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07992"/>
            <a:ext cx="11064240" cy="10972"/>
          </a:xfrm>
          <a:prstGeom prst="rect">
            <a:avLst/>
          </a:prstGeom>
          <a:solidFill>
            <a:srgbClr val="C3B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</p:spPr>
        <p:txBody>
          <a:bodyPr wrap="square" tIns="0" bIns="0" lIns="0" rIns="0">
            <a:no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45E57"/>
                </a:solidFill>
                <a:latin typeface="DejaVu Sans"/>
              </a:defRPr>
            </a:pPr>
            <a:r>
              <a:t>Data di pubblicazione indicata; periodo delle campagne precisato a pagina 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IOMA Beauty Radar — IT</dc:title>
  <dc:subject/>
  <dc:creator>IOMA Paris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